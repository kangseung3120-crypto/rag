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8"/>
    <p:sldId id="343" r:id="rId7"/>
    <p:sldId id="344" r:id="rId6"/>
    <p:sldId id="345" r:id="rId5"/>
    <p:sldId id="346" r:id="rId4"/>
    <p:sldId id="303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304"/>
            <p14:sldId id="305"/>
            <p14:sldId id="306"/>
          </p14:sldIdLst>
        </p14:section>
        <p14:section name="00 실습 환경 준비" id="{5EC71001-0000-4000-8000-000000000002}">
          <p14:sldIdLst>
            <p14:sldId id="307"/>
            <p14:sldId id="308"/>
            <p14:sldId id="309"/>
            <p14:sldId id="310"/>
          </p14:sldIdLst>
        </p14:section>
        <p14:section name="1-1 RAG가 필요한 이유와 적용 조건" id="{5EC71002-0000-4000-8000-000000000003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1-2 Indexing과 Query 파이프라인" id="{5EC71003-0000-4000-8000-000000000004}">
          <p14:sldIdLst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</p14:sldIdLst>
        </p14:section>
        <p14:section name="1-3 2-Step RAG 기준선과 실습 환경" id="{5EC71004-0000-4000-8000-000000000005}">
          <p14:sldIdLst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</p14:sldIdLst>
        </p14:section>
        <p14:section name="1-4 RAG · Long Context · CAG 선택 기준" id="{5EC71005-0000-4000-8000-000000000006}">
          <p14:sldIdLst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  <p14:section name="정리" id="{5EC71006-0000-4000-8000-000000000007}">
          <p14:sldIdLst>
            <p14:sldId id="346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92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45.xml"/><Relationship Id="rId5" Type="http://schemas.openxmlformats.org/officeDocument/2006/relationships/slide" Target="slides/slide44.xml"/><Relationship Id="rId6" Type="http://schemas.openxmlformats.org/officeDocument/2006/relationships/slide" Target="slides/slide43.xml"/><Relationship Id="rId7" Type="http://schemas.openxmlformats.org/officeDocument/2006/relationships/slide" Target="slides/slide42.xml"/><Relationship Id="rId8" Type="http://schemas.openxmlformats.org/officeDocument/2006/relationships/slide" Target="slides/slide4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FB062F"/>
            </a:solidFill>
          </c:spPr>
          <c:dPt>
            <c:idx val="1"/>
            <c:spPr>
              <a:solidFill>
                <a:srgbClr val="858793"/>
              </a:solidFill>
            </c:spPr>
          </c:dPt>
          <c:dPt>
            <c:idx val="2"/>
            <c:spPr>
              <a:solidFill>
                <a:srgbClr val="858793"/>
              </a:solidFill>
            </c:spPr>
          </c:dPt>
          <c:cat>
            <c:strRef>
              <c:f>Sheet1!$A$2:$A$4</c:f>
              <c:strCache>
                <c:ptCount val="3"/>
                <c:pt idx="0">
                  <c:v>1  travel</c:v>
                </c:pt>
                <c:pt idx="1">
                  <c:v>2  meal</c:v>
                </c:pt>
                <c:pt idx="2">
                  <c:v>3  meal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10.456</c:v>
                </c:pt>
                <c:pt idx="1">
                  <c:v>2.578</c:v>
                </c:pt>
                <c:pt idx="2">
                  <c:v>2.136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지시문+질문·이력</c:v>
                </c:pt>
              </c:strCache>
            </c:strRef>
          </c:tx>
          <c:spPr>
            <a:solidFill>
              <a:srgbClr val="858793"/>
            </a:solidFill>
          </c:spPr>
          <c:cat>
            <c:strRef>
              <c:f>Sheet1!$A$2:$A$3</c:f>
              <c:strCache>
                <c:ptCount val="2"/>
                <c:pt idx="0">
                  <c:v>출력 예약 1000</c:v>
                </c:pt>
                <c:pt idx="1">
                  <c:v>출력 예약 3000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출력 예약</c:v>
                </c:pt>
              </c:strCache>
            </c:strRef>
          </c:tx>
          <c:spPr>
            <a:solidFill>
              <a:srgbClr val="41414B"/>
            </a:solidFill>
          </c:spPr>
          <c:cat>
            <c:strRef>
              <c:f>Sheet1!$A$2:$A$3</c:f>
              <c:strCache>
                <c:ptCount val="2"/>
                <c:pt idx="0">
                  <c:v>출력 예약 1000</c:v>
                </c:pt>
                <c:pt idx="1">
                  <c:v>출력 예약 3000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1000</c:v>
                </c:pt>
                <c:pt idx="1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여유 192</c:v>
                </c:pt>
              </c:strCache>
            </c:strRef>
          </c:tx>
          <c:spPr>
            <a:solidFill>
              <a:srgbClr val="E0E1E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출력 예약 1000</c:v>
                </c:pt>
                <c:pt idx="1">
                  <c:v>출력 예약 3000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192</c:v>
                </c:pt>
                <c:pt idx="1">
                  <c:v>192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문서 예산</c:v>
                </c:pt>
              </c:strCache>
            </c:strRef>
          </c:tx>
          <c:spPr>
            <a:solidFill>
              <a:srgbClr val="FB062F"/>
            </a:solidFill>
          </c:spPr>
          <c:cat>
            <c:strRef>
              <c:f>Sheet1!$A$2:$A$3</c:f>
              <c:strCache>
                <c:ptCount val="2"/>
                <c:pt idx="0">
                  <c:v>출력 예약 1000</c:v>
                </c:pt>
                <c:pt idx="1">
                  <c:v>출력 예약 3000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6000</c:v>
                </c:pt>
                <c:pt idx="1">
                  <c:v>4000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9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858793"/>
              </a:solidFill>
            </a:defRPr>
          </a:pPr>
        </a:p>
      </c:txPr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45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1-1 → 1-2 → 1-3 → 1-4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정답 코드 (교안 정답과 같아요)</a:t>
            </a:r>
          </a:p>
          <a:p/>
          <a:p>
            <a:r>
              <a:t>def find_policy(term, current_only=True):</a:t>
            </a:r>
          </a:p>
          <a:p>
            <a:r>
              <a:t>    # 공백만 입력한 경우를 먼저 막아요. 빈 문자열은 모든 본문에 포함되므로 그대로 검색하면 전체 문서가 나와요.</a:t>
            </a:r>
          </a:p>
          <a:p>
            <a:r>
              <a:t>    if not term.strip():</a:t>
            </a:r>
          </a:p>
          <a:p>
            <a:r>
              <a:t>        raise ValueError("검색어를 입력하세요.")</a:t>
            </a:r>
          </a:p>
          <a:p>
            <a:r>
              <a:t>    # current_only=True면 현재 규정만, False면 과거 규정까지 검색해요.</a:t>
            </a:r>
          </a:p>
          <a:p>
            <a:r>
              <a:t>    # 같은 검색어로 두 범위의 결과를 비교해 필터의 역할을 확인해요.</a:t>
            </a:r>
          </a:p>
          <a:p>
            <a:r>
              <a:t>    candidates = current if current_only else documents</a:t>
            </a:r>
          </a:p>
          <a:p>
            <a:r>
              <a:t>    return [d for d in candidates if term in d["content"]]</a:t>
            </a:r>
          </a:p>
          <a:p/>
          <a:p>
            <a:r>
              <a:t>생각해 보기: 호텔비가 빈 목록인 이유(검색 표현 문제)와, 개인 취미는 education이 검색돼도 답할 수 없는 이유(근거 부족)를 구분해 설명해 보세요.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빈칸 정답 (위에서부터)</a:t>
            </a:r>
          </a:p>
          <a:p>
            <a:r>
              <a:t>① strip   ② ValueError   ③ documents   ④ term</a:t>
            </a:r>
          </a:p>
          <a:p/>
          <a:p>
            <a:r>
              <a:t>정답 파일: ch01\rag_ch01_01\q_solution.py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정답 코드 (교안 정답과 같아요)</a:t>
            </a:r>
          </a:p>
          <a:p/>
          <a:p>
            <a:r>
              <a:t>def search_all_words(query, index):</a:t>
            </a:r>
          </a:p>
          <a:p>
            <a:r>
              <a:t>    # Indexing 때와 같은 토큰화 규칙을 사용하고 검색 단어가 없으면 빈 결과로 끝내요.</a:t>
            </a:r>
          </a:p>
          <a:p>
            <a:r>
              <a:t>    words = re.findall(r"[가-힣a-zA-Z0-9]+", query)</a:t>
            </a:r>
          </a:p>
          <a:p>
            <a:r>
              <a:t>    if not words:</a:t>
            </a:r>
          </a:p>
          <a:p>
            <a:r>
              <a:t>        return []</a:t>
            </a:r>
          </a:p>
          <a:p>
            <a:r>
              <a:t>    # 첫 단어의 문서 집합을 복사한 뒤 나머지 단어와 교집합을 구해요.</a:t>
            </a:r>
          </a:p>
          <a:p>
            <a:r>
              <a:t>    # 복사 없이 원래 set을 수정하면 저장된 색인이 달라질 수 있어요.</a:t>
            </a:r>
          </a:p>
          <a:p>
            <a:r>
              <a:t>    found = set(index.get(words[0], set()))</a:t>
            </a:r>
          </a:p>
          <a:p>
            <a:r>
              <a:t>    for word in words[1:]:</a:t>
            </a:r>
          </a:p>
          <a:p>
            <a:r>
              <a:t>        found.intersection_update(index.get(word, set()))</a:t>
            </a:r>
          </a:p>
          <a:p>
            <a:r>
              <a:t>    return sorted(found)</a:t>
            </a:r>
          </a:p>
          <a:p/>
          <a:p>
            <a:r>
              <a:t>생각해 보기: OR 검색과 AND 검색의 결과 차이를 합집합과 교집합으로 설명해 보세요.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빈칸 정답 (위에서부터)</a:t>
            </a:r>
          </a:p>
          <a:p>
            <a:r>
              <a:t>① words   ② words[0]   ③ intersection_update</a:t>
            </a:r>
          </a:p>
          <a:p/>
          <a:p>
            <a:r>
              <a:t>정답 파일: ch01\rag_ch01_02\q_solution.py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정답 코드 (교안 정답과 같아요)</a:t>
            </a:r>
          </a:p>
          <a:p/>
          <a:p>
            <a:r>
              <a:t>def prepare_input(question, chunks, k=2):</a:t>
            </a:r>
          </a:p>
          <a:p>
            <a:r>
              <a:t>    # k는 검색 후보 수이고 max_chars는 그 후보를 Context에 넣는 예산이에요.</a:t>
            </a:r>
          </a:p>
          <a:p>
            <a:r>
              <a:t>    # 검색된 모든 후보가 모델 입력에 들어간다고 가정하지 말고 두 결과를 구분해요.</a:t>
            </a:r>
          </a:p>
          <a:p>
            <a:r>
              <a:t>    rows = retrieve(question, chunks, method="bm25", k=k)</a:t>
            </a:r>
          </a:p>
          <a:p>
            <a:r>
              <a:t>    context, sources = build_context(rows, max_chars=260)</a:t>
            </a:r>
          </a:p>
          <a:p>
            <a:r>
              <a:t>    return {"question": question, "context": context, "sources": sources}</a:t>
            </a:r>
          </a:p>
          <a:p/>
          <a:p>
            <a:r>
              <a:t>생각해 보기: k=2로 요청했는데 출처가 하나뿐인 이유를 검색 점수로 설명해 보세요. 협업 시간 문장이 끊긴 점도 확인해요.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빈칸 정답 (위에서부터)</a:t>
            </a:r>
          </a:p>
          <a:p>
            <a:r>
              <a:t>① k   ② rows   ③ context</a:t>
            </a:r>
          </a:p>
          <a:p/>
          <a:p>
            <a:r>
              <a:t>정답 파일: ch01\rag_ch01_03\q_solution.py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정답 코드 (교안 정답과 같아요)</a:t>
            </a:r>
          </a:p>
          <a:p/>
          <a:p>
            <a:r>
              <a:t>def choose_input(document_tokens, available, repeated, cache_supported):</a:t>
            </a:r>
          </a:p>
          <a:p>
            <a:r>
              <a:t>    # 우선 문서가 예산 안에 들어가는지 확인해요. 길이가 넘으면 반복 요청 여부와 무관하게 입력 범위를 줄여야 해요.</a:t>
            </a:r>
          </a:p>
          <a:p>
            <a:r>
              <a:t>    if document_tokens &gt; available:</a:t>
            </a:r>
          </a:p>
          <a:p>
            <a:r>
              <a:t>        return "RAG 또는 문서 범위 축소"</a:t>
            </a:r>
          </a:p>
          <a:p>
            <a:r>
              <a:t>    # 입력이 들어갈 때만 반복 여부와 캐시 지원을 고려해요.</a:t>
            </a:r>
          </a:p>
          <a:p>
            <a:r>
              <a:t>    # 실제 속도나 비용 절감은 선택한 모델과 서비스에서 따로 측정해야 해요.</a:t>
            </a:r>
          </a:p>
          <a:p>
            <a:r>
              <a:t>    if repeated and cache_supported:</a:t>
            </a:r>
          </a:p>
          <a:p>
            <a:r>
              <a:t>        return "전체 입력 + prefix cache 비교"</a:t>
            </a:r>
          </a:p>
          <a:p>
            <a:r>
              <a:t>    return "전체 입력부터 비교"</a:t>
            </a:r>
          </a:p>
          <a:p/>
          <a:p>
            <a:r>
              <a:t>생각해 보기: 캐시를 지원해도 예산 초과 조건을 가장 먼저 확인하는 이유를 설명해 보세요.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빈칸 정답 (위에서부터)</a:t>
            </a:r>
          </a:p>
          <a:p>
            <a:r>
              <a:t>① available   ② cache_supported   ③ "전체 입력부터 비교"</a:t>
            </a:r>
          </a:p>
          <a:p/>
          <a:p>
            <a:r>
              <a:t>정답 파일: ch01\rag_ch01_04\q_solution.py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오후 수업 전에 확인할 것: rag_day1에서 uv sync 완료 / ch02\rag_ch02_01\raw 폴더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1일차 오전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r>
              <a:rPr lang="en-US" sz="1200" dirty="0">
                <a:solidFill>
                  <a:srgbClr val="858793"/>
                </a:solidFill>
              </a:rPr>
              <a:t>   Private LLM Course · 1일차 오전 · 4시간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질문에 맞는 근거를 찾아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답하는 RAG 첫걸음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1-1  RAG가 필요한 이유와 적용 조건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최신 버전 문서, 검색 실패와 근거 부족 구분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1-2  Indexing과 Query 파이프라인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역색인, OR 검색, 색인 갱신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1-3  2-Step RAG 기준선과 실습 환경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80/20 청킹, BM25, Context 예산, 출처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1-4  RAG와 Long Context, CAG 선택 기준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토큰 예산, 캐시 키, 비교 후보 고르기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오늘 하루: 오전은 RAG 흐름, 오후는 문서 준비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234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오전 · 4시간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1장  RAG 이해와 아키텍처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05740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1-1 왜 RAG인가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1-2 Indexing과 Query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1-3 2-Step RAG 기준선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1-4 RAG · Long Context · CAG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92040" y="1234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오후 · 4시간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2장  문서 로딩과 데이터 품질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05740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2-1 문서 로딩과 Document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2-2 출처 추적 Metadata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2-3 중복 · 빈 본문 · Boilerplate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2-4 JSONL 저장과 검수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98848" y="274320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모든 실습은 rag_day1 폴더 하나에서 진행해요. 환경은 처음에 한 번만 준비해요.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전체 구조: 미리 준비하는 쪽과 질문이 들어오는 쪽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24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Indexing  ·  문서를 미리 준비해 두는 단계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32588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1325880"/>
            <a:ext cx="15636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문서 로딩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TXT · HTML · PDF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67712" y="1755648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14600" y="132588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24328" y="1325880"/>
            <a:ext cx="15636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정제 · Metadata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status · 출처 · 중복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25112" y="1755648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572000" y="132588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681728" y="1325880"/>
            <a:ext cx="15636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청킹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80/20 · 문장 · 구조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82512" y="1755648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629400" y="132588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39128" y="1325880"/>
            <a:ext cx="15636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임베딩 · 색인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벡터 · Qdrant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Query  ·  질문이 들어올 때마다 하는 단계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770632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66928" y="2770632"/>
            <a:ext cx="15636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질문(Query)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출장 숙박비는?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267712" y="3200400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514600" y="2770632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24328" y="2770632"/>
            <a:ext cx="15636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검색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현행 문서 · Top-k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325112" y="3200400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72000" y="2770632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681728" y="2770632"/>
            <a:ext cx="15636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Context 구성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근거 + 출처 라벨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82512" y="3200400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629400" y="2770632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39128" y="2770632"/>
            <a:ext cx="15636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답변 · 보류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인용 · 확인 불가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5120640" y="2212848"/>
            <a:ext cx="2148840" cy="530352"/>
          </a:xfrm>
          <a:prstGeom prst="line">
            <a:avLst/>
          </a:prstGeom>
          <a:ln w="19050">
            <a:solidFill>
              <a:srgbClr val="85879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60920" y="22585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준비한 색인을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검색할 때 사용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빨간 테두리 = 오늘 범위</a:t>
            </a:r>
            <a:r>
              <a:rPr sz="1100" b="0">
                <a:solidFill>
                  <a:srgbClr val="141617"/>
                </a:solidFill>
              </a:rPr>
              <a:t>   오전은 Query 쪽 흐름 전체를 단순한 방법으로 한 번 돌려 보고, 오후는 Indexing의 앞단(문서 준비)을 다뤄요.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오늘 계속 따라갈 질문 하나와 규정 12개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51560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B062F"/>
                </a:solidFill>
              </a:rPr>
              <a:t>Q.  </a:t>
            </a:r>
            <a:r>
              <a:rPr sz="1600" b="1">
                <a:solidFill>
                  <a:srgbClr val="FFFFFF"/>
                </a:solidFill>
              </a:rPr>
              <a:t>“출장 숙박 비용은 얼마까지 정산되나요?”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documents.json  (list, 12개)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240280"/>
            <a:ext cx="4754880" cy="2331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E0E1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40080" y="2377440"/>
            <a:ext cx="1600200" cy="384048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237744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"document_id"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67712" y="2569464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514600" y="237744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560320" y="237744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"travel"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2880360"/>
            <a:ext cx="1600200" cy="384048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288036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"content"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67712" y="3072384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514600" y="288036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560320" y="28803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"국내 출장 숙박 비용 한도는 1박당…"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383280"/>
            <a:ext cx="1600200" cy="384048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38328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"metadata.title"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67712" y="3575304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514600" y="338328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560320" y="338328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"출장 숙박 정산"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886200"/>
            <a:ext cx="1600200" cy="384048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388620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"metadata.status"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267712" y="4078224"/>
            <a:ext cx="219456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514600" y="38862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560320" y="38862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"current"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적용 상태로 나누면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0" y="2240280"/>
            <a:ext cx="32004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596128" y="2240280"/>
            <a:ext cx="29809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current  10개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지금 적용되는 최신 버전 문서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검색 대상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0" y="347472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596128" y="3474720"/>
            <a:ext cx="298094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retired  2개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폐기된 구버전 문서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travel-old(8만원) · leave-old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준비 </a:t>
            </a:r>
            <a:r>
              <a:rPr b="1">
                <a:solidFill>
                  <a:srgbClr val="FB062F"/>
                </a:solidFill>
              </a:rPr>
              <a:t>00</a:t>
            </a:r>
            <a:r>
              <a:rPr b="1">
                <a:solidFill>
                  <a:srgbClr val="858793"/>
                </a:solidFill>
              </a:rPr>
              <a:t>  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실습 환경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rag_day1 폴더 열기 → uv sync 한 번 → 강의 폴더로 이동해 uv run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00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폴더 하나에 8개 강의, 환경은 하나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rag_day1/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pyproject.toml   # 필요한 패키지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uv.lock          # 고정된 버전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.python-version  # 3.12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.venv/           # uv sync가 만듦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ch01/  (오전)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rag_ch01_01/ … rag_ch01_04/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ch02/  (오후)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rag_ch02_01/ … rag_ch02_04/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각 강의 폴더 = 노션 ZIP과 같음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main.py · documents.json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solution.py · raw/ (2장)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105156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56048" y="1051560"/>
            <a:ext cx="362102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함께 쓰는 것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pyproject.toml · uv.lock · .venv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→ 패키지 설치는 한 번만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228600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56048" y="2286000"/>
            <a:ext cx="362102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강의마다 따로 있는 것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main.py · documents.json · raw/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→ 코드가 자기 폴더 파일을 읽어요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352044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29200" y="3630168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documents.json은 8개 모두 같은 사본이에요.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교안 코드를 고치지 않고 그대로 실행하려고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강의 폴더마다 하나씩 두었어요.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00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명령은 두 단계: 처음에 sync, 강의마다 run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14300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pyproject.toml</a:t>
            </a:r>
          </a:p>
          <a:p>
            <a:pPr algn="ctr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uv.lock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880360" y="1572768"/>
            <a:ext cx="36576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291840" y="114300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291840" y="114300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① uv sync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572768"/>
            <a:ext cx="36576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26480" y="114300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26480" y="114300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.venv</a:t>
            </a:r>
          </a:p>
          <a:p>
            <a:pPr algn="ctr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Python 3.12 + 패키지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rag_day1 폴더에서 처음 한 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514600"/>
            <a:ext cx="4023360" cy="1143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4360" y="260604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--version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python install 3.12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sync   # rag_day1에서 한 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2514600"/>
            <a:ext cx="4023360" cy="1143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800600" y="260604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cd ch01\rag_ch01_01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main.py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uv가 위 폴더의 .venv를 찾아 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1031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② 강의마다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교안의 "실습 준비"에 있는 uv init · uv python pin · uv add는 이 묶음에서는 건너뛰어요.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강의 폴더 안에서 uv init을 하면 그 폴더에만 환경이 따로 생겨요.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00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막혔을 때 먼저 확인할 곳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97280"/>
          <a:ext cx="8229600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2651760"/>
                <a:gridCol w="32004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증상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원인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해결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uv sync 중 os error 396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OneDrive 동기화 폴더의 하드 링크 제한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setx UV_LINK_MODE copy → 새 터미널 → 다시 uv sync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FileNotFoundError: documents.json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강의 폴더가 아닌 곳에서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Get-Location 확인 → cd ch0X\rag_ch0X_0Y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ModuleNotFoundError: pypdf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rag_day1에서 uv sync를 안 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rag_day1로 이동해 uv sync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강의 폴더에 pyproject.toml이 생김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강의 폴더에서 uv init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그 폴더의 pyproject.toml · .venv · .python-version 삭제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VS Code import 밑줄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편집기 인터프리터가 다른 Python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Python: Select Interpreter → rag_day1\.venv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1-1</a:t>
            </a:r>
            <a:r>
              <a:rPr b="1">
                <a:solidFill>
                  <a:srgbClr val="858793"/>
                </a:solidFill>
              </a:rPr>
              <a:t>  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RAG가 필요한 이유와 적용 조건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LLM만으로 부족한 이유 → 최신 버전 문서 고르기 → 검색 실패와 근거 부족 구분 → 질문과 근거를 입력으로 묶기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LLM만으로는 우리 회사 규정에 답하기 어려워요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234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Knowledge Cutoff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508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617"/>
                </a:solidFill>
              </a:rPr>
              <a:t>학습 시점 이후를 몰라요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617"/>
                </a:solidFill>
              </a:rPr>
              <a:t>지난달 바뀐 규정도</a:t>
            </a:r>
          </a:p>
          <a:p>
            <a:pPr algn="l"/>
            <a:r>
              <a:rPr sz="1100" b="0">
                <a:solidFill>
                  <a:srgbClr val="141617"/>
                </a:solidFill>
              </a:rPr>
              <a:t>예전 기준으로 답해요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29000" y="1234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Private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617"/>
                </a:solidFill>
              </a:rPr>
              <a:t>사내 데이터를 본 적 없어요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617"/>
                </a:solidFill>
              </a:rPr>
              <a:t>공개되지 않은 규정은</a:t>
            </a:r>
          </a:p>
          <a:p>
            <a:pPr algn="l"/>
            <a:r>
              <a:rPr sz="1100" b="0">
                <a:solidFill>
                  <a:srgbClr val="141617"/>
                </a:solidFill>
              </a:rPr>
              <a:t>애초에 알 수 없어요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0" y="1234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Hallucination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508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617"/>
                </a:solidFill>
              </a:rPr>
              <a:t>모르면 지어낼 수 있어요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617"/>
                </a:solidFill>
              </a:rPr>
              <a:t>근거 없는 금액을</a:t>
            </a:r>
          </a:p>
          <a:p>
            <a:pPr algn="l"/>
            <a:r>
              <a:rPr sz="1100" b="0">
                <a:solidFill>
                  <a:srgbClr val="141617"/>
                </a:solidFill>
              </a:rPr>
              <a:t>사실처럼 말해요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64792" y="3063240"/>
            <a:ext cx="0" cy="274320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53712" y="3063240"/>
            <a:ext cx="0" cy="274320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42631" y="3063240"/>
            <a:ext cx="0" cy="274320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5800" y="347472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B062F"/>
                </a:solidFill>
              </a:rPr>
              <a:t>RAG = Retrieval-Augmented Generation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617"/>
                </a:solidFill>
              </a:rPr>
              <a:t>질문할 때마다 최신 · 사내 문서를 검색해 근거로 넣고, 근거가 없으면 "확인 불가"로 보류해요.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58793"/>
                </a:solidFill>
              </a:rPr>
              <a:t>모델을 다시 학습시키지 않아요. 문서만 갱신하면 바로 반영되고, 출처도 보여 줄 수 있어요.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RAG는 답하기 전에 근거부터 찾아요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8872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질문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출장 숙박 비용은?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13432" y="164592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6032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70048" y="118872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검색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현행 규정에서 찾기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16552" y="164592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6344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73168" y="118872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Context 구성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근거 + 문서 ID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9671" y="164592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66559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76288" y="118872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답변 생성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근거로만 답하기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423160"/>
            <a:ext cx="3977639" cy="2148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앞 과목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3464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사람이 필요한 문서를 골라</a:t>
            </a:r>
          </a:p>
          <a:p>
            <a:pPr algn="l"/>
            <a:r>
              <a:rPr sz="1300" b="1">
                <a:solidFill>
                  <a:srgbClr val="141617"/>
                </a:solidFill>
              </a:rPr>
              <a:t>프롬프트에 붙여 넣었어요.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09160" y="2423160"/>
            <a:ext cx="3977639" cy="2148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892040" y="2514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RAG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2834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검색기(Retriever)가 문서 고르기를</a:t>
            </a:r>
          </a:p>
          <a:p>
            <a:pPr algn="l"/>
            <a:r>
              <a:rPr sz="1300" b="1">
                <a:solidFill>
                  <a:srgbClr val="141617"/>
                </a:solidFill>
              </a:rPr>
              <a:t>대신 맡아요.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36118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검색하고 문서를 입력에 넣어도 모델 가중치는 바뀌지 않아요. 이번 질문에 참고할 자료만 더해져요.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모든 질문에 RAG가 정답은 아니에요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요청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필요한 자료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시작할 방식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37160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137160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회사 출장 숙박 한도는?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81528" y="1728216"/>
            <a:ext cx="146304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46120" y="137160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383279" y="137160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41617"/>
                </a:solidFill>
              </a:rPr>
              <a:t>현행 출장 규정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70448" y="1728216"/>
            <a:ext cx="146304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035040" y="137160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72200" y="137160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규정을 검색한 뒤 답변 생성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24028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4360" y="224028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지금 내 교육비 잔액은?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081528" y="2596896"/>
            <a:ext cx="146304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246120" y="224028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383279" y="224028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41617"/>
                </a:solidFill>
              </a:rPr>
              <a:t>개인별 승인 · 사용 내역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70448" y="2596896"/>
            <a:ext cx="146304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35040" y="224028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172200" y="224028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41617"/>
                </a:solidFill>
              </a:rPr>
              <a:t>인증된 업무 API 조회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10896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94360" y="310896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첨부한 한 페이지 요약해 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081528" y="3465576"/>
            <a:ext cx="146304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246120" y="310896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383279" y="310896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41617"/>
                </a:solidFill>
              </a:rPr>
              <a:t>이미 전달된 문서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70448" y="3465576"/>
            <a:ext cx="146304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035040" y="3108960"/>
            <a:ext cx="2606040" cy="7132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172200" y="310896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41617"/>
                </a:solidFill>
              </a:rPr>
              <a:t>문서를 직접 입력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4133088"/>
            <a:ext cx="7863840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617"/>
                </a:solidFill>
              </a:rPr>
              <a:t>방식을 고르기 전에 먼저: "이 질문에 답하려면 어떤 자료가 필요한가?"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규정도 최신 버전을 골라야 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874519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status가 current인 문서만 검색 후보로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current = [d for d in documents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if d["metadata"]["status"]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== "current"]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print("전체 문서:", len(documents))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print("현행 문서:", len(current))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63240"/>
            <a:ext cx="420624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136392"/>
            <a:ext cx="393192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전체 문서: 12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현행 문서: 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1051560"/>
            <a:ext cx="3749039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47488" y="1051560"/>
            <a:ext cx="3529583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B062F"/>
                </a:solidFill>
              </a:rPr>
              <a:t>travel   current</a:t>
            </a:r>
          </a:p>
          <a:p>
            <a:pPr algn="ctr"/>
            <a:r>
              <a:rPr sz="1100" b="0">
                <a:solidFill>
                  <a:srgbClr val="858793"/>
                </a:solidFill>
              </a:rPr>
              <a:t>국내 출장 숙박 비용 한도는</a:t>
            </a:r>
          </a:p>
          <a:p>
            <a:pPr algn="ctr"/>
            <a:r>
              <a:rPr sz="1100" b="0">
                <a:solidFill>
                  <a:srgbClr val="858793"/>
                </a:solidFill>
              </a:rPr>
              <a:t>1박당 12만원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2377440"/>
            <a:ext cx="3749039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47488" y="2377440"/>
            <a:ext cx="3529583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858793"/>
                </a:solidFill>
              </a:rPr>
              <a:t>travel-old   retired</a:t>
            </a:r>
          </a:p>
          <a:p>
            <a:pPr algn="ctr"/>
            <a:r>
              <a:rPr sz="1100" b="0">
                <a:solidFill>
                  <a:srgbClr val="858793"/>
                </a:solidFill>
              </a:rPr>
              <a:t>출장 숙박 비용 한도는</a:t>
            </a:r>
          </a:p>
          <a:p>
            <a:pPr algn="ctr"/>
            <a:r>
              <a:rPr sz="1100" b="0">
                <a:solidFill>
                  <a:srgbClr val="858793"/>
                </a:solidFill>
              </a:rPr>
              <a:t>1박당 8만원이었습니다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5661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→ 현재 규정 질문에는 travel만 사용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두 금액을 모두 모델에 넘기면 어느 쪽을 따를지 헷갈려요. 모델에 넘기기 전에 적용할 버전을 우리가 먼저 정해요.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검색 성공과 답변 가능은 다른 문제예요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3931920" cy="13258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657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term in ["숙박 비용", "호텔비", "개인 취미"]: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found = [d for d in current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if term in d["content"]]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print(term, "-&gt;",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[d["document_id"] for d in found])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468880"/>
            <a:ext cx="3931920" cy="777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36576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숙박 비용 -&gt; ['travel']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호텔비 -&gt; []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개인 취미 -&gt; ['education']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383280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term in 본문 = 글자가 그대로 들어 있는지만 봐요.</a:t>
            </a:r>
          </a:p>
          <a:p>
            <a:pPr algn="l"/>
            <a:r>
              <a:rPr sz="1100" b="0">
                <a:solidFill>
                  <a:srgbClr val="858793"/>
                </a:solidFill>
              </a:rPr>
              <a:t>뜻이 같아도 글자가 다르면 못 찾아요.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1051560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46320" y="116128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숙박 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16128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F8A70"/>
                </a:solidFill>
              </a:rPr>
              <a:t>검색 ✓  근거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</a:rPr>
              <a:t>travel에 같은 표현과 정산 규정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2240280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846320" y="235000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호텔비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35000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B062F"/>
                </a:solidFill>
              </a:rPr>
              <a:t>검색 ✗  근거는 있음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2743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</a:rPr>
              <a:t>답은 travel에 있는데 글자가 달라 못 찾음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846320" y="35387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개인 취미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53872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B062F"/>
                </a:solidFill>
              </a:rPr>
              <a:t>검색 ✓  근거 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</a:rPr>
              <a:t>education은 찾지만 지원 여부가 규정에 없음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찾은 문서와 질문을 하나의 입력(Prompt)으로 묶어요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114800" cy="2377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"출장 숙박 비용은 얼마까지 정산되나요?"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found = [d for d in current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if "숙박 비용" in d["content"]]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context = "\n".join(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f"[{d['document_id']}]\n"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+ d["content"].replace(". ", ".\n")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d in found)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prompt = ("문서를 근거로 질문에 답하세요. 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"근거가 없으면 확인 불가라고 답하세요.\n"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+ context + "\n질문: " + question)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자료형이 바뀌어요</a:t>
            </a:r>
          </a:p>
          <a:p>
            <a:pPr algn="l"/>
            <a:r>
              <a:rPr sz="1100" b="0">
                <a:solidFill>
                  <a:srgbClr val="858793"/>
                </a:solidFill>
              </a:rPr>
              <a:t>list[dict] (문서 목록) → str (모델이 읽는 한 문자열)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105156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83480" y="11247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858793"/>
                </a:solidFill>
              </a:rPr>
              <a:t>지시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1399031"/>
            <a:ext cx="35661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문서를 근거로 답하세요.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근거가 없으면 확인 불가라고 답하세요.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196596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83480" y="20391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근거 (Context)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2313432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[travel]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국내 출장 숙박 비용 한도는 1박당 12만원입니다.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숙박 영수증을 첨부해야 정산할 수 있습니다.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한도 초과 숙박은 예약 전에 … 서면 승인 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3520439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983480" y="3593591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858793"/>
                </a:solidFill>
              </a:rPr>
              <a:t>질문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867911"/>
            <a:ext cx="35661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출장 숙박 비용은 얼마까지 정산되나요?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17720" y="2194560"/>
            <a:ext cx="20116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좋은 답변에는 금액과 조건이 함께 있어야 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4173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B062F"/>
                </a:solidFill>
              </a:rPr>
              <a:t>1박당 12만원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148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58793"/>
                </a:solidFill>
              </a:rPr>
              <a:t>기본 한도와 적용 단위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118872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246120" y="14173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1617"/>
                </a:solidFill>
              </a:rPr>
              <a:t>숙박 영수증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2148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58793"/>
                </a:solidFill>
              </a:rPr>
              <a:t>정산에 필요한 증빙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118872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035040" y="14173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1617"/>
                </a:solidFill>
              </a:rPr>
              <a:t>예약 전 서면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148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58793"/>
                </a:solidFill>
              </a:rPr>
              <a:t>한도 초과 시 조건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3264408"/>
            <a:ext cx="78638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답변에서 확인할 세 가지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"12만원"만 전달하면 부족해요. 단위(1박당)와 조건(영수증, 사전 승인)까지 원문대로 전해야 실제로 정산을 받을 수 있어요.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오늘 오전에 만드는 것은 모델에 보낼 입력이에요. 실제 생성 호출은 1-3 선택 실습에서 해요.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1-1. 현행 규정 검색 함수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TODO를 완성한 뒤 마지막 NotImplementedError를 실제 반환문으로 바꾸세요.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find_policy(term, current_only=True):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1: 빈 검색어라면 ValueError를 발생시키세요.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2: current_only에 따라 검색할 문서 목록을 고르세요.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3: 본문에 term이 있는 문서 목록을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ch01\rag_ch01_01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"숙박 비용" (현행만) → ['travel']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"숙박 비용" (구버전 포함) → ['travel', 'travel-old']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"호텔비" → []   ·   "개인 취미" → ['education']   ·   "   " (공백) → ValueError: 검색어를 입력하세요.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RAG가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1-1. 현행 규정 검색 함수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빈칸(____)을 채우세요. 각 TODO 바로 아래 코드가 그 TODO의 답이에요.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find_policy(term, current_only=True):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1: 빈 검색어라면 ValueError를 발생시키세요.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term.____():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raise ____("검색어를 입력하세요.")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2: current_only에 따라 검색할 문서 목록을 고르세요.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candidates = current if current_only else ____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3: 본문에 term이 있는 문서 목록을 반환하세요.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[d for d in candidates if ____ in d["content"]]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ch01\rag_ch01_01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"숙박 비용" (현행만) → ['travel']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"숙박 비용" (구버전 포함) → ['travel', 'travel-old']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"호텔비" → []   ·   "개인 취미" → ['education']   ·   "   " (공백) → ValueError: 검색어를 입력하세요.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1-2</a:t>
            </a:r>
            <a:r>
              <a:rPr b="1">
                <a:solidFill>
                  <a:srgbClr val="858793"/>
                </a:solidFill>
              </a:rPr>
              <a:t>   Indexing과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Indexing과 Query 파이프라인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매번 모든 본문을 훑던 검색을 → 미리 만들어 둔 역색인으로 바꾸고, 색인을 다시 만들어야 하는 순간을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Indexing과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매번 다 읽기 vs 미리 정리해 두기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3977639" cy="3520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</a:rPr>
              <a:t>1-1 방식: 질문마다 전체를 훑기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600200"/>
            <a:ext cx="914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1600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Q1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91640" y="1801368"/>
            <a:ext cx="5029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240280" y="160020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40280" y="16002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858793"/>
                </a:solidFill>
              </a:rPr>
              <a:t>문서 10개 전부 읽기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2148840"/>
            <a:ext cx="914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1520" y="214884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Q2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91640" y="2350008"/>
            <a:ext cx="5029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240280" y="214884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2240280" y="21488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858793"/>
                </a:solidFill>
              </a:rPr>
              <a:t>문서 10개 전부 읽기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697480"/>
            <a:ext cx="914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31520" y="269748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Q3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91640" y="2898648"/>
            <a:ext cx="5029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240280" y="26974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240280" y="26974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858793"/>
                </a:solidFill>
              </a:rPr>
              <a:t>문서 10개 전부 읽기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3246120"/>
            <a:ext cx="914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31520" y="32461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Q4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691640" y="3447288"/>
            <a:ext cx="5029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240280" y="324612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240280" y="32461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858793"/>
                </a:solidFill>
              </a:rPr>
              <a:t>문서 10개 전부 읽기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질문이 늘수록 같은 일을 반복해요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9160" y="1051560"/>
            <a:ext cx="3977639" cy="3520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1-2 방식: 한 번 색인, 여러 번 조회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37760" y="16002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047488" y="1600200"/>
            <a:ext cx="12435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Indexing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문서를 읽을 때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한 번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446520" y="2057400"/>
            <a:ext cx="320040" cy="0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812280" y="16002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922008" y="1600200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역색인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단어 → 문서 ID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37760" y="2788920"/>
            <a:ext cx="914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937760" y="27889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Q1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5897880" y="2560320"/>
            <a:ext cx="868680" cy="429768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937760" y="3337560"/>
            <a:ext cx="914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937760" y="33375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Q2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5897880" y="2560320"/>
            <a:ext cx="868680" cy="978408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937760" y="3886200"/>
            <a:ext cx="914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937760" y="3886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Q3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5897880" y="2560320"/>
            <a:ext cx="868680" cy="1527048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400800" y="329184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Query</a:t>
            </a:r>
          </a:p>
          <a:p>
            <a:pPr algn="ctr"/>
            <a:r>
              <a:rPr sz="1100" b="1">
                <a:solidFill>
                  <a:srgbClr val="141617"/>
                </a:solidFill>
              </a:rPr>
              <a:t>색인에서 바로</a:t>
            </a:r>
          </a:p>
          <a:p>
            <a:pPr algn="ctr"/>
            <a:r>
              <a:rPr sz="1100" b="1">
                <a:solidFill>
                  <a:srgbClr val="141617"/>
                </a:solidFill>
              </a:rPr>
              <a:t>찾기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Indexing과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역색인: 단어마다 그 단어가 나온 문서 ID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114800" cy="2194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84048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build_index(docs):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postings = defaultdict(set)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doc in docs: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for word in re.findall(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r"[가-힣a-zA-Z0-9]+",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doc["content"]):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postings[word].add(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doc["document_id"])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dict(postings)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4114800" cy="777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410712"/>
            <a:ext cx="384048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숙박 -&gt; ['travel']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영수증을 -&gt; ['education', 'travel']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재택근무는 -&gt; ['remote']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set이라 같은 문서에 여러 번 나와도 ID는 한 번만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index  (dict)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1371600"/>
            <a:ext cx="1371600" cy="438912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46320" y="137160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"숙박"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63640" y="1591056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80" y="1371600"/>
            <a:ext cx="210312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0" y="137160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{travel}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1965960"/>
            <a:ext cx="1371600" cy="438912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846320" y="196596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"영수증을"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63640" y="2185415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583680" y="1965960"/>
            <a:ext cx="2103120" cy="438912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0" y="196596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{education, travel}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2560320"/>
            <a:ext cx="1371600" cy="438912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846320" y="256032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"재택근무는"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63640" y="2779776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583680" y="2560320"/>
            <a:ext cx="210312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0" y="256032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{remote}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3154680"/>
            <a:ext cx="1371600" cy="438912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846320" y="315468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"1박당"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263640" y="3374136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583680" y="3154680"/>
            <a:ext cx="210312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83680" y="315468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{travel}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46320" y="3840480"/>
            <a:ext cx="384048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029200" y="395020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"영수증"으로 찾으면? → 없어요.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조사가 붙은 "영수증을"이 다른 단어로 저장돼요.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Indexing과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OR 검색 후, ID로 원문을 다시 찾아요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1609344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질문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"숙박 영수증을"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13432" y="160020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60320" y="109728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70048" y="1097280"/>
            <a:ext cx="1609344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단어 나누기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숙박 · 영수증을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16552" y="160020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63440" y="109728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73168" y="1097280"/>
            <a:ext cx="1609344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단어별 ID 합집합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{travel} ∪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{education, travel}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9671" y="160020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66559" y="109728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76288" y="1097280"/>
            <a:ext cx="1609344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by_id로 원문 복원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제목 · 본문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331720"/>
            <a:ext cx="411480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4360" y="2423160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by_id = {d["document_id"]: d for d in current}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did in search_words("숙박 영수증을", index):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print(did, by_id[did]["metadata"]["title"])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2331720"/>
            <a:ext cx="393192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892040" y="2404872"/>
            <a:ext cx="365760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education 교육비 지원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직무 교육비는 분기 1회, 1인당 30만원…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 출장 숙박 정산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국내 출장 숙박 비용 한도는 1박당 12만원…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OR 검색 = 한 단어만 맞아도 후보예요. 점수나 순위가 없어서 education도 함께 나와요 → 1-3에서 BM25 점수로 순위를 매겨요.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Indexing과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문서를 추가해도 색인은 저절로 바뀌지 않아요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617"/>
                </a:solidFill>
              </a:rPr>
              <a:t>before 색인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remote를 빼고 만든 색인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search_words("재택근무는")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423160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24231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1097280"/>
            <a:ext cx="4023360" cy="2103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</a:rPr>
              <a:t>after 색인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remote까지 넣고 다시 만든 색인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search_words("재택근무는")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2423160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983479" y="24231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['remote']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98848" y="214884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538728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원문을 고쳤는데 검색이 그대로라면?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원문이 바뀌면 색인을 다시 만들어야 해요 (Indexing 다시 실행).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이 강의에서는 전체를 새로 만들었어요. 실무에서는 바뀐 문서만 갱신하는 방법도 써요.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Indexing과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1-2. AND 검색 함수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search_all_words(query, index):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words = re.findall(r"[가-힣a-zA-Z0-9]+", query)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1: 검색어가 없으면 빈 목록을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2: 첫 단어가 포함된 문서 집합에서 시작하세요.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3: 다음 단어마다 공통 문서 ID만 남기세요.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ch01\rag_ch01_02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"숙박 교육비는"   OR: ['education', 'travel']   AND: []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"숙박 영수증을"   OR: ['education', 'travel']   AND: ['travel']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검색 후에도 index는 그대로여야 해요 (첫 집합 복사)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Indexing과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1-2. AND 검색 함수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빈칸(____)을 채우세요. 각 TODO 바로 아래 코드가 그 TODO의 답이에요.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search_all_words(query, index):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words = re.findall(r"[가-힣a-zA-Z0-9]+", query)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1: 검색어가 없으면 빈 목록을 반환하세요.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____: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2: 첫 단어가 포함된 문서 집합에서 시작하세요.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found = set(index.get(____, set()))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3: 다음 단어마다 공통 문서 ID만 남기세요.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word in words[1:]: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found.____(index.get(word, set()))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sorted(found)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ch01\rag_ch01_02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"숙박 교육비는"   OR: ['education', 'travel']   AND: []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"숙박 영수증을"   OR: ['education', 'travel']   AND: ['travel']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검색 후에도 index는 그대로여야 해요 (첫 집합 복사)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1-3 2-Step RAG 기준선과 실습 환경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1-3</a:t>
            </a:r>
            <a:r>
              <a:rPr b="1">
                <a:solidFill>
                  <a:srgbClr val="858793"/>
                </a:solidFill>
              </a:rPr>
              <a:t>   2-Step RAG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2-Step RAG 기준선과 실습 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80/20 청킹 → BM25 Top-3 검색 → 문자 예산 안에서 Context와 출처 만들기 → (선택) Ollama로 답변 생성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2-Step RAG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검색 한 번, 생성 한 번: rag_core.py의 다섯 함수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150876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2920" y="12984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read_documents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691640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41617"/>
                </a:solidFill>
              </a:rPr>
              <a:t>ID · 본문 · 출처</a:t>
            </a:r>
          </a:p>
          <a:p>
            <a:pPr algn="ctr"/>
            <a:r>
              <a:rPr sz="1000" b="0">
                <a:solidFill>
                  <a:srgbClr val="141617"/>
                </a:solidFill>
              </a:rPr>
              <a:t>검사하며 읽기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84248" y="184708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8840" y="1188720"/>
            <a:ext cx="150876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194560" y="12984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chunk_documents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1691640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41617"/>
                </a:solidFill>
              </a:rPr>
              <a:t>80자 청크</a:t>
            </a:r>
          </a:p>
          <a:p>
            <a:pPr algn="ctr"/>
            <a:r>
              <a:rPr sz="1000" b="0">
                <a:solidFill>
                  <a:srgbClr val="141617"/>
                </a:solidFill>
              </a:rPr>
              <a:t>20자 겹침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75887" y="184708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840480" y="1188720"/>
            <a:ext cx="150876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86200" y="12984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retrieve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1691640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41617"/>
                </a:solidFill>
              </a:rPr>
              <a:t>현행만 BM25</a:t>
            </a:r>
          </a:p>
          <a:p>
            <a:pPr algn="ctr"/>
            <a:r>
              <a:rPr sz="1000" b="0">
                <a:solidFill>
                  <a:srgbClr val="141617"/>
                </a:solidFill>
              </a:rPr>
              <a:t>Top-3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67528" y="184708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532120" y="1188720"/>
            <a:ext cx="150876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77840" y="12984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build_context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1691640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41617"/>
                </a:solidFill>
              </a:rPr>
              <a:t>문자 예산 260</a:t>
            </a:r>
          </a:p>
          <a:p>
            <a:pPr algn="ctr"/>
            <a:r>
              <a:rPr sz="1000" b="0">
                <a:solidFill>
                  <a:srgbClr val="141617"/>
                </a:solidFill>
              </a:rPr>
              <a:t>S1 · S2 라벨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59168" y="184708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23760" y="1188720"/>
            <a:ext cx="150876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269480" y="12984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generate_ollama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1691640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41617"/>
                </a:solidFill>
              </a:rPr>
              <a:t>(선택) 답변</a:t>
            </a:r>
          </a:p>
          <a:p>
            <a:pPr algn="ctr"/>
            <a:r>
              <a:rPr sz="1000" b="0">
                <a:solidFill>
                  <a:srgbClr val="141617"/>
                </a:solidFill>
              </a:rPr>
              <a:t>+ 출처 검사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Step 1  검색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017520"/>
            <a:ext cx="5029200" cy="15544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94360" y="31089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documents = read_documents(Path("documents.json"))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chunks = chunk_documents(documents, size=80, overlap=20)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rows = retrieve(question, chunks, method="bm25", k=3)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context, sources = build_context(rows, max_chars=260)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0" y="3017520"/>
            <a:ext cx="3017520" cy="15544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806440" y="3090672"/>
            <a:ext cx="2743200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문서 12 청크 28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인용 연결: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[('S1', 'travel'),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('S2', 'meal')]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2-Step RAG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80/20 청킹: 80자씩 자르고 20자 겹치기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travel 본문 148자 · 시작 위치는 80 − 20 = 60자씩 이동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417320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82880" y="1417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9204" y="1417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1312" y="1417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5528" y="1417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7636" y="1417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1417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1965960"/>
            <a:ext cx="4448432" cy="4114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0352" y="1965960"/>
            <a:ext cx="43021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[0:80]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93524" y="2514600"/>
            <a:ext cx="4448432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66676" y="2514600"/>
            <a:ext cx="43021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[60:140]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29848" y="3063239"/>
            <a:ext cx="1556951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203000" y="3063239"/>
            <a:ext cx="141064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[120:148]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93524" y="1920240"/>
            <a:ext cx="1112108" cy="105156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FB06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793524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겹치는 20자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358444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첫 청크가 "서면"에서 끝나요 → "서면 승인" 조건이 두 청크로 나뉘어요.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그래서 겹침을 둬요. 다만 고정 길이는 문장 경계를 보지 않아요(3장에서 다른 청킹과 비교).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chunk_id = 문서ID:본문해시:80:20:시작위치 → 원문이나 설정이 바뀌면 ID도 바뀌어요.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2-Step RAG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BM25 Top-3: 점수 순서이고, 문서 3개는 아니에요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5720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retrieve("출장 숙박 비용 한도는?", chunks, k=3)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10515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13248" y="1051560"/>
            <a:ext cx="316382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k = 3 = 청크 3개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meal 문서의 청크가 두 개 →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문서는 travel · meal 2개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23317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13248" y="2331720"/>
            <a:ext cx="316382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BM25가 보는 것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질문 단어가 청크에 몇 번,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얼마나 드문 단어인지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검색 대상은 현행 청크만이에요. retrieve 안에서 status == "current"로 먼저 거른 뒤 점수를 매겨요.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2-Step RAG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Context 예산: 들어가는 근거만 라벨을 받아요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2011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row in rows: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label = f"S{len(sources) + 1}"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piece = f"[{label}] {title}\n{text}"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used + len(piece) + 2 &gt; max_chars: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continue          # 통째로 건너뜀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pieces.append(piece)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sources.append({"id": label, ...})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used += len(piece) + 2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10515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92040" y="11247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예산 110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1490472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92040" y="14904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S1 travel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21031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92040" y="21762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예산 260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2542032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92040" y="25420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S1 travel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2542032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0" y="25420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S2 meal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546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제목 · 라벨 · 구분 줄바꿈 2자도 예산에 포함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예산이 작으면 식비 근거가 빠져요. 출처(sources)는 Context에 실제로 넣은 근거만 기록해요.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검색은 됐지만 Context에서 빠진 문서를 답변의 출처로 연결하면 안 돼요. 실제 서비스는 문자가 아니라 토큰으로 세요(1-4).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2-Step RAG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선택 실습: Ollama로 답하고, 형식과 출처를 검사해요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160934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근거 없음?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모델 호출 없이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바로 보류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13432" y="169164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60320" y="109728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70048" y="1097280"/>
            <a:ext cx="160934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Ollama 호출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JSON 스키마로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status · answer · citations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16552" y="169164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63440" y="109728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73168" y="1097280"/>
            <a:ext cx="160934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validate_answer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S99 같은 가짜 출처 차단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답변엔 출처 필수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9671" y="169164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66559" y="109728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76288" y="1097280"/>
            <a:ext cx="160934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결과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answered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12만원 (S1)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514600"/>
            <a:ext cx="4114800" cy="1143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4360" y="2606040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$env:OLLAMA_MODEL = "gemma3:4b-it-q4_K_M"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cd ch01\rag_ch01_03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generate_answer.py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2514600"/>
            <a:ext cx="3931920" cy="1143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892040" y="2587752"/>
            <a:ext cx="3657600" cy="996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answered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국내 출장 숙박 비용 한도는 1박당 12만원입니다. (S1)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['S1']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검사를 통과해도 답변 문장이 원문 뜻을 정확히 옮겼는지는 사람이 원문과 대조해요.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2-Step RAG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1-3. 다른 질문의 입력 만들기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prepare_input(question, chunks, k=2):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1: BM25로 검색 후보를 가져오세요.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2: 260자 예산으로 Context와 출처를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3: question, context, sources가 있는 dict를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ch01\rag_ch01_03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질문: "재택근무는 주 몇 회인가요?"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출처: [('S1', 'remote')]  (k=2지만 점수가 있는 후보는 1개)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Context에 "주 2회"와 "사전 일정 협의"가 함께 있어요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2-Step RAG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1-3. 다른 질문의 입력 만들기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빈칸(____)을 채우세요. 각 TODO 바로 아래 코드가 그 TODO의 답이에요.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prepare_input(question, chunks, k=2):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1: BM25로 검색 후보를 가져오세요.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rows = retrieve(question, chunks, method="bm25", k=____)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2: 260자 예산으로 Context와 출처를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context, sources = build_context(____, max_chars=260)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3: question, context, sources가 있는 dict를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{"question": question, "context": ____, "sources": sources}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ch01\rag_ch01_03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질문: "재택근무는 주 몇 회인가요?"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출처: [('S1', 'remote')]  (k=2지만 점수가 있는 후보는 1개)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Context에 "주 2회"와 "사전 일정 협의"가 함께 있어요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1-4 RAG와 Long Context, CAG 선택 기준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1-4</a:t>
            </a:r>
            <a:r>
              <a:rPr b="1">
                <a:solidFill>
                  <a:srgbClr val="858793"/>
                </a:solidFill>
              </a:rPr>
              <a:t>   선택 기준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RAG · Long Context · CAG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선택 기준: 전체 입력과 검색 입력 크기 비교 → 문서 토큰 예산 계산 → 세 방식의 역할 구분 → 캐시 키 → 비교 후보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RAG · Long Context · CAG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규정이 10개뿐이면, 그냥 다 넣으면 안 될까요?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58793"/>
                </a:solidFill>
              </a:rPr>
              <a:t>전체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50876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141617"/>
                </a:solidFill>
              </a:rPr>
              <a:t>1,434</a:t>
            </a:r>
            <a:r>
              <a:rPr sz="1400" b="0">
                <a:solidFill>
                  <a:srgbClr val="858793"/>
                </a:solidFill>
              </a:rPr>
              <a:t>  문자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4231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현행 규정 10개 전부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97280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92040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검색 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50876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B062F"/>
                </a:solidFill>
              </a:rPr>
              <a:t>157</a:t>
            </a:r>
            <a:r>
              <a:rPr sz="1400" b="0">
                <a:solidFill>
                  <a:srgbClr val="858793"/>
                </a:solidFill>
              </a:rPr>
              <a:t>  문자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4231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숙박 규정 1개 ([travel] 9자 + 본문 148자)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3108960"/>
          <a:ext cx="822960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347472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문서 전체 입력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검색 후 입력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장점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검색 단계에서 자료를 놓치지 않아요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질문과 관련된 자료로 입력을 줄여요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확인할 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많은 자료에서 필요한 조건을 찾는지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검색이 필요한 문서를 빠뜨리지 않는지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RAG · Long Context · CAG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문서에 쓸 수 있는 토큰 예산 계산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512064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760720" y="1051560"/>
            <a:ext cx="292608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897880" y="114300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document_budget(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limit, instruction,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history, output, margin):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return max(0, limit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- instruction - history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- output - margin)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2560320"/>
            <a:ext cx="2926080" cy="6400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97880" y="2633472"/>
            <a:ext cx="2651760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8192-500-500-1000-192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= 6000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90448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답변을 길게 예약할수록 근거에 쓸 공간이 줄어요 (출력 2,000 ↑ → 문서 2,000 ↓).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1,434문자를 1,434토큰으로 계산하면 안 돼요. 실제로는 생성 모델의 Tokenizer로 세요.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RAG · Long Context · CAG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세 용어는 같은 기준으로 나눈 선택지가 아니에요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B062F"/>
                </a:solidFill>
              </a:rPr>
              <a:t>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69164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근거를 가져오는 방식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4231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숙박 규정을 검색해</a:t>
            </a:r>
          </a:p>
          <a:p>
            <a:pPr algn="l"/>
            <a:r>
              <a:rPr sz="1050" b="0">
                <a:solidFill>
                  <a:srgbClr val="858793"/>
                </a:solidFill>
              </a:rPr>
              <a:t>답변에 넣어요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10972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41617"/>
                </a:solidFill>
              </a:rPr>
              <a:t>Long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169164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긴 입력을 처리하는 능력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4231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규정 전체나 더 많은</a:t>
            </a:r>
          </a:p>
          <a:p>
            <a:pPr algn="l"/>
            <a:r>
              <a:rPr sz="1050" b="0">
                <a:solidFill>
                  <a:srgbClr val="858793"/>
                </a:solidFill>
              </a:rPr>
              <a:t>검색 결과를 넣어요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10972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41617"/>
                </a:solidFill>
              </a:rPr>
              <a:t>CAG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69164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공통 자료의 계산 상태를</a:t>
            </a:r>
          </a:p>
          <a:p>
            <a:pPr algn="l"/>
            <a:r>
              <a:rPr sz="1150" b="1">
                <a:solidFill>
                  <a:srgbClr val="141617"/>
                </a:solidFill>
              </a:rPr>
              <a:t>재사용하는 접근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4231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같은 규정으로 반복 질문 시</a:t>
            </a:r>
          </a:p>
          <a:p>
            <a:pPr algn="l"/>
            <a:r>
              <a:rPr sz="1050" b="0">
                <a:solidFill>
                  <a:srgbClr val="858793"/>
                </a:solidFill>
              </a:rPr>
              <a:t>공통 앞부분 계산 재사용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5800" y="352044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RAG + Long Context는 함께 쓸 수 있어요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0E1E5"/>
                </a:solidFill>
              </a:rPr>
              <a:t>긴 입력을 지원하는 모델에도 검색한 근거를 넣을 수 있어요. 전체를 넣을 수 있다고 검색이 항상 불필요해지는 건 아니에요.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RAG · Long Context · CAG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캐시 키: 같은 입력인지 확인하는 해시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005840" cy="41148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1097280"/>
            <a:ext cx="1920240" cy="4114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54480" y="10972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"class-model-v1"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20440" y="1298448"/>
            <a:ext cx="365760" cy="41148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1645919"/>
            <a:ext cx="1005840" cy="41148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1645919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scope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54480" y="1645919"/>
            <a:ext cx="1920240" cy="4114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554480" y="1645919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"current"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3520440" y="1709928"/>
            <a:ext cx="365760" cy="13716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7200" y="2194560"/>
            <a:ext cx="1005840" cy="41148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219456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54480" y="2194560"/>
            <a:ext cx="1920240" cy="4114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554480" y="219456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full_context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3520440" y="1709928"/>
            <a:ext cx="365760" cy="68580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931920" y="1325880"/>
            <a:ext cx="164592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041648" y="1325880"/>
            <a:ext cx="1426464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sha256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앞 12자리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23560" y="1709928"/>
            <a:ext cx="27432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943600" y="1097280"/>
            <a:ext cx="2743200" cy="1234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080760" y="1170432"/>
            <a:ext cx="2468880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처음:      49481914e342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같은 입력: 49481914e342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범위 변경: 71b455a2133c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모델 변경: 5e3dd84e2aa1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2990088"/>
            <a:ext cx="36576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같은 내용이어도 키가 달라지는 이유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모델이나 접근 범위(scope)가 다르면 키도 달라요.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→ 다른 권한의 캐시를 섞지 않게 막아요.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2880360"/>
            <a:ext cx="4023360" cy="16916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846320" y="297180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617"/>
                </a:solidFill>
              </a:rPr>
              <a:t>키 생성 ≠ 실제 캐시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41617"/>
                </a:solidFill>
              </a:rPr>
              <a:t>이 코드는 KV 텐서를 저장하지 않아요. scope도 권한 검사가 아니에요.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58793"/>
                </a:solidFill>
              </a:rPr>
              <a:t>키가 같다고 캐시 적중 · 속도 향상이 검증된 것도 아니에요.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RAG · Long Context · CAG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먼저 비교할 후보를 고르는 순서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문서가 예산을 넘나요?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94760" y="1463040"/>
            <a:ext cx="4114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51960" y="1097280"/>
            <a:ext cx="443484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34840" y="109728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예 → RAG 또는 문서 범위 축소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03120" y="1847088"/>
            <a:ext cx="0" cy="192024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205740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05740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반복 요청 + 캐시 지원?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794760" y="2423160"/>
            <a:ext cx="4114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51960" y="2057400"/>
            <a:ext cx="4434840" cy="731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434840" y="205740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예 → 전체 입력 + prefix cache 비교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03120" y="2807208"/>
            <a:ext cx="0" cy="192024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" y="301752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301752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그 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94760" y="3383279"/>
            <a:ext cx="4114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251960" y="3017520"/>
            <a:ext cx="4434840" cy="731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434840" y="301752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전체 입력부터 비교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0080" y="4133088"/>
            <a:ext cx="7863840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가상 조건으로 비교 순서를 연습하는 규칙이에요. 실제 채택은 같은 질문으로 정확도와 처리 시간을 측정해서 정해요.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RAG · Long Context · CAG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1-4. 비교 후보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choose_input(document_tokens, available, repeated, cache_supported):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1: 자료가 문서 예산을 넘는 경우를 처리하세요.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2: 반복 요청이며 캐시를 지원하는 경우를 처리하세요.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3: 나머지 경우의 비교 후보를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ch01\rag_ch01_04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(3000, 6000, O, O) → 전체 입력 + prefix cache 비교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(900000, 6000, O, O) → RAG 또는 문서 범위 축소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(3000, 6000, X, X) → 전체 입력부터 비교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RAG · Long Context · CAG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1-4. 비교 후보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빈칸(____)을 채우세요. 각 TODO 바로 아래 코드가 그 TODO의 답이에요.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choose_input(document_tokens, available, repeated, cache_supported):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1: 자료가 문서 예산을 넘는 경우를 처리하세요.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document_tokens &gt; ____: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"RAG 또는 문서 범위 축소"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2: 반복 요청이며 캐시를 지원하는 경우를 처리하세요.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repeated and ____: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"전체 입력 + prefix cache 비교"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 3: 나머지 경우의 비교 후보를 반환하세요.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ch01\rag_ch01_04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(3000, 6000, O, O) → 전체 입력 + prefix cache 비교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(900000, 6000, O, O) → RAG 또는 문서 범위 축소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(3000, 6000, X, X) → 전체 입력부터 비교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결과물: Query 흐름을 단순한 방법으로 한 바퀴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600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현행 필터 · 검색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검색 실패 vs 근거 없음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600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역색인 · OR 검색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색인은 다시 만들어야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600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80/20 · BM25 · 예산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S1 · S2 출처 연결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600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토큰 예산 · 캐시 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비교 후보 고르기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645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301752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오후 2장으로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오전에는 깔끔한 documents.json을 받았어요. 그런데 실제 문서는 TXT · HTML · PDF로 오고, 메뉴나 꼬리말이 섞이고, 구버전과 중복이 있어요.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오후에는 그 문서를 읽고(2-1), 출처를 붙이고(2-2), 정제하고(2-3), JSONL로 저장해요(2-4).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808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r>
              <a:rPr lang="en-US" sz="1200" dirty="0">
                <a:solidFill>
                  <a:srgbClr val="858793"/>
                </a:solidFill>
              </a:rPr>
              <a:t>   Private LLM Course · 1일차 오전 마무리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</p:txBody>
      </p:sp>
      <p:sp>
        <p:nvSpPr>
          <p:cNvPr id="4" name="dlabel-809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오후 수업 전에</a:t>
            </a:r>
            <a:r>
              <a:rPr lang="en-US" sz="1200" dirty="0">
                <a:solidFill>
                  <a:srgbClr val="858793"/>
                </a:solidFill>
              </a:rPr>
              <a:t>   확인할 것</a:t>
            </a:r>
            <a:endParaRPr lang="en-US" sz="1200" dirty="0"/>
          </a:p>
        </p:txBody>
      </p:sp>
      <p:sp>
        <p:nvSpPr>
          <p:cNvPr id="5" name="t-810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rag_day1에서 uv sync 완료</a:t>
            </a:r>
            <a:endParaRPr lang="en-US" sz="1500" dirty="0"/>
          </a:p>
        </p:txBody>
      </p:sp>
      <p:sp>
        <p:nvSpPr>
          <p:cNvPr id="6" name="t-811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2장 1강과 3강이 pypdf · langchain-core를 사용</a:t>
            </a:r>
            <a:endParaRPr lang="en-US" sz="950" dirty="0"/>
          </a:p>
        </p:txBody>
      </p:sp>
      <p:sp>
        <p:nvSpPr>
          <p:cNvPr id="7" name="t-812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ch02\rag_ch02_01\raw 폴더</a:t>
            </a:r>
            <a:endParaRPr lang="en-US" sz="1500" dirty="0"/>
          </a:p>
        </p:txBody>
      </p:sp>
      <p:sp>
        <p:nvSpPr>
          <p:cNvPr id="8" name="t-813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travel.txt · travel.html · travel.pdf 세 파일이 있는지</a:t>
            </a:r>
            <a:endParaRPr lang="en-US" sz="950" dirty="0"/>
          </a:p>
        </p:txBody>
      </p:sp>
      <p:pic>
        <p:nvPicPr>
          <p:cNvPr id="9" name="ts-814" descr="/private/tmp/claude-501/-Users-giin-Desktop-work/450004e7-3239-436b-91c3-140d15687ef1/scratchpad/deck/img/teamsparta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5498</Words>
  <Application>Microsoft Macintosh PowerPoint</Application>
  <PresentationFormat>On-screen Show (16:9)</PresentationFormat>
  <Paragraphs>877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Malgun Gothic</vt:lpstr>
      <vt:lpstr>Arial</vt:lpstr>
      <vt:lpstr>Consolas</vt:lpstr>
      <vt:lpstr>KANT Review</vt:lpstr>
      <vt:lpstr>문의 한 건을 읽고, 기준 모델과 비교하기</vt:lpstr>
      <vt:lpstr>16시간 동안 문의 한 건이 답변이 되기까지</vt:lpstr>
      <vt:lpstr>전체 구성: 학습한 분류기를 실제 요청에 연결</vt:lpstr>
      <vt:lpstr>오늘 계속 따라갈 문의 한 건</vt:lpstr>
      <vt:lpstr>실습 환경 준비</vt:lpstr>
      <vt:lpstr>폴더 하나를 통째로 열기: project2-kit</vt:lpstr>
      <vt:lpstr>step 파일과 교안이 이어지는 순서</vt:lpstr>
      <vt:lpstr>명령 세 줄로 환경 준비</vt:lpstr>
      <vt:lpstr>결과 폴더 경로는 설정값으로 조립</vt:lpstr>
      <vt:lpstr>생성 모델은 학습하지 않고 호출만 진행</vt:lpstr>
      <vt:lpstr>막혔을 때 먼저 확인할 곳</vt:lpstr>
      <vt:lpstr>문의 한 건을 파이썬으로 읽기</vt:lpstr>
      <vt:lpstr>한 행은 dict, 여러 행은 list</vt:lpstr>
      <vt:lpstr>read_rows: CSV → 딕셔너리의 리스트</vt:lpstr>
      <vt:lpstr>라벨 순서는 labels.json에서 따로 읽기</vt:lpstr>
      <vt:lpstr>main(): 읽은 값을 출력과 집계에 연결</vt:lpstr>
      <vt:lpstr>return과 print의 차이</vt:lpstr>
      <vt:lpstr>퀴즈 1-1. 자료형과 문자열 길이</vt:lpstr>
      <vt:lpstr>퀴즈 1-2. 함수가 돌려주는 값</vt:lpstr>
      <vt:lpstr>쉬는 시간 10분</vt:lpstr>
      <vt:lpstr>라벨과 학습 데이터를 정리하기</vt:lpstr>
      <vt:lpstr>라벨 = 단어가 아닌, 고객이 해결하려는 일</vt:lpstr>
      <vt:lpstr>나누는 단위는 문장이 아닌 상황</vt:lpstr>
      <vt:lpstr>seen에 쌓고 current와 비교</vt:lpstr>
      <vt:lpstr>집합으로 겹침을 찾는 코드</vt:lpstr>
      <vt:lpstr>id가 달라도 같은 상황일 수 있음</vt:lpstr>
      <vt:lpstr>check_splits: 다섯 관문을 차례로 검사</vt:lpstr>
      <vt:lpstr>검사 통과 = '구조가 맞다'는 뜻</vt:lpstr>
      <vt:lpstr>퀴즈 2-1. 집합으로 겹침 찾기</vt:lpstr>
      <vt:lpstr>퀴즈 2-2. 겹침 검사 함수 완성</vt:lpstr>
      <vt:lpstr>쉬는 시간 10분</vt:lpstr>
      <vt:lpstr>비교할 기준 모델 만들기</vt:lpstr>
      <vt:lpstr>기준 모델부터 만드는 이유</vt:lpstr>
      <vt:lpstr>문장을 문자 조각으로 잘라 숫자로 변환</vt:lpstr>
      <vt:lpstr>Pipeline 안에서 일어나는 일</vt:lpstr>
      <vt:lpstr>train_baseline의 핵심 코드</vt:lpstr>
      <vt:lpstr>fit은 train에서만, validation에는 predict만</vt:lpstr>
      <vt:lpstr>혼동행렬 한 장으로 세 지표 읽기</vt:lpstr>
      <vt:lpstr>지표를 계산하는 코드</vt:lpstr>
      <vt:lpstr>실제 validation 결과: 36건 모두 정답</vt:lpstr>
      <vt:lpstr>저장한 변환기로 숫자 직접 확인</vt:lpstr>
      <vt:lpstr>오류가 있는 6건으로 지표 계산</vt:lpstr>
      <vt:lpstr>퀴즈 3-1. 혼동행렬 손으로 채우기</vt:lpstr>
      <vt:lpstr>퀴즈 3-2. TF-IDF가 배우는 것</vt:lpstr>
      <vt:lpstr>오전 결과물 = 오후 학습의 입력</vt:lpstr>
      <vt:lpstr>질문과 정리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1일차 오전 · Private LLM Course</dc:title>
  <dc:subject>PptxGenJS Presentation</dc:subject>
  <dc:creator>김기인</dc:creator>
  <cp:lastModifiedBy>기인 김</cp:lastModifiedBy>
  <cp:revision>3</cp:revision>
  <dcterms:created xsi:type="dcterms:W3CDTF">2026-10-05T06:56:38Z</dcterms:created>
  <dcterms:modified xsi:type="dcterms:W3CDTF">2026-10-05T14:47:50Z</dcterms:modified>
</cp:coreProperties>
</file>