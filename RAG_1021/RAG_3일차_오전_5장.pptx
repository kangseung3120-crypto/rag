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9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95" r:id="rId9"/>
    <p:sldId id="296" r:id="rId10"/>
    <p:sldId id="297" r:id="rId11"/>
    <p:sldId id="298" r:id="rId12"/>
    <p:sldId id="299" r:id="rId13"/>
    <p:sldId id="300" r:id="rId14"/>
    <p:sldId id="301" r:id="rId15"/>
    <p:sldId id="302" r:id="rId16"/>
    <p:sldId id="303" r:id="rId17"/>
    <p:sldId id="304" r:id="rId18"/>
    <p:sldId id="305" r:id="rId19"/>
    <p:sldId id="306" r:id="rId20"/>
    <p:sldId id="307" r:id="rId21"/>
    <p:sldId id="308" r:id="rId22"/>
    <p:sldId id="309" r:id="rId23"/>
    <p:sldId id="310" r:id="rId24"/>
    <p:sldId id="311" r:id="rId25"/>
    <p:sldId id="312" r:id="rId26"/>
    <p:sldId id="313" r:id="rId27"/>
    <p:sldId id="314" r:id="rId28"/>
    <p:sldId id="315" r:id="rId29"/>
    <p:sldId id="316" r:id="rId30"/>
    <p:sldId id="317" r:id="rId31"/>
    <p:sldId id="318" r:id="rId32"/>
    <p:sldId id="319" r:id="rId33"/>
    <p:sldId id="320" r:id="rId34"/>
    <p:sldId id="321" r:id="rId35"/>
    <p:sldId id="322" r:id="rId36"/>
    <p:sldId id="323" r:id="rId37"/>
    <p:sldId id="324" r:id="rId38"/>
    <p:sldId id="325" r:id="rId39"/>
    <p:sldId id="326" r:id="rId8"/>
    <p:sldId id="327" r:id="rId7"/>
    <p:sldId id="328" r:id="rId6"/>
    <p:sldId id="329" r:id="rId5"/>
    <p:sldId id="330" r:id="rId4"/>
    <p:sldId id="331" r:id="rId3"/>
    <p:sldId id="332" r:id="rId46"/>
    <p:sldId id="333" r:id="rId47"/>
    <p:sldId id="334" r:id="rId48"/>
    <p:sldId id="294" r:id="rId40"/>
  </p:sldIdLst>
  <p:notesMasterIdLst>
    <p:notesMasterId r:id="rId4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오리엔테이션" id="{5EC71000-0000-4000-8000-000000000001}">
          <p14:sldIdLst>
            <p14:sldId id="256"/>
            <p14:sldId id="295"/>
            <p14:sldId id="296"/>
          </p14:sldIdLst>
        </p14:section>
        <p14:section name="00 실습 환경 준비" id="{5EC71001-0000-4000-8000-000000000002}">
          <p14:sldIdLst>
            <p14:sldId id="297"/>
            <p14:sldId id="298"/>
            <p14:sldId id="299"/>
          </p14:sldIdLst>
        </p14:section>
        <p14:section name="5-1 Vector Store와 Qdrant 데이터 모델" id="{5EC71002-0000-4000-8000-000000000003}">
          <p14:sldIdLst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</p14:sldIdLst>
        </p14:section>
        <p14:section name="5-2 Collection 생성 / Upsert / Query" id="{5EC71003-0000-4000-8000-000000000004}">
          <p14:sldIdLst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</p14:sldIdLst>
        </p14:section>
        <p14:section name="5-3 Metadata Filter와 검색 범위 제어" id="{5EC71004-0000-4000-8000-000000000005}">
          <p14:sldIdLst>
            <p14:sldId id="318"/>
            <p14:sldId id="319"/>
            <p14:sldId id="320"/>
            <p14:sldId id="321"/>
            <p14:sldId id="322"/>
            <p14:sldId id="323"/>
            <p14:sldId id="324"/>
            <p14:sldId id="325"/>
          </p14:sldIdLst>
        </p14:section>
        <p14:section name="5-4 데이터 갱신과 ANN 검색 개요" id="{5EC71005-0000-4000-8000-000000000006}">
          <p14:sldIdLst>
            <p14:sldId id="326"/>
            <p14:sldId id="327"/>
            <p14:sldId id="328"/>
            <p14:sldId id="329"/>
            <p14:sldId id="330"/>
            <p14:sldId id="331"/>
            <p14:sldId id="332"/>
            <p14:sldId id="333"/>
          </p14:sldIdLst>
        </p14:section>
        <p14:section name="정리" id="{5EC71006-0000-4000-8000-000000000007}">
          <p14:sldIdLst>
            <p14:sldId id="334"/>
            <p14:sldId id="29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9.xml"/><Relationship Id="rId4" Type="http://schemas.openxmlformats.org/officeDocument/2006/relationships/slide" Target="slides/slide38.xml"/><Relationship Id="rId5" Type="http://schemas.openxmlformats.org/officeDocument/2006/relationships/slide" Target="slides/slide37.xml"/><Relationship Id="rId6" Type="http://schemas.openxmlformats.org/officeDocument/2006/relationships/slide" Target="slides/slide36.xml"/><Relationship Id="rId7" Type="http://schemas.openxmlformats.org/officeDocument/2006/relationships/slide" Target="slides/slide35.xml"/><Relationship Id="rId8" Type="http://schemas.openxmlformats.org/officeDocument/2006/relationships/slide" Target="slides/slide34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999.xml"/><Relationship Id="rId41" Type="http://schemas.openxmlformats.org/officeDocument/2006/relationships/notesMaster" Target="notesMasters/notesMaster1.xml"/><Relationship Id="rId42" Type="http://schemas.openxmlformats.org/officeDocument/2006/relationships/presProps" Target="presProps.xml"/><Relationship Id="rId43" Type="http://schemas.openxmlformats.org/officeDocument/2006/relationships/viewProps" Target="viewProps.xml"/><Relationship Id="rId44" Type="http://schemas.openxmlformats.org/officeDocument/2006/relationships/theme" Target="theme/theme1.xml"/><Relationship Id="rId45" Type="http://schemas.openxmlformats.org/officeDocument/2006/relationships/tableStyles" Target="tableStyles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FB062F"/>
            </a:solidFill>
          </c:spPr>
          <c:dPt>
            <c:idx val="1"/>
            <c:spPr>
              <a:solidFill>
                <a:srgbClr val="858793"/>
              </a:solidFill>
            </c:spPr>
          </c:dPt>
          <c:dPt>
            <c:idx val="2"/>
            <c:spPr>
              <a:solidFill>
                <a:srgbClr val="858793"/>
              </a:solidFill>
            </c:spPr>
          </c:dPt>
          <c:cat>
            <c:strRef>
              <c:f>Sheet1!$A$2:$A$4</c:f>
              <c:strCache>
                <c:ptCount val="3"/>
                <c:pt idx="0">
                  <c:v>1 travel:0</c:v>
                </c:pt>
                <c:pt idx="1">
                  <c:v>2 meal:0</c:v>
                </c:pt>
                <c:pt idx="2">
                  <c:v>3 meal:60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0.8945</c:v>
                </c:pt>
                <c:pt idx="1">
                  <c:v>0.875</c:v>
                </c:pt>
                <c:pt idx="2">
                  <c:v>0.8444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1"/>
          <c:min val="0.8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필터 없음</c:v>
                </c:pt>
              </c:strCache>
            </c:strRef>
          </c:tx>
          <c:spPr>
            <a:solidFill>
              <a:srgbClr val="858793"/>
            </a:solidFill>
          </c:spPr>
          <c:dPt>
            <c:idx val="1"/>
            <c:spPr>
              <a:solidFill>
                <a:srgbClr val="FB062F"/>
              </a:solidFill>
            </c:spPr>
          </c:dPt>
          <c:cat>
            <c:strRef>
              <c:f>Sheet1!$A$2:$A$4</c:f>
              <c:strCache>
                <c:ptCount val="3"/>
                <c:pt idx="0">
                  <c:v>travel:0</c:v>
                </c:pt>
                <c:pt idx="1">
                  <c:v>travel-old:0</c:v>
                </c:pt>
                <c:pt idx="2">
                  <c:v>meal:0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0.9185</c:v>
                </c:pt>
                <c:pt idx="1">
                  <c:v>0.9003</c:v>
                </c:pt>
                <c:pt idx="2">
                  <c:v>0.8716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3"/>
          <c:min val="0.84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current만</c:v>
                </c:pt>
              </c:strCache>
            </c:strRef>
          </c:tx>
          <c:spPr>
            <a:solidFill>
              <a:srgbClr val="858793"/>
            </a:solidFill>
          </c:spPr>
          <c:cat>
            <c:strRef>
              <c:f>Sheet1!$A$2:$A$4</c:f>
              <c:strCache>
                <c:ptCount val="3"/>
                <c:pt idx="0">
                  <c:v>travel:0</c:v>
                </c:pt>
                <c:pt idx="1">
                  <c:v>meal:0</c:v>
                </c:pt>
                <c:pt idx="2">
                  <c:v>meal:60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0.9185</c:v>
                </c:pt>
                <c:pt idx="1">
                  <c:v>0.8716</c:v>
                </c:pt>
                <c:pt idx="2">
                  <c:v>0.8596</c:v>
                </c:pt>
              </c:numCache>
            </c:numRef>
          </c:val>
        </c:ser>
        <c:dLbls>
          <c:numFmt formatCode="0.0000" sourceLinked="0"/>
          <c:txPr>
            <a:bodyPr/>
            <a:lstStyle/>
            <a:p>
              <a:pPr>
                <a:defRPr sz="1000" b="1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0E1E5"/>
            </a:solidFill>
          </a:ln>
        </c:spPr>
        <c:txPr>
          <a:bodyPr/>
          <a:lstStyle/>
          <a:p>
            <a:pPr>
              <a:defRPr sz="1000">
                <a:solidFill>
                  <a:srgbClr val="141617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93"/>
          <c:min val="0.84"/>
        </c:scaling>
        <c:delete val="0"/>
        <c:axPos val="b"/>
        <c:majorGridlines>
          <c:spPr>
            <a:ln>
              <a:solidFill>
                <a:srgbClr val="E0E1E5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900">
                <a:solidFill>
                  <a:srgbClr val="858793"/>
                </a:solidFill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0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9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인사 후 오늘 다룰 교안 순서 소개: 5-1 → 5-2 → 5-3 → 5-4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**ANN Recall@k** = 같은 벡터의 **전수 검색 Top-k**를 얼마나 재현했나</a:t>
            </a:r>
          </a:p>
          <a:p>
            <a:r>
              <a:t>**정답 문서 Recall@k**(4장) = 사람이 정한 **정답 문서**를 찾았나</a:t>
            </a:r>
          </a:p>
          <a:p>
            <a:r>
              <a:t>전수 검색 결과가 정답이라는 보장도 없어서 **둘을 나눠** 봐요.</a:t>
            </a:r>
          </a:p>
          <a:p>
            <a:r>
              <a:t>로컬 메모리 모드로는 서버 HNSW의 속도 · Recall을 측정하지 않아요.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어제: 청크 28개 → **(28, 384) 벡터** → NumPy로 코사인 Top-k</a:t>
            </a:r>
          </a:p>
          <a:p>
            <a:r>
              <a:t>오늘 오전 5장: 같은 벡터를 **Qdrant에 원문과 함께 저장**하고 **필터로 범위**를 정해요.</a:t>
            </a:r>
          </a:p>
          <a:p>
            <a:r>
              <a:t>오늘 오후 6장: 검색 결과로 **Context를 만들고 답변 · 출처 · 보류**까지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Indexing의 마지막 칸 **색인(Vector Store)** 을 오전에 채워요.</a:t>
            </a:r>
          </a:p>
          <a:p>
            <a:r>
              <a:t>오후에는 Query 쪽 **Context → 생성 → 출처 · 보류**로 넘어가요.</a:t>
            </a:r>
          </a:p>
          <a:p>
            <a:r>
              <a:t>문서 · 청킹 · 모델은 고정, **저장 · 검색 위치만** 바꿔 결과를 비교해요.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어제와 같은 방식: **rag_day3 열기 → uv sync 한 번 → 강의 폴더에서 prepare.py 먼저**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어제 패키지에 **qdrant-client(5장)**, **httpx · langchain-core(6장)** 가 추가돼요.</a:t>
            </a:r>
          </a:p>
          <a:p>
            <a:r>
              <a:t>**8개 강의 모두 prepare.py를 먼저** 실행해요 → vectors.npy · embedding_config.json</a:t>
            </a:r>
          </a:p>
          <a:p>
            <a:r>
              <a:t>Qdrant는 **:memory: 모드** — 서버 설치 · 계정 · API 키가 필요 없어요.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처음 한 번: rag_day3에서 **uv sync**</a:t>
            </a:r>
          </a:p>
          <a:p>
            <a:r>
              <a:t>강의마다: **cd ch05\rag_ch05_01 → uv run prepare.py → uv run main.py**</a:t>
            </a:r>
          </a:p>
          <a:p>
            <a:r>
              <a:t>실습 코드는 **close() 위**에 써요. 닫은 뒤에는 검색할 수 없어요.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흐름: 점수만으로는 부족 → **Point(id · vector · payload)** → **uuid5** → **Upsert 두 번 = 1개** → ID 조회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4장 결과는 **행 번호와 점수**뿐 → 사용자도 모델도 **읽을 문장이 없어요.**</a:t>
            </a:r>
          </a:p>
          <a:p>
            <a:r>
              <a:t>그래서 벡터에 **원문과 출처를 붙여** 함께 저장해요 = Vector Store</a:t>
            </a:r>
          </a:p>
          <a:p>
            <a:r>
              <a:t>오늘은 travel 첫 청크 **하나만** 넣어 보고, 나머지 27개는 5-2에서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travel 첫 청크는 **7번 행** — chunks[7]과 vectors[7]이 같은 청크</a:t>
            </a:r>
          </a:p>
          <a:p>
            <a:r>
              <a:t>청크만 재정렬하고 벡터를 그대로 붙이면 **다른 문장에 엉뚱한 벡터**</a:t>
            </a:r>
          </a:p>
          <a:p>
            <a:r>
              <a:t>본문은 "서면"에서 잘려 있어요 → 저장소가 **잘린 문장을 복원해 주지 않아요.**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Qdrant Point ID는 **정수나 UUID**만 → 문자열 chunk_id를 **uuid5**로 변환</a:t>
            </a:r>
          </a:p>
          <a:p>
            <a:r>
              <a:t>같은 네임스페이스 + 같은 chunk_id → **항상 같은 UUID** (True)</a:t>
            </a:r>
          </a:p>
          <a:p>
            <a:r>
              <a:t>매번 무작위 UUID면 다시 넣을 때마다 **새 Point가 생겨요.**</a:t>
            </a:r>
          </a:p>
          <a:p>
            <a:r>
              <a:t>본문이나 청킹 설정이 바뀌면 chunk_id → **Point ID도 바뀌어요** (5-4)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Collection = 같은 검색 설정의 Point 묶음: **size=384(벡터 차원), COSINE**</a:t>
            </a:r>
          </a:p>
          <a:p>
            <a:r>
              <a:t>**:memory:** = Python 프로세스 안의 로컬 모드, 끝나면 데이터도 사라져요.</a:t>
            </a:r>
          </a:p>
          <a:p>
            <a:r>
              <a:t>같은 ID로 두 번 넣어도 **1개** — Qdrant가 **같은 본문을 찾아 합친 게 아니라 ID가 같아서**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**retrieve = ID가 정확히 일치하는 Point**를 가져오는 조회 (유사도 검색 아님)</a:t>
            </a:r>
          </a:p>
          <a:p>
            <a:r>
              <a:t>**with_payload=True**여야 본문 · 출처를 받아요. 벡터는 화면에 필요 없어서 요청 안 해요.</a:t>
            </a:r>
          </a:p>
          <a:p>
            <a:r>
              <a:t>metadata.category = 출장을 저장해도 **임베딩에 반영되지 않아요** — 인코딩한 건 passage: + 본문뿐</a:t>
            </a:r>
          </a:p>
          <a:p>
            <a:r>
              <a:t>metadata는 **5-3 필터**에서 써요.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교육 규정의 청크도 해당 위치의 벡터와 짝지어 등록해요.</a:t>
            </a:r>
          </a:p>
          <a:p>
            <a:r>
              <a:t>education_no = next(i for i, c in enumerate(chunks)</a:t>
            </a:r>
          </a:p>
          <a:p>
            <a:r>
              <a:t>                    if c["document_id"] == "education")</a:t>
            </a:r>
          </a:p>
          <a:p>
            <a:r>
              <a:t>education_chunk = chunks[education_no]</a:t>
            </a:r>
          </a:p>
          <a:p>
            <a:r>
              <a:t>education_point = models.PointStruct(</a:t>
            </a:r>
          </a:p>
          <a:p>
            <a:r>
              <a:t>    id=str(uuid5(NAMESPACE_URL, education_chunk["chunk_id"])),</a:t>
            </a:r>
          </a:p>
          <a:p>
            <a:r>
              <a:t>    vector=vectors[education_no].tolist(),</a:t>
            </a:r>
          </a:p>
          <a:p>
            <a:r>
              <a:t>    payload=education_chunk,</a:t>
            </a:r>
          </a:p>
          <a:p>
            <a:r>
              <a:t>)</a:t>
            </a:r>
          </a:p>
          <a:p>
            <a:r>
              <a:t>client.upsert("point_demo", points=[education_point], wait=True)</a:t>
            </a:r>
          </a:p>
          <a:p>
            <a:r>
              <a:t>print(client.count("point_demo").count)</a:t>
            </a:r>
          </a:p>
          <a:p/>
          <a:p>
            <a:r>
              <a:t>생각해 보기: 출장 Point를 uuid5 대신 매번 새 UUID로 등록하면 무엇을 기준으로 중복이 판단될지, 같은 원문을 다시 수집할 때 필요한 ID 규칙을 한 문장으로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education_chunk["chunk_id"]   ② vectors[education_no]</a:t>
            </a:r>
          </a:p>
          <a:p/>
          <a:p>
            <a:r>
              <a:t>정답 파일: ch05\rag_ch05_01\q_solution.py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 · 청킹 · 모델은 4장 그대로, **검색 위치만 NumPy → Qdrant**</a:t>
            </a:r>
          </a:p>
          <a:p>
            <a:r>
              <a:t>결과가 달라지면 어느 단계 때문인지 바로 짚을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4장: vectors @ query를 **직접 계산** → 행 번호로 원문 찾기</a:t>
            </a:r>
          </a:p>
          <a:p>
            <a:r>
              <a:t>5장: Qdrant가 **점수와 payload를 함께** 돌려줘요.</a:t>
            </a:r>
          </a:p>
          <a:p>
            <a:r>
              <a:t>입력 확인: **28 (28, 384)** — 문서 12개가 아니라 **청크 28개**, 구버전 2개 문서의 청크도 들어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 Collection의 count = **0** — 만든 것만으로는 Point가 없어요.</a:t>
            </a:r>
          </a:p>
          <a:p>
            <a:r>
              <a:t>**size=28로 쓰면 안 돼요.** 각 Point가 가진 벡터의 길이 = **384**</a:t>
            </a:r>
          </a:p>
          <a:p>
            <a:r>
              <a:t>같은 실행 안에서 Collection을 두 번 만들면 **이름이 겹쳐 오류** → main.py 전체를 새로 실행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**zip(chunks, vectors)** 가 같은 위치끼리 짝지어요 → 순서가 맞아야 해요.</a:t>
            </a:r>
          </a:p>
          <a:p>
            <a:r>
              <a:t>등록 후 **28** — 하지만 수량만으론 연결이 맞는지 몰라요.</a:t>
            </a:r>
          </a:p>
          <a:p>
            <a:r>
              <a:t>첫 Point를 **다시 읽어** leave 0인지 확인해요.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문서는 **passage:**, 질문은 **query:** — 같은 E5 모델, 같은 정규화 → **(384,)**</a:t>
            </a:r>
          </a:p>
          <a:p>
            <a:r>
              <a:t>다른 모델로 질문을 임베딩하면 차원이 같아도 **의미 공간이 달라** 비교 불가</a:t>
            </a:r>
          </a:p>
          <a:p>
            <a:r>
              <a:t>**metadata.status = current** 필터: 벡터는 비슷한 문서를, metadata는 **최신 여부**를 결정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결과 **travel:0 0.8945 · meal:0 0.875 · meal:60 0.8444** — 4장과 같은 순서 (벡터가 같으니까)</a:t>
            </a:r>
          </a:p>
          <a:p>
            <a:r>
              <a:t>1위 원문에 **1박당 12만원 + 숙박 영수증** 둘 다 있어요.</a:t>
            </a:r>
          </a:p>
          <a:p>
            <a:r>
              <a:t>2 · 3위 식비는 같은 출장 주제라 점수가 높을 뿐, 이 질문엔 필요 없어요.</a:t>
            </a:r>
          </a:p>
          <a:p>
            <a:r>
              <a:t>"한도 초과 승인"을 물으면 1위가 **서면**에서 잘려 부족 → 6장 Context로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SavedDenseIndex = **생성 → 등록 → 질의**를 하나로 묶은 클래스, 서버 · 다른 모델을 몰래 호출 안 해요.</a:t>
            </a:r>
          </a:p>
          <a:p>
            <a:r>
              <a:t>직접 쓴 검색과 **chunk_id 순서가 같다 → True**</a:t>
            </a:r>
          </a:p>
          <a:p>
            <a:r>
              <a:t>로컬 모드는 **전수 비교** → 이 결과를 **ANN 성능 측정으로 해석하면 안 돼요** (5-4)</a:t>
            </a:r>
          </a:p>
          <a:p>
            <a:r>
              <a:t>6장부터는 open_saved_index()로 이 색인을 바로 열어요.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k를 1과 3으로 바꾸며 현재 규정만 검색해요.</a:t>
            </a:r>
          </a:p>
          <a:p>
            <a:r>
              <a:t>question2 = "출장 식비와 숙박비의 한도는 각각 얼마이고 두 한도를 합쳐 쓸 수 있나요?"</a:t>
            </a:r>
          </a:p>
          <a:p>
            <a:r>
              <a:t>query2 = model.encode("query: " + question2, normalize_embeddings=True)</a:t>
            </a:r>
          </a:p>
          <a:p>
            <a:r>
              <a:t>results = {}</a:t>
            </a:r>
          </a:p>
          <a:p>
            <a:r>
              <a:t>for k in [1, 3]:</a:t>
            </a:r>
          </a:p>
          <a:p>
            <a:r>
              <a:t>    found = client.query_points(</a:t>
            </a:r>
          </a:p>
          <a:p>
            <a:r>
              <a:t>        collection, query=query2.tolist(), limit=k,</a:t>
            </a:r>
          </a:p>
          <a:p>
            <a:r>
              <a:t>        query_filter=current_filter, with_payload=True,</a:t>
            </a:r>
          </a:p>
          <a:p>
            <a:r>
              <a:t>    ).points</a:t>
            </a:r>
          </a:p>
          <a:p>
            <a:r>
              <a:t>    results[k] = [(hit.payload["document_id"], hit.payload["start"]) for hit in found]</a:t>
            </a:r>
          </a:p>
          <a:p>
            <a:r>
              <a:t>    print("k", k)</a:t>
            </a:r>
          </a:p>
          <a:p>
            <a:r>
              <a:t>    for hit in found:</a:t>
            </a:r>
          </a:p>
          <a:p>
            <a:r>
              <a:t>        print(hit.payload["document_id"], hit.payload["text"])</a:t>
            </a:r>
          </a:p>
          <a:p/>
          <a:p>
            <a:r>
              <a:t>생각해 보기: 식비 금액, 숙박비 금액, 합산 가능 여부가 각각 어느 결과 문장에 있는지 표로 정리하고, 이번 질문에 고를 k와 그 이유를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k   ② current_filter</a:t>
            </a:r>
          </a:p>
          <a:p/>
          <a:p>
            <a:r>
              <a:t>정답 파일: ch05\rag_ch05_02\q_solution.py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쉬는 시간 10분 · 다음은 5-3 Metadata Filter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벡터 유사도는 **내용이 비슷한가**만 판단, **지금 적용되는 규정인가**는 metadata로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질문: **출장 숙박 비용 한도는 8만원인가요?**</a:t>
            </a:r>
          </a:p>
          <a:p>
            <a:r>
              <a:t>필터 없음: travel 0.9185 → **travel-old(retired) 0.9003** → meal 0.8716</a:t>
            </a:r>
          </a:p>
          <a:p>
            <a:r>
              <a:t>current 필터: travel-old가 빠지고 **meal:60 0.8596**이 그 자리를 채워요.</a:t>
            </a:r>
          </a:p>
          <a:p>
            <a:r>
              <a:t>**travel 점수 0.9185는 그대로** — 필터는 가산점이 아니라 **후보 범위**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**FieldCondition** = payload 필드 하나의 조건, **Filter(must=[…])** = 조건 결합</a:t>
            </a:r>
          </a:p>
          <a:p>
            <a:r>
              <a:t>key는 **metadata.status** — payload의 중첩 경로를 점으로 이어 써요.</a:t>
            </a:r>
          </a:p>
          <a:p>
            <a:r>
              <a:t>질문에 "현행만 쓰세요"를 붙이는 건 **검색 뒤 모델에 기대**하는 방식, 필터는 **검색 단계에서 제외** → Context에 아예 안 들어가요.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**must = 모든 조건 만족** → status=current **그리고** category=출장</a:t>
            </a:r>
          </a:p>
          <a:p>
            <a:r>
              <a:t>28 → **5** (travel 청크 3 + meal 청크 2) — **5는 문서 수가 아니라 청크 수**</a:t>
            </a:r>
          </a:p>
          <a:p>
            <a:r>
              <a:t>search(q, k=5, category="출장") → ['meal', 'travel']</a:t>
            </a:r>
          </a:p>
          <a:p>
            <a:r>
              <a:t>필터가 좁다고 항상 좋은 건 아니에요: 교육비 질문에 출장 필터 → **정답 education이 빠져요.**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**start ≥ 60** (gte = 이상) → 각 문서의 첫 청크가 빠지고 **3개**</a:t>
            </a:r>
          </a:p>
          <a:p>
            <a:r>
              <a:t>**scroll** = 질문 벡터 없이 조건에 맞는 Point를 나열 (유사도 순위 아님)</a:t>
            </a:r>
          </a:p>
          <a:p>
            <a:r>
              <a:t>28개 &lt; limit 100이라 한 번에 다 읽혀요. 많으면 **next_offset**으로 이어 읽기</a:t>
            </a:r>
          </a:p>
          <a:p>
            <a:r>
              <a:t>version "v2"는 **문자열** → Range로 비교하면 안 돼요. 숫자 순서가 필요하면 수집 때 숫자 필드로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category="해외항공" → **[]** — travel 문서는 있는데 **필터가 검색 전에 제외**했어요.</a:t>
            </a:r>
          </a:p>
          <a:p>
            <a:r>
              <a:t>빈 결과면 먼저 **필터 값이 실제 자료에 있는지** 확인</a:t>
            </a:r>
          </a:p>
          <a:p>
            <a:r>
              <a:t>필터는 **검색 범위** 기능일 뿐 **접근 권한이 아니에요** → 권한은 서버에서 따로 확인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범주만 바꿔 필터 결과를 비교해요.</a:t>
            </a:r>
          </a:p>
          <a:p>
            <a:r>
              <a:t>results = {}</a:t>
            </a:r>
          </a:p>
          <a:p>
            <a:r>
              <a:t>for category in ["출장", "교육"]:</a:t>
            </a:r>
          </a:p>
          <a:p>
            <a:r>
              <a:t>    selected = models.Filter(must=[</a:t>
            </a:r>
          </a:p>
          <a:p>
            <a:r>
              <a:t>        current_condition,</a:t>
            </a:r>
          </a:p>
          <a:p>
            <a:r>
              <a:t>        models.FieldCondition(</a:t>
            </a:r>
          </a:p>
          <a:p>
            <a:r>
              <a:t>            key="metadata.category",</a:t>
            </a:r>
          </a:p>
          <a:p>
            <a:r>
              <a:t>            match=models.MatchValue(value=category),</a:t>
            </a:r>
          </a:p>
          <a:p>
            <a:r>
              <a:t>        ),</a:t>
            </a:r>
          </a:p>
          <a:p>
            <a:r>
              <a:t>    ])</a:t>
            </a:r>
          </a:p>
          <a:p>
            <a:r>
              <a:t>    records, _ = index.client.scroll(</a:t>
            </a:r>
          </a:p>
          <a:p>
            <a:r>
              <a:t>        index.collection, scroll_filter=selected, limit=100)</a:t>
            </a:r>
          </a:p>
          <a:p>
            <a:r>
              <a:t>    results[category] = sorted({p.payload["document_id"] for p in records})</a:t>
            </a:r>
          </a:p>
          <a:p>
            <a:r>
              <a:t>    print(category, results[category])</a:t>
            </a:r>
          </a:p>
          <a:p/>
          <a:p>
            <a:r>
              <a:t>생각해 보기: must에서 current_condition을 빼면 어떤 문서가 더 포함될 수 있는지 자료를 읽고 답해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"metadata.category"   ② category</a:t>
            </a:r>
          </a:p>
          <a:p/>
          <a:p>
            <a:r>
              <a:t>정답 파일: ch05\rag_ch05_03\q_solution.py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Upsert는 **새 ID를 추가**할 뿐 **옛 ID를 지우지 않아요** → 3 → 5 → 2를 직접 관찰</a:t>
            </a:r>
          </a:p>
          <a:p>
            <a:r>
              <a:t>후반: 벡터가 많아지면 쓰는 **ANN**을 작은 계산으로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travel 148자를 80/20 → **100/20**으로 다시 나눠요 (본문 · 금액은 그대로)</a:t>
            </a:r>
          </a:p>
          <a:p>
            <a:r>
              <a:t>old: **(0,80) (60,140) (120,148)**, new: **(0,100) (80,148)** — 둘째 시작 = 100 − 20 = 80</a:t>
            </a:r>
          </a:p>
          <a:p>
            <a:r>
              <a:t>chunk_id에 **청킹 설정과 위치**가 들어 있어서 새 청크는 **모두 새 ID**</a:t>
            </a:r>
          </a:p>
          <a:p>
            <a:r>
              <a:t>내용이 같아도 청크 크기만 바꾸면 **색인을 다시** 만들어야 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old 3 · new 2 · **stale 3** — 청크가 3→2라고 **마지막 하나만 지우면 안 돼요.**</a:t>
            </a:r>
          </a:p>
          <a:p>
            <a:r>
              <a:t>새 ID 2개가 옛 ID 3개와 **하나도 겹치지 않아요** (교집합 0)</a:t>
            </a:r>
          </a:p>
          <a:p>
            <a:r>
              <a:t>**old_ids − new_ids** = 더 이상 안 쓸 ID, 합집합으로 잡으면 **새 Point까지 삭제**</a:t>
            </a:r>
          </a:p>
          <a:p>
            <a:r>
              <a:t>실서비스: payload의 document_id로 옛 Point를 조회하거나 수집 기록에 ID 목록 저장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새 본문은 **다시 임베딩** (2, 384) — 옛 벡터를 자르거나 평균내서 쓰면 안 돼요.</a:t>
            </a:r>
          </a:p>
          <a:p>
            <a:r>
              <a:t>refresh_demo: 옛 3개 → 새 2개 Upsert **5개** (두 청킹이 같이 검색될 수 있는 상태)</a:t>
            </a:r>
          </a:p>
          <a:p>
            <a:r>
              <a:t>**stale_ids만** 삭제 → **2개** · document_id=travel 전체를 지우면 새 청크도 사라져요.</a:t>
            </a:r>
          </a:p>
          <a:p>
            <a:r>
              <a:t>등록과 삭제는 **별도 호출** → 중간 상태가 생겨요. 서비스에선 새 Collection 전환 · 세대 값 등으로 설계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벡터가 많아지면 전수 비교가 비싸요 → **ANN(근사 최근접 이웃)** 은 일부 후보만 탐색</a:t>
            </a:r>
          </a:p>
          <a:p>
            <a:r>
              <a:t>Qdrant 서버의 **HNSW** = 가까운 벡터를 그래프로 연결해 따라가며 탐색</a:t>
            </a:r>
          </a:p>
          <a:p>
            <a:r>
              <a:t>가상 점수 5개: 정확 Top-2 = **[0, 1]**, visited [0, 2, 4]만 보면 **[0, 2]** → 겹침 **0.5**</a:t>
            </a:r>
          </a:p>
          <a:p>
            <a:r>
              <a:t>이 점수는 **설명용 가상 값**이에요 (실제 E5 결과 아님).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질문 받고 마무리. 오후 수업 전에 확인할 것: ch06/rag_ch06_01에서 uv run prepare.py / Ollama (선택)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정답 코드 (교안 정답과 같아요)</a:t>
            </a:r>
          </a:p>
          <a:p/>
          <a:p>
            <a:r>
              <a:t># 옛 ID 집합에서 새 ID 집합을 빼면 더 이상 쓰지 않을 Point ID만 남아요.</a:t>
            </a:r>
          </a:p>
          <a:p>
            <a:r>
              <a:t>to_remove = old_ids - new_ids</a:t>
            </a:r>
          </a:p>
          <a:p>
            <a:r>
              <a:t>print("삭제 대상 수:", len(to_remove))</a:t>
            </a:r>
          </a:p>
          <a:p>
            <a:r>
              <a:t>print("새 ID를 삭제하는가:", bool(to_remove &amp; new_ids))</a:t>
            </a:r>
          </a:p>
          <a:p/>
          <a:p>
            <a:r>
              <a:t>생각해 보기: ANN 모형에서 visited를 [0, 1, 2, 4]로 바꾸면 선택 결과와 겹침 비율이 어떻게 될지 먼저 예상한 뒤 실행해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빈칸 정답 (위에서부터)</a:t>
            </a:r>
          </a:p>
          <a:p>
            <a:r>
              <a:t>① old_ids - new_ids</a:t>
            </a:r>
          </a:p>
          <a:p/>
          <a:p>
            <a:r>
              <a:t>정답 파일: ch05\rag_ch05_04\q_solution.py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5-1 **Point = id + vector + payload**, uuid5 → 같은 ID → Upsert 반복해도 1개</a:t>
            </a:r>
          </a:p>
          <a:p>
            <a:r>
              <a:t>5-2 28개 등록 + **current 필터** → 4장과 같은 Top-3</a:t>
            </a:r>
          </a:p>
          <a:p>
            <a:r>
              <a:t>5-3 필터는 **점수가 아니라 후보 범위**, must = AND, 빈 결과 ≠ 자료 없음</a:t>
            </a:r>
          </a:p>
          <a:p>
            <a:r>
              <a:t>5-4 **old − new만 삭제** (3 → 5 → 2), ANN Recall ≠ 정답 Recall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image-1003-2.png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0C0E1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private/tmp/claude-501/-Users-giin-Desktop-work/450004e7-3239-436b-91c3-140d15687ef1/scratchpad/deck/img/pixel_tex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/private/tmp/claude-501/-Users-giin-Desktop-work/450004e7-3239-436b-91c3-140d15687ef1/scratchpad/deck/img/kan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35240" y="457200"/>
            <a:ext cx="1051560" cy="214884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2" type="body" hasCustomPrompt="1"/>
          </p:nvPr>
        </p:nvSpPr>
        <p:spPr>
          <a:xfrm>
            <a:off x="54864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5" name="Text 0"/>
          <p:cNvSpPr/>
          <p:nvPr>
            <p:ph idx="103" type="title" hasCustomPrompt="1"/>
          </p:nvPr>
        </p:nvSpPr>
        <p:spPr>
          <a:xfrm>
            <a:off x="548640" y="1828800"/>
            <a:ext cx="80467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6" name="Text 0"/>
          <p:cNvSpPr/>
          <p:nvPr>
            <p:ph idx="104" type="body" hasCustomPrompt="1"/>
          </p:nvPr>
        </p:nvSpPr>
        <p:spPr>
          <a:xfrm>
            <a:off x="548640" y="3154680"/>
            <a:ext cx="731520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body" hasCustomPrompt="1"/>
          </p:nvPr>
        </p:nvSpPr>
        <p:spPr>
          <a:xfrm>
            <a:off x="457200" y="146304"/>
            <a:ext cx="6583680" cy="237744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000" dirty="0">
                <a:solidFill>
                  <a:schemeClr val="accent4"/>
                </a:solidFill>
              </a:defRPr>
            </a:lvl1pPr>
          </a:lstStyle>
          <a:p>
            <a:pPr indent="0" marL="0">
              <a:buNone/>
            </a:pPr>
            <a:endParaRPr lang="en-US" sz="1000" dirty="0"/>
          </a:p>
        </p:txBody>
      </p:sp>
      <p:sp>
        <p:nvSpPr>
          <p:cNvPr id="3" name="Text 0"/>
          <p:cNvSpPr/>
          <p:nvPr>
            <p:ph idx="101" type="title" hasCustomPrompt="1"/>
          </p:nvPr>
        </p:nvSpPr>
        <p:spPr>
          <a:xfrm>
            <a:off x="457200" y="384048"/>
            <a:ext cx="8229600" cy="512064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  <p:pic>
        <p:nvPicPr>
          <p:cNvPr id="4" name="Image 0" descr="/private/tmp/claude-501/-Users-giin-Desktop-work/450004e7-3239-436b-91c3-140d15687ef1/scratchpad/deck/img/kant_bl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828032"/>
            <a:ext cx="713232" cy="146304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298448" y="47731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RAG · Private LLM Course · 3일차 오전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chart" Target="../charts/chart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Relationship Id="rId3" Type="http://schemas.openxmlformats.org/officeDocument/2006/relationships/chart" Target="../charts/chart2.xml"/><Relationship Id="rId4" Type="http://schemas.openxmlformats.org/officeDocument/2006/relationships/chart" Target="../charts/chart3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2.xml"/></Relationships>
</file>

<file path=ppt/slides/_rels/slide999.xml.rels><?xml version='1.0' encoding='UTF-8' standalone='yes'?>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1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3일차 오전 · 4시간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벡터를 원문과 함께 저장하고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조건으로 검색 범위 정하기</a:t>
            </a:r>
            <a:endParaRPr lang="en-US" sz="3800" dirty="0"/>
          </a:p>
        </p:txBody>
      </p:sp>
      <p:sp>
        <p:nvSpPr>
          <p:cNvPr id="4" name="dlabel-2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오늘 다루는 교안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따라갈 순서</a:t>
            </a:r>
            <a:endParaRPr lang="en-US" sz="1200" dirty="0"/>
          </a:p>
        </p:txBody>
      </p:sp>
      <p:sp>
        <p:nvSpPr>
          <p:cNvPr id="5" name="t-3"/>
          <p:cNvSpPr txBox="1"/>
          <p:nvPr/>
        </p:nvSpPr>
        <p:spPr>
          <a:xfrm>
            <a:off x="5486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5-1  Vector Store와 Qdrant 데이터 모델</a:t>
            </a:r>
            <a:endParaRPr lang="en-US" sz="1500" dirty="0"/>
          </a:p>
        </p:txBody>
      </p:sp>
      <p:sp>
        <p:nvSpPr>
          <p:cNvPr id="6" name="t-4"/>
          <p:cNvSpPr txBox="1"/>
          <p:nvPr/>
        </p:nvSpPr>
        <p:spPr>
          <a:xfrm>
            <a:off x="5486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Point = id + vector + payload, uuid5, Upsert</a:t>
            </a:r>
            <a:endParaRPr lang="en-US" sz="950" dirty="0"/>
          </a:p>
        </p:txBody>
      </p:sp>
      <p:sp>
        <p:nvSpPr>
          <p:cNvPr id="7" name="t-5"/>
          <p:cNvSpPr txBox="1"/>
          <p:nvPr/>
        </p:nvSpPr>
        <p:spPr>
          <a:xfrm>
            <a:off x="5486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5-2  Collection 생성 / Upsert / Query</a:t>
            </a:r>
            <a:endParaRPr lang="en-US" sz="1500" dirty="0"/>
          </a:p>
        </p:txBody>
      </p:sp>
      <p:sp>
        <p:nvSpPr>
          <p:cNvPr id="8" name="t-6"/>
          <p:cNvSpPr txBox="1"/>
          <p:nvPr/>
        </p:nvSpPr>
        <p:spPr>
          <a:xfrm>
            <a:off x="5486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28개 등록, current 필터, Top-3</a:t>
            </a:r>
            <a:endParaRPr lang="en-US" sz="950" dirty="0"/>
          </a:p>
        </p:txBody>
      </p:sp>
      <p:sp>
        <p:nvSpPr>
          <p:cNvPr id="9" name="t-7"/>
          <p:cNvSpPr txBox="1"/>
          <p:nvPr/>
        </p:nvSpPr>
        <p:spPr>
          <a:xfrm>
            <a:off x="4663440" y="31546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5-3  Metadata Filter와 검색 범위 제어</a:t>
            </a:r>
            <a:endParaRPr lang="en-US" sz="1500" dirty="0"/>
          </a:p>
        </p:txBody>
      </p:sp>
      <p:sp>
        <p:nvSpPr>
          <p:cNvPr id="10" name="t-8"/>
          <p:cNvSpPr txBox="1"/>
          <p:nvPr/>
        </p:nvSpPr>
        <p:spPr>
          <a:xfrm>
            <a:off x="4663440" y="34107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구버전 제외, must, Range, 빈 결과</a:t>
            </a:r>
            <a:endParaRPr lang="en-US" sz="950" dirty="0"/>
          </a:p>
        </p:txBody>
      </p:sp>
      <p:sp>
        <p:nvSpPr>
          <p:cNvPr id="11" name="t-9"/>
          <p:cNvSpPr txBox="1"/>
          <p:nvPr/>
        </p:nvSpPr>
        <p:spPr>
          <a:xfrm>
            <a:off x="4663440" y="361188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5-4  데이터 갱신과 ANN 검색 개요</a:t>
            </a:r>
            <a:endParaRPr lang="en-US" sz="1500" dirty="0"/>
          </a:p>
        </p:txBody>
      </p:sp>
      <p:sp>
        <p:nvSpPr>
          <p:cNvPr id="12" name="t-10"/>
          <p:cNvSpPr txBox="1"/>
          <p:nvPr/>
        </p:nvSpPr>
        <p:spPr>
          <a:xfrm>
            <a:off x="4663440" y="38679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old − new 삭제, 3 → 5 → 2, ANN</a:t>
            </a:r>
            <a:endParaRPr lang="en-US" sz="950" dirty="0"/>
          </a:p>
        </p:txBody>
      </p:sp>
      <p:pic>
        <p:nvPicPr>
          <p:cNvPr id="13" name="ts-1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3일차: 오전은 저장과 검색 조건, 오후는 답변 만들기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234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</a:rPr>
              <a:t>오전 · 4시간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1554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</a:rPr>
              <a:t>5장  Qdrant Vector Store와 검색 조건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20574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5-1 Vector Store와 Qdrant 데이터 모델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5-2 Collection 생성 / Upsert / Query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5-3 Metadata Filter와 검색 범위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5-4 데이터 갱신과 ANN 개요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663440" y="1097280"/>
            <a:ext cx="4023360" cy="3108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4892040" y="123444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858793"/>
                </a:solidFill>
              </a:rPr>
              <a:t>오후 · 4시간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92040" y="155448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141617"/>
                </a:solidFill>
              </a:rPr>
              <a:t>6장  기본 RAG 구현과 출처 / 보류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892040" y="2057400"/>
            <a:ext cx="356616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6-1 Retriever 결과와 Context 구성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6-2 기본 2-Step RAG 체인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6-3 출처가 보이는 Citation 응답</a:t>
            </a:r>
          </a:p>
          <a:p>
            <a:pPr algn="l">
              <a:spcAft>
                <a:spcPts val="800"/>
              </a:spcAft>
            </a:pPr>
            <a:r>
              <a:rPr sz="1200" b="0">
                <a:solidFill>
                  <a:srgbClr val="141617"/>
                </a:solidFill>
              </a:rPr>
              <a:t>6-4 근거 부족 시 답변 보류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498848" y="265176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858793"/>
                </a:solidFill>
              </a:rPr>
              <a:t>오늘 실습은 rag_day3 폴더 하나에서 진행해요. 문서 12개 · 청크 28개 · E5 small 벡터는 어제와 같아요.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오리엔테이션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전체 구조에서 오늘의 위치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청크 28개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chunks.json 80/20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3장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984248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14884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5856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임베딩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E5 small · 384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14884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4장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675887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95020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색인 · 필터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Qdrant Point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오전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367528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553212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64184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Context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S1 · S2 · 예산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3212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오후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7059168" y="1938528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7223760" y="1417320"/>
            <a:ext cx="1508760" cy="1051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7333488" y="1417320"/>
            <a:ext cx="1289304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답변 · 출처 · 보류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2-Step RAG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23760" y="10972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FB062F"/>
                </a:solidFill>
              </a:rPr>
              <a:t>오후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788920"/>
            <a:ext cx="822960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852928"/>
            <a:ext cx="77724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8793"/>
                </a:solidFill>
              </a:rPr>
              <a:t>오늘 계속 보는 질문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숙박 </a:t>
            </a:r>
            <a:r>
              <a:rPr sz="1150" b="1">
                <a:solidFill>
                  <a:srgbClr val="141617"/>
                </a:solidFill>
              </a:rPr>
              <a:t>출장 숙박 비용 한도와 필요한 증빙은?  → travel:0 한 청크로 답</a:t>
            </a:r>
          </a:p>
          <a:p>
            <a:pPr algn="l">
              <a:spcAft>
                <a:spcPts val="400"/>
              </a:spcAft>
            </a:pPr>
            <a:r>
              <a:rPr sz="1150" b="1">
                <a:solidFill>
                  <a:srgbClr val="FB062F"/>
                </a:solidFill>
              </a:rPr>
              <a:t>복합 </a:t>
            </a:r>
            <a:r>
              <a:rPr sz="1150" b="1">
                <a:solidFill>
                  <a:srgbClr val="141617"/>
                </a:solidFill>
              </a:rPr>
              <a:t>출장 식비와 숙박비의 한도는 각각 얼마이고 두 한도를 합쳐 쓸 수 있나요?  → 세 청크 필요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준비 </a:t>
            </a:r>
            <a:r>
              <a:rPr b="1">
                <a:solidFill>
                  <a:srgbClr val="FB062F"/>
                </a:solidFill>
              </a:rPr>
              <a:t>00</a:t>
            </a:r>
            <a:r>
              <a:rPr b="1">
                <a:solidFill>
                  <a:srgbClr val="858793"/>
                </a:solidFill>
              </a:rPr>
              <a:t>  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실습 환경 준비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rag_day3 폴더 열기 → uv sync 한 번 → 강의 폴더에서 uv run prepare.py → main.py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폴더 하나에 8개 강의, 환경은 하나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3337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rag_day3/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pyproject.toml   # 필요한 패키지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uv.lock          # 고정된 버전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.venv/           # uv sync가 만듦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ch05/  (오전)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rag_ch05_01/ … rag_ch05_04/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ch06/  (오후)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rag_ch06_01/ … rag_ch06_04/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/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강의 폴더 = 노션 ZIP과 같음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+ q_easy.py · q_hard.py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+ q_solution.py  (퀴즈)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4754880" y="1051560"/>
          <a:ext cx="3931920" cy="2304288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0312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패키지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쓰는 강의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sentence-transformers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E5 임베딩 (전체)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qdrant-client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5장 · 6장 색인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httpx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6-2 · 6-4 Ollama 호출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langchain-core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6-2 RunnableLambda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numpy · transformers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벡터 · 토크나이저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9" name="Rounded Rectangle 28"/>
          <p:cNvSpPr/>
          <p:nvPr/>
        </p:nvSpPr>
        <p:spPr>
          <a:xfrm>
            <a:off x="4754880" y="3520440"/>
            <a:ext cx="3931920" cy="10515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37760" y="3630168"/>
            <a:ext cx="356616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어제 E5 모델을 받았다면 캐시를 그대로 써요.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처음이면 첫 prepare.py에서 내려받아요.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00 실습 환경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명령은 두 단계: 처음에 sync, 강의마다 prepare → main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--version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python install 3.12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sync   # rag_day3에서 한 번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63440" y="1051560"/>
            <a:ext cx="402336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800600" y="1143000"/>
            <a:ext cx="374904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cd ch05\rag_ch05_01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prepare.py   # 벡터 먼저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main.py</a:t>
            </a:r>
          </a:p>
          <a:p>
            <a:pPr algn="l"/>
            <a:r>
              <a:rPr sz="11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uv run q_easy.py    # 퀴즈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57200" y="2743200"/>
          <a:ext cx="822960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3383280"/>
                <a:gridCol w="48463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증상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해결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FileNotFoundError: embedding_config.json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그 강의 폴더에서 uv run prepare.py 먼저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Collection이 이미 존재함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생성 코드만 반복했어요 → uv run main.py로 파일 전체를 새로 실행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client / index가 닫혔다는 오류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실습 코드를 client.close() / index.close() 위로 옮겨요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os error 396 (하드 링크)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setx UV_LINK_MODE copy → 새 터미널 → uv sync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5-1</a:t>
            </a:r>
            <a:r>
              <a:rPr b="1">
                <a:solidFill>
                  <a:srgbClr val="858793"/>
                </a:solidFill>
              </a:rPr>
              <a:t>  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Vector Store와 Qdrant 데이터 모델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점수만으로는 답할 수 없다 → Point = id + vector + payload → uuid5로 같은 ID → 두 번 Upsert해도 1개 → ID로 조회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검색 결과가 "7번 행, 0.89"뿐이라면?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3840480" cy="14630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188720"/>
            <a:ext cx="347472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58793"/>
                </a:solidFill>
              </a:rPr>
              <a:t>4장 NumPy 결과</a:t>
            </a:r>
          </a:p>
          <a:p>
            <a:pPr algn="l">
              <a:spcAft>
                <a:spcPts val="400"/>
              </a:spcAft>
            </a:pPr>
            <a:r>
              <a:rPr sz="16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row 7   score 0.8945</a:t>
            </a:r>
          </a:p>
          <a:p>
            <a:pPr algn="l">
              <a:spcAft>
                <a:spcPts val="400"/>
              </a:spcAft>
            </a:pPr>
            <a:r>
              <a:rPr sz="1050" b="0">
                <a:solidFill>
                  <a:srgbClr val="FB062F"/>
                </a:solidFill>
              </a:rPr>
              <a:t>→ 무슨 규정인지, 출처가 어디인지 모름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389120" y="1920240"/>
            <a:ext cx="365760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4846320" y="1188720"/>
            <a:ext cx="384048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983480" y="1298448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id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852160" y="1298448"/>
            <a:ext cx="269748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943600" y="1298448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7729ce2c-…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1719072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vector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852160" y="1719072"/>
            <a:ext cx="269748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0" y="1719072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[0.03, -0.01, …] 384개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983480" y="2139696"/>
            <a:ext cx="8686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payload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52160" y="2139696"/>
            <a:ext cx="2697480" cy="34747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943600" y="213969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text · document_id · metadata</a:t>
            </a:r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457200" y="2926080"/>
          <a:ext cx="822960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011680"/>
                <a:gridCol w="62179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처음 만나는 표현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Point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ID, 벡터와 payload를 묶은 저장 단위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Payload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본문과 메타데이터처럼 검색 결과에 함께 담을 JSON 데이터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141617"/>
                          </a:solidFill>
                        </a:rPr>
                        <a:t>Upsert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141617"/>
                          </a:solidFill>
                        </a:rPr>
                        <a:t>ID가 없으면 추가, 이미 있으면 그 ID의 데이터를 갱신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같은 행의 청크와 벡터를 짝지어요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02920" y="1097280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chunks[0]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383280" y="1097280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3429000" y="1097280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vectors[0]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1344168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" y="1344168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chunks[1]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383280" y="1344168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429000" y="1344168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vectors[1]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1591056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02920" y="1591056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chunks[2]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383280" y="1591056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429000" y="1591056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vectors[2]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1837943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02920" y="1837943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chunks[3]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83280" y="1837943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429000" y="1837943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vectors[3]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2084832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02920" y="2084832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chunks[4]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3383280" y="2084832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3429000" y="2084832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vectors[4]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2331720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502920" y="2331720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chunks[5]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3383280" y="2331720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3429000" y="2331720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vectors[5]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2578608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502920" y="2578608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chunks[6]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383280" y="2578608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3429000" y="2578608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vectors[6]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7200" y="2825496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502920" y="2825496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chunks[7]  travel 0:80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83280" y="2825496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7" name="TextBox 56"/>
          <p:cNvSpPr txBox="1"/>
          <p:nvPr/>
        </p:nvSpPr>
        <p:spPr>
          <a:xfrm>
            <a:off x="3429000" y="2825496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vectors[7]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457200" y="3072384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9" name="TextBox 58"/>
          <p:cNvSpPr txBox="1"/>
          <p:nvPr/>
        </p:nvSpPr>
        <p:spPr>
          <a:xfrm>
            <a:off x="502920" y="3072384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chunks[8]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3383280" y="3072384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1" name="TextBox 60"/>
          <p:cNvSpPr txBox="1"/>
          <p:nvPr/>
        </p:nvSpPr>
        <p:spPr>
          <a:xfrm>
            <a:off x="3429000" y="3072384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vectors[8]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57200" y="3319272"/>
            <a:ext cx="26517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3" name="TextBox 62"/>
          <p:cNvSpPr txBox="1"/>
          <p:nvPr/>
        </p:nvSpPr>
        <p:spPr>
          <a:xfrm>
            <a:off x="502920" y="3319272"/>
            <a:ext cx="25603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chunks[9]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3383280" y="3319272"/>
            <a:ext cx="1737360" cy="210312"/>
          </a:xfrm>
          <a:prstGeom prst="roundRect">
            <a:avLst>
              <a:gd name="adj" fmla="val 5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5" name="TextBox 64"/>
          <p:cNvSpPr txBox="1"/>
          <p:nvPr/>
        </p:nvSpPr>
        <p:spPr>
          <a:xfrm>
            <a:off x="3429000" y="3319272"/>
            <a:ext cx="1645920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850" b="0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vectors[9]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3127248" y="2930652"/>
            <a:ext cx="237744" cy="0"/>
          </a:xfrm>
          <a:prstGeom prst="line">
            <a:avLst/>
          </a:prstGeom>
          <a:ln w="2540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457200" y="3611880"/>
            <a:ext cx="4663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… 28행까지 (같은 순서로 함께 만든 두 파일)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5394960" y="1097280"/>
            <a:ext cx="329184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9" name="TextBox 68"/>
          <p:cNvSpPr txBox="1"/>
          <p:nvPr/>
        </p:nvSpPr>
        <p:spPr>
          <a:xfrm>
            <a:off x="5532120" y="1170432"/>
            <a:ext cx="301752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7 travel 0 80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384 출장 숙박 정산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5394960" y="1965960"/>
            <a:ext cx="3291840" cy="13258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1" name="TextBox 70"/>
          <p:cNvSpPr txBox="1"/>
          <p:nvPr/>
        </p:nvSpPr>
        <p:spPr>
          <a:xfrm>
            <a:off x="5532120" y="2011680"/>
            <a:ext cx="306324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chunk["text"]</a:t>
            </a:r>
          </a:p>
          <a:p>
            <a:pPr algn="l">
              <a:spcAft>
                <a:spcPts val="300"/>
              </a:spcAft>
            </a:pPr>
            <a:r>
              <a:rPr sz="950" b="0">
                <a:solidFill>
                  <a:srgbClr val="141617"/>
                </a:solidFill>
              </a:rPr>
              <a:t>국내 출장 숙박 비용 한도는 1박당 12만원입니다. 숙박 영수증을 첨부해야 정산할 수 있습니다. 한도 초과 숙박은 예약 전에 담당 임원의 </a:t>
            </a:r>
            <a:r>
              <a:rPr sz="950" b="1">
                <a:solidFill>
                  <a:srgbClr val="FB062F"/>
                </a:solidFill>
              </a:rPr>
              <a:t>서면</a:t>
            </a:r>
          </a:p>
        </p:txBody>
      </p:sp>
      <p:sp>
        <p:nvSpPr>
          <p:cNvPr id="72" name="Rounded Rectangle 71"/>
          <p:cNvSpPr/>
          <p:nvPr/>
        </p:nvSpPr>
        <p:spPr>
          <a:xfrm>
            <a:off x="5394960" y="3429000"/>
            <a:ext cx="329184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3" name="TextBox 72"/>
          <p:cNvSpPr txBox="1"/>
          <p:nvPr/>
        </p:nvSpPr>
        <p:spPr>
          <a:xfrm>
            <a:off x="5577840" y="3538728"/>
            <a:ext cx="292608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숙박 한도 · 증빙엔 충분, 승인 절차까지 답하려면 다음 청크가 더 필요해요.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청크 ID → uuid5 → 항상 같은 Point ID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11887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chunk_id</a:t>
            </a:r>
          </a:p>
          <a:p>
            <a:pPr algn="l">
              <a:spcAft>
                <a:spcPts val="200"/>
              </a:spcAft>
            </a:pPr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travel:46fb3976b5b2:80:20:0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246120" y="1600200"/>
            <a:ext cx="548640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3840480" y="1325880"/>
            <a:ext cx="1463040" cy="548640"/>
          </a:xfrm>
          <a:prstGeom prst="roundRect">
            <a:avLst>
              <a:gd name="adj" fmla="val 15000"/>
            </a:avLst>
          </a:prstGeom>
          <a:solidFill>
            <a:srgbClr val="1416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40480" y="1325880"/>
            <a:ext cx="14630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uuid5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5349240" y="1600200"/>
            <a:ext cx="548640" cy="0"/>
          </a:xfrm>
          <a:prstGeom prst="line">
            <a:avLst/>
          </a:prstGeom>
          <a:ln w="2540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5943600" y="1188720"/>
            <a:ext cx="27432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035040" y="1188720"/>
            <a:ext cx="256032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FB062F"/>
                </a:solidFill>
              </a:rPr>
              <a:t>point.id</a:t>
            </a:r>
          </a:p>
          <a:p>
            <a:pPr algn="l">
              <a:spcAft>
                <a:spcPts val="200"/>
              </a:spcAft>
            </a:pPr>
            <a:r>
              <a:rPr sz="8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7729ce2c-4c49-58f1-9408-8000ddbf592b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57200" y="2240280"/>
            <a:ext cx="457200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94360" y="2331720"/>
            <a:ext cx="429768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point_id = str(uuid5(NAMESPACE_URL, chunk["chunk_id"]))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point = models.PointStruct(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id=point_id,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vector=vector.tolist(),   # NumPy → list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payload=chunk)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212080" y="2240280"/>
            <a:ext cx="3474720" cy="685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349240" y="2313432"/>
            <a:ext cx="3200400" cy="539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7729ce2c-4c49-58f1-9408-8000ddbf592b</a:t>
            </a:r>
          </a:p>
          <a:p>
            <a:pPr algn="l"/>
            <a:r>
              <a:rPr sz="9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True   ← 다시 만들어도 같은 값</a:t>
            </a:r>
          </a:p>
        </p:txBody>
      </p:sp>
      <p:graphicFrame>
        <p:nvGraphicFramePr>
          <p:cNvPr id="38" name="Table 37"/>
          <p:cNvGraphicFramePr>
            <a:graphicFrameLocks noGrp="1"/>
          </p:cNvGraphicFramePr>
          <p:nvPr/>
        </p:nvGraphicFramePr>
        <p:xfrm>
          <a:off x="5212080" y="3063240"/>
          <a:ext cx="3474720" cy="98755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645920"/>
                <a:gridCol w="1828800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ID 규칙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다시 넣으면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uuid5(chunk_id)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같은 Point 갱신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무작위 uuid4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Point가 하나 더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9" name="Rounded Rectangle 38"/>
          <p:cNvSpPr/>
          <p:nvPr/>
        </p:nvSpPr>
        <p:spPr>
          <a:xfrm>
            <a:off x="457200" y="3840480"/>
            <a:ext cx="4572000" cy="7315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640080" y="3950208"/>
            <a:ext cx="42062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NAMESPACE_URL은 정해진 네임스페이스 값이에요. 입력이 실제 웹 주소일 필요는 없어요.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Collection을 만들고 같은 Point를 두 번 Upsert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75488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4805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 = QdrantClient(":memory:")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client.create_collection("point_demo",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vectors_config=models.VectorParams(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size=int(vectors.shape[1]),   # 384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distance=models.Distance.COSINE))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repeat in range(2):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client.upsert("point_demo", points=[point], wait=True)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0" y="114300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5669280" y="2514600"/>
            <a:ext cx="548640" cy="18288"/>
          </a:xfrm>
          <a:prstGeom prst="roundRect">
            <a:avLst>
              <a:gd name="adj" fmla="val 5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5486400" y="1188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</a:rPr>
              <a:t>생성 직후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114300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6766560" y="1417320"/>
            <a:ext cx="548640" cy="1097280"/>
          </a:xfrm>
          <a:prstGeom prst="roundRect">
            <a:avLst>
              <a:gd name="adj" fmla="val 5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6583680" y="1188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141617"/>
                </a:solidFill>
              </a:rPr>
              <a:t>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8368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</a:rPr>
              <a:t>등록 1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680960" y="1143000"/>
            <a:ext cx="914400" cy="15544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7863840" y="1417320"/>
            <a:ext cx="548640" cy="1097280"/>
          </a:xfrm>
          <a:prstGeom prst="roundRect">
            <a:avLst>
              <a:gd name="adj" fmla="val 5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680960" y="11887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>
                <a:solidFill>
                  <a:srgbClr val="FB062F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80960" y="274320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50" b="1">
                <a:solidFill>
                  <a:srgbClr val="858793"/>
                </a:solidFill>
              </a:rPr>
              <a:t>등록 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063240"/>
            <a:ext cx="4754880" cy="7315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94360" y="3136392"/>
            <a:ext cx="4480560" cy="585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0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등록 1 Point 수 1</a:t>
            </a:r>
          </a:p>
          <a:p>
            <a:pPr algn="l"/>
            <a:r>
              <a:rPr sz="10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등록 2 Point 수 1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0" y="3108960"/>
            <a:ext cx="3200400" cy="14630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669280" y="3218688"/>
            <a:ext cx="283464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본문이 같아도 ID가 다르면 Point가 2개예요.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wait=True는 쓰기가 끝날 때까지 기다려요.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931920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서버형 Qdrant에는 관리 화면이 있지만, 수업은 메모리 모드라 Python 조회 결과로 확인해요.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ID로 조회하면 원문과 출처가 그대로 돌아와요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5087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saved = client.retrieve("point_demo",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ids=[point_id], with_payload=True)[0]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print(saved.payload["document_id"])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print(saved.payload["metadata"]["title"])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print(saved.payload["start"], saved.payload["end"])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97480"/>
            <a:ext cx="4206240" cy="7772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770632"/>
            <a:ext cx="3931920" cy="6309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travel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출장 숙박 정산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0 80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846320" y="1051560"/>
          <a:ext cx="384048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280160"/>
                <a:gridCol w="1371600"/>
                <a:gridCol w="118872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조회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기준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질문 벡터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retrieve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Point ID 일치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필요 없음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query_points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벡터 유사도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필요 (5-2)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scroll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조건 일치 나열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필요 없음 (5-3)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846320" y="2743200"/>
            <a:ext cx="3840480" cy="1828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029200" y="2788920"/>
            <a:ext cx="3566160" cy="1737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200" b="1">
                <a:solidFill>
                  <a:srgbClr val="FB062F"/>
                </a:solidFill>
              </a:rPr>
              <a:t>Payload ≠ 임베딩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임베딩한 문자열 = "passage: " + 본문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제목 · 분류는 벡터에 안 들어가요. 제목도 반영하려면 인코딩 문자열을 바꾸고 문서 벡터를 다시 만들어요.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5-1. 교육비 청크 한 개 추가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education_no = next(i for i, c in enumerate(chunks)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if c["document_id"] == "education")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education_chunk = chunks[education_no]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education_chunk의 chunk_id로 uuid5 ID를 만들고, 같은 행의 벡터로 education_point를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point_demo에 Upsert한 뒤 Point 수를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Point 수 2 · 한 번 더 넣어도 2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교육비 Point: 교육비 지원 | 직무 교육비는 분기 1회…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vectors[number]를 쓰면 출장 벡터가 붙어요 (차원은 같아 못 잡아요)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5-1 Qdrant 데이터 모델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5-1. 교육비 청크 한 개 추가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education_no = next(i for i, c in enumerate(chunks)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if c["document_id"] == "education")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education_chunk = chunks[education_no]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education_point = models.PointStruct(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id=str(uuid5(NAMESPACE_URL, ____)),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vector=____.tolist(),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payload=education_chunk,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client.upsert("point_demo", points=[education_point], wait=True)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print(client.count("point_demo").count)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ch05\rag_ch05_01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Point 수 2 · 한 번 더 넣어도 2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교육비 Point: 교육비 지원 | 직무 교육비는 분기 1회…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vectors[number]를 쓰면 출장 벡터가 붙어요 (차원은 같아 못 잡아요)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5-2</a:t>
            </a:r>
            <a:r>
              <a:rPr b="1">
                <a:solidFill>
                  <a:srgbClr val="858793"/>
                </a:solidFill>
              </a:rPr>
              <a:t>  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Collection 생성 / Upsert / Query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같은 벡터로 검색 위치만 NumPy → Qdrant → 빈 Collection → 28쌍 등록 → 질문 임베딩 + current 필터 → Top-3 → SavedDenseIndex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4장과 같은 벡터, 검색하는 곳만 바꿔요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8872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chunks.json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28개 청크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984248" y="16459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148840" y="11887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258568" y="118872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141617"/>
                </a:solidFill>
              </a:rPr>
              <a:t>vectors.npy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(28, 384)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675887" y="16459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3840480" y="11887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3950208" y="118872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Collection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Point 28개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367528" y="16459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532120" y="11887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641848" y="118872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query_points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질문 + 필터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7059168" y="16459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Rounded Rectangle 37"/>
          <p:cNvSpPr/>
          <p:nvPr/>
        </p:nvSpPr>
        <p:spPr>
          <a:xfrm>
            <a:off x="7223760" y="1188720"/>
            <a:ext cx="1508760" cy="9144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333488" y="1188720"/>
            <a:ext cx="128930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</a:rPr>
              <a:t>Top-3</a:t>
            </a:r>
          </a:p>
          <a:p>
            <a:pPr algn="ctr"/>
            <a:r>
              <a:rPr sz="1000" b="0">
                <a:solidFill>
                  <a:srgbClr val="858793"/>
                </a:solidFill>
              </a:rPr>
              <a:t>score + payload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2377440"/>
            <a:ext cx="3931920" cy="6400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594360" y="2450592"/>
            <a:ext cx="3657600" cy="493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28 (28, 384)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leave 0</a:t>
            </a:r>
          </a:p>
        </p:txBody>
      </p:sp>
      <p:graphicFrame>
        <p:nvGraphicFramePr>
          <p:cNvPr id="42" name="Table 41"/>
          <p:cNvGraphicFramePr>
            <a:graphicFrameLocks noGrp="1"/>
          </p:cNvGraphicFramePr>
          <p:nvPr/>
        </p:nvGraphicFramePr>
        <p:xfrm>
          <a:off x="4572000" y="2377440"/>
          <a:ext cx="4114800" cy="14630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371600"/>
                <a:gridCol w="2743200"/>
              </a:tblGrid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처음 만나는 표현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뜻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Collection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같은 벡터 설정을 적용하는 Point 묶음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Query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질문 벡터와 조건으로 관련 Point를 찾는 요청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65760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limit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검색에서 반환할 최대 Point 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3" name="Rounded Rectangle 42"/>
          <p:cNvSpPr/>
          <p:nvPr/>
        </p:nvSpPr>
        <p:spPr>
          <a:xfrm>
            <a:off x="457200" y="3200400"/>
            <a:ext cx="3931920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40080" y="3310128"/>
            <a:ext cx="356616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(28, 384): 첫 축은 청크 수, 둘째 축은 벡터 차원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current 10개 문서 + retired 2개 문서의 청크가 모두 있어요.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size는 Point 수(28)가 아니라 벡터 길이(384)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85800" y="1143000"/>
            <a:ext cx="1463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384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1143000"/>
            <a:ext cx="21945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size = 벡터 차원 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1143000"/>
            <a:ext cx="4023360" cy="11430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92040" y="1143000"/>
            <a:ext cx="14630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34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28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1143000"/>
            <a:ext cx="219456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141617"/>
                </a:solidFill>
              </a:rPr>
              <a:t>Point 수 → size 아님 ✗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2514600"/>
            <a:ext cx="4937760" cy="15087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94360" y="2606040"/>
            <a:ext cx="46634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 = QdrantClient(":memory:")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collection = "campus_saved_e5"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client.create_collection(collection,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vectors_config=models.VectorParams(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size=int(vectors.shape[1]),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distance=models.Distance.COSINE))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577840" y="2514600"/>
            <a:ext cx="310896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715000" y="2587752"/>
            <a:ext cx="283464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0   ← 아직 Upsert 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577840" y="3200400"/>
            <a:ext cx="3108960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5760720" y="3310128"/>
            <a:ext cx="274320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로컬 메모리 모드라 서버 주소나 API 키가 필요 없어요.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zip으로 청크와 벡터를 한 쌍씩, 28개 등록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937760" cy="2194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663440" cy="201167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points = []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chunk, vector in zip(chunks, vectors):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points.append(models.PointStruct(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id=str(uuid5(NAMESPACE_URL, chunk["chunk_id"])),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vector=vector.tolist(), payload=chunk))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client.upsert(collection, points=points, wait=True)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print(client.count(collection).count)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577840" y="11430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577840" y="1143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chunks[0]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784848" y="1316736"/>
            <a:ext cx="329184" cy="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7132320" y="11430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7132320" y="11430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vectors[0]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577840" y="16002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577840" y="1600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chunks[1]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784848" y="1773936"/>
            <a:ext cx="329184" cy="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7132320" y="16002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132320" y="16002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vectors[1]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577840" y="20574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577840" y="2057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chunks[2]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784848" y="2231136"/>
            <a:ext cx="329184" cy="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7132320" y="20574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7132320" y="20574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vectors[2]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577840" y="25146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5577840" y="2514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chunks[3]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6784848" y="2688336"/>
            <a:ext cx="329184" cy="0"/>
          </a:xfrm>
          <a:prstGeom prst="line">
            <a:avLst/>
          </a:prstGeom>
          <a:ln w="19050">
            <a:solidFill>
              <a:srgbClr val="FB062F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7132320" y="2514600"/>
            <a:ext cx="1188720" cy="347472"/>
          </a:xfrm>
          <a:prstGeom prst="roundRect">
            <a:avLst>
              <a:gd name="adj" fmla="val 10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132320" y="2514600"/>
            <a:ext cx="118872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vectors[3]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577840" y="29718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858793"/>
                </a:solidFill>
              </a:rPr>
              <a:t>… 28쌍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57200" y="3429000"/>
            <a:ext cx="493776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0" name="TextBox 49"/>
          <p:cNvSpPr txBox="1"/>
          <p:nvPr/>
        </p:nvSpPr>
        <p:spPr>
          <a:xfrm>
            <a:off x="594360" y="3502152"/>
            <a:ext cx="466344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28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leave 0   ← 첫 Point 다시 읽기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577840" y="3337560"/>
            <a:ext cx="310896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5760720" y="3447288"/>
            <a:ext cx="2743200" cy="10515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수업 자료는 작아서 한 번에 등록했어요. 문서가 많으면 묶음으로 나눠 넣어요.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질문은 같은 모델로 query:, 구버전은 필터로 제외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114800" cy="12801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84048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query = model.encode(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"query: " + question,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normalize_embeddings=True)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print(query.shape)   # (384,)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468880"/>
            <a:ext cx="4114800" cy="1600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560320"/>
            <a:ext cx="3840480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current_filter = models.Filter(must=[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models.FieldCondition(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key="metadata.status",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match=models.MatchValue(value="current"))])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846320" y="114300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1143000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141617"/>
                </a:solidFill>
              </a:rPr>
              <a:t>벡터 유사도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의미가 비슷한 청크인가?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846320" y="2606040"/>
            <a:ext cx="3840480" cy="12344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5029200" y="2606040"/>
            <a:ext cx="356616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400" b="1">
                <a:solidFill>
                  <a:srgbClr val="FB062F"/>
                </a:solidFill>
              </a:rPr>
              <a:t>metadata 필터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141617"/>
                </a:solidFill>
              </a:rPr>
              <a:t>지금 적용되는 문서인가?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4069080"/>
            <a:ext cx="3840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B062F"/>
                </a:solidFill>
              </a:rPr>
              <a:t>→ 한 번의 query_points에 함께 적용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Top-3: 4장 행렬 검색과 같은 순서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051560"/>
          <a:ext cx="420624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846320" y="1051560"/>
            <a:ext cx="384048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4983480" y="1143000"/>
            <a:ext cx="356616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hits = client.query_points(collection,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query=query.tolist(), limit=3,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query_filter=current_filter,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with_payload=True).points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rows = [{**h.payload, "score": float(h.score)}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for h in hits]</a:t>
            </a: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4846320" y="2651760"/>
          <a:ext cx="3840480" cy="17373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828800"/>
                <a:gridCol w="20116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반환값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다음 단계에서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score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후보 정렬 · 선정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생성 모델의 Context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metadata.source_url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답변의 원문 링크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chunk_id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중복 제거 · 추적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0" name="Rounded Rectangle 29"/>
          <p:cNvSpPr/>
          <p:nvPr/>
        </p:nvSpPr>
        <p:spPr>
          <a:xfrm>
            <a:off x="457200" y="3291840"/>
            <a:ext cx="420624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401568"/>
            <a:ext cx="3840479" cy="10972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1위 travel:0 → 1박당 12만원 · 숙박 영수증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example.invalid는 가상 자료용 출처 표시예요.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SavedDenseIndex: 방금 한 절차를 묶은 클래스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88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66928" y="1188720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create_collection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384 · COSINE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121408" y="16459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2286000" y="1188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2395728" y="1188720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upsert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28 Point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950208" y="1645920"/>
            <a:ext cx="146304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4114800" y="1188720"/>
            <a:ext cx="1645920" cy="9144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4224528" y="1188720"/>
            <a:ext cx="1426464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</a:rPr>
              <a:t>search(q, k)</a:t>
            </a:r>
          </a:p>
          <a:p>
            <a:pPr algn="ctr"/>
            <a:r>
              <a:rPr sz="950" b="0">
                <a:solidFill>
                  <a:srgbClr val="858793"/>
                </a:solidFill>
              </a:rPr>
              <a:t>query: + current 필터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65760" y="1051560"/>
            <a:ext cx="5486400" cy="1188720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FB062F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457200" y="2286000"/>
            <a:ext cx="53035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SavedDenseIndex(chunks, vectors, model)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035040" y="1051560"/>
            <a:ext cx="2651760" cy="15087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172200" y="1143000"/>
            <a:ext cx="237744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index = SavedDenseIndex(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chunks, vectors, model)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again = index.search(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question, k=3)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index.close()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57200" y="2743200"/>
            <a:ext cx="5486400" cy="502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594360" y="2816352"/>
            <a:ext cx="52120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True   ← 직접 작성한 검색과 chunk_id 순서가 같아요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457200" y="342900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640080" y="3538728"/>
            <a:ext cx="7863840" cy="9601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수업의 로컬 모드는 모든 벡터를 하나씩 비교해요. 대규모 서버의 ANN(근사 검색) 속도나 정확도와는 다른 이야기예요.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saved_index.py의 __init__과 search를 직접 읽어 보면 오늘 쓴 코드와 같은 순서예요.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5-2. k를 바꾸고 필요한 내용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question2 = "출장 식비와 숙박비의 한도는 각각 얼마이고 두 한도를 합쳐 쓸 수 있나요?"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query2 = model.encode("query: " + question2, normalize_embeddings=True)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client.query_points로 limit=k, current_filter를 적용해 검색하세요.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results[k]에 (document_id, start) 목록을 담고 본문을 출력하세요.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 → meal:60 (합산 금지만,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→ meal:60, meal:0(1일 3만원), travel:0(1박당 12만원)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 하나 찾기 ≠ 모든 항목의 근거 찾기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5-2 Upsert와 Query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5-2. k를 바꾸고 필요한 내용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question2 = "출장 식비와 숙박비의 한도는 각각 얼마이고 두 한도를 합쳐 쓸 수 있나요?"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query2 = model.encode("query: " + question2, normalize_embeddings=True)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k in [1, 3]: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found = client.query_points(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collection, query=query2.tolist(), limit=____,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query_filter=____, with_payload=True,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).points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results[k] = [(hit.payload["document_id"], hit.payload["start"]) for hit in found]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print("k", k)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for hit in found: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print(hit.payload["document_id"], hit.payload["text"])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ch05\rag_ch05_02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k=1 → meal:60 (합산 금지만, 금액 없음)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k=3 → meal:60, meal:0(1일 3만원), travel:0(1박당 12만원)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문서 하나 찾기 ≠ 모든 항목의 근거 찾기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휴식 </a:t>
            </a:r>
            <a:r>
              <a:rPr b="1">
                <a:solidFill>
                  <a:srgbClr val="FB062F"/>
                </a:solidFill>
              </a:rPr>
              <a:t>10분</a:t>
            </a:r>
            <a:r>
              <a:rPr b="1">
                <a:solidFill>
                  <a:srgbClr val="858793"/>
                </a:solidFill>
              </a:rPr>
              <a:t>   후 재개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쉬는 시간 10분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다음: 5-3 Metadata Filter와 검색 범위 제어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5-3</a:t>
            </a:r>
            <a:r>
              <a:rPr b="1">
                <a:solidFill>
                  <a:srgbClr val="858793"/>
                </a:solidFill>
              </a:rPr>
              <a:t>  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Metadata Filter와 검색 범위 제어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8만원 질문에 구버전이 2위 → current 필터 → 상태 + 분류 AND → 숫자 Range → 빈 결과의 원인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"8만원인가요?" — 구버전이 2위로 올라와요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Chart 25"/>
          <p:cNvGraphicFramePr>
            <a:graphicFrameLocks noGrp="1"/>
          </p:cNvGraphicFramePr>
          <p:nvPr/>
        </p:nvGraphicFramePr>
        <p:xfrm>
          <a:off x="457200" y="1280160"/>
          <a:ext cx="4023360" cy="2103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27" name="Chart 26"/>
          <p:cNvGraphicFramePr>
            <a:graphicFrameLocks noGrp="1"/>
          </p:cNvGraphicFramePr>
          <p:nvPr/>
        </p:nvGraphicFramePr>
        <p:xfrm>
          <a:off x="4663440" y="1280160"/>
          <a:ext cx="4023360" cy="210312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457200" y="10058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current_only=False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1005840"/>
            <a:ext cx="40233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current_only=True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566160"/>
            <a:ext cx="8229600" cy="10058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40080" y="3675887"/>
            <a:ext cx="78638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travel-old(retired)는 예전 한도 8만원 문서예요. 질문의 금액과 잘 맞아도 지금 적용되는 규정은 아니에요.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최신 여부는 날짜가 아니라 수집 · 정리 단계에서 정한 status 값으로 판단해요.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필터는 점수를 바꾸지 않고, 후보에 들어올 자격을 정해요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206240" cy="15087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931920" cy="1325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current_condition = models.FieldCondition(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key="metadata.status",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match=models.MatchValue(value="current"))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current_filter = models.Filter(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must=[current_condition])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697480"/>
            <a:ext cx="4206240" cy="105156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788920"/>
            <a:ext cx="393192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{"text": "…", "document_id": "travel",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"metadata": {"status": "current",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"category": "출장", …}}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37947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858793"/>
                </a:solidFill>
              </a:rPr>
              <a:t>↑ payload 구조: status는 metadata 안에 있어요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937760" y="1097280"/>
            <a:ext cx="3749039" cy="13716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5120640" y="109728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41617"/>
                </a:solidFill>
              </a:rPr>
              <a:t>프롬프트에 지시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구버전이 이미 검색된 뒤
모델이 따르기를 기대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937760" y="2697480"/>
            <a:ext cx="3749039" cy="13716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0" y="2697480"/>
            <a:ext cx="3474720" cy="137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FB062F"/>
                </a:solidFill>
              </a:rPr>
              <a:t>Metadata Filter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검색 결과를 만들 때 제외
Context에 아예 안 들어감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must로 AND: 28개 중 현행 출장 청크는 5개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143000"/>
            <a:ext cx="8229600" cy="502920"/>
          </a:xfrm>
          <a:prstGeom prst="roundRect">
            <a:avLst>
              <a:gd name="adj" fmla="val 5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48640" y="1143000"/>
            <a:ext cx="41148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28  전체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828800"/>
            <a:ext cx="1469571" cy="502920"/>
          </a:xfrm>
          <a:prstGeom prst="roundRect">
            <a:avLst>
              <a:gd name="adj" fmla="val 5000"/>
            </a:avLst>
          </a:prstGeom>
          <a:solidFill>
            <a:srgbClr val="FB06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48640" y="1828800"/>
            <a:ext cx="128016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3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03120" y="2286000"/>
            <a:ext cx="658368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↑ current AND 출장 = 청크 5개 (travel 3 + meal 2)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03120" y="1874519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103120" y="1874519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 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429000" y="1874519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3429000" y="1874519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 60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754879" y="1874519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4754879" y="1874519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travel 120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080759" y="1874519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080759" y="1874519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 0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406640" y="1874519"/>
            <a:ext cx="1234440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406640" y="1874519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meal 60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457200" y="2560320"/>
          <a:ext cx="4572000" cy="1536192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1645920"/>
                <a:gridCol w="18288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조합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사용 예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must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모든 조건 만족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현행이면서 출장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should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하나 이상 만족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출장 또는 교육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must_not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해당 조건 제외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특정 문서 ID 제외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5212080" y="2560320"/>
            <a:ext cx="3474720" cy="2011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394960" y="2670048"/>
            <a:ext cx="3108960" cy="1828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조건이 여러 겹이면 먼저 "그리고 / 또는 / 제외"를 자연어로 적고 코드로 옮겨요.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필터를 걸기 전에 그 조건이 질문이나 사용자 선택으로 정말 확정됐는지 확인해요.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숫자는 Range, 문자열은 MatchValue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572000" cy="18288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429768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after_first = models.Filter(must=must + [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models.FieldCondition(key="start",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range=models.Range(gte=60))])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records, next_offset = index.client.scroll(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index.collection,</a:t>
            </a:r>
          </a:p>
          <a:p>
            <a:pPr algn="l"/>
            <a:r>
              <a:rPr sz="100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scroll_filter=after_first, limit=100)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017520"/>
            <a:ext cx="4572000" cy="5029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3090672"/>
            <a:ext cx="4297680" cy="3566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[('meal', 60), ('travel', 60), ('travel', 120)]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303520" y="1097280"/>
            <a:ext cx="3383280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502920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303520" y="1481328"/>
            <a:ext cx="1828800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5358383" y="148132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675120" y="1938528"/>
            <a:ext cx="182880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6729983" y="1938528"/>
            <a:ext cx="173736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2395728"/>
            <a:ext cx="640079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8101584" y="2395728"/>
            <a:ext cx="548639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03520" y="2514600"/>
            <a:ext cx="3383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travel: start ≥ 60인 두 청크만 남아요</a:t>
            </a:r>
          </a:p>
        </p:txBody>
      </p:sp>
      <p:graphicFrame>
        <p:nvGraphicFramePr>
          <p:cNvPr id="41" name="Table 40"/>
          <p:cNvGraphicFramePr>
            <a:graphicFrameLocks noGrp="1"/>
          </p:cNvGraphicFramePr>
          <p:nvPr/>
        </p:nvGraphicFramePr>
        <p:xfrm>
          <a:off x="5303520" y="3017520"/>
          <a:ext cx="3383280" cy="1042416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554480"/>
                <a:gridCol w="18288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필드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조건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start (정수)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Range(gte=60)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version ("v2")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MatchValue("v2")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2" name="Rounded Rectangle 41"/>
          <p:cNvSpPr/>
          <p:nvPr/>
        </p:nvSpPr>
        <p:spPr>
          <a:xfrm>
            <a:off x="457200" y="3703320"/>
            <a:ext cx="4572000" cy="8686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40080" y="3813048"/>
            <a:ext cx="420624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v10과 v2를 문자로 비교하면 실제 버전 순서와 다를 수 있어요.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빈 결과 [] ≠ "그런 규정이 없어요"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51560"/>
            <a:ext cx="4023360" cy="86868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43000"/>
            <a:ext cx="37490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missing = index.search(question, k=3,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          category="해외항공")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2057400"/>
            <a:ext cx="402336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2130552"/>
            <a:ext cx="374904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[]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4663440" y="1051560"/>
          <a:ext cx="4023360" cy="219456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737360"/>
                <a:gridCol w="2286000"/>
              </a:tblGrid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</a:rPr>
                        <a:t>먼저 볼 항목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모든 질문이 빈 결과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Collection 수량, 필터 필드명 · 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특정 분류만 빈 결과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실제 metadata.category 값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필터 없이 정답이 보임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정답이 어떤 조건으로 제외됐는지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38912">
                <a:tc>
                  <a:txBody>
                    <a:bodyPr wrap="square"/>
                    <a:lstStyle/>
                    <a:p>
                      <a:r>
                        <a:rPr sz="950" b="1">
                          <a:solidFill>
                            <a:srgbClr val="141617"/>
                          </a:solidFill>
                        </a:rPr>
                        <a:t>필터 후 구버전이 남음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950" b="0">
                          <a:solidFill>
                            <a:srgbClr val="141617"/>
                          </a:solidFill>
                        </a:rPr>
                        <a:t>status 값과 중첩 키 위치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31" name="Rounded Rectangle 30"/>
          <p:cNvSpPr/>
          <p:nvPr/>
        </p:nvSpPr>
        <p:spPr>
          <a:xfrm>
            <a:off x="457200" y="2743200"/>
            <a:ext cx="4023360" cy="182880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640080" y="2852928"/>
            <a:ext cx="3657600" cy="1645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빈 목록을 억지로 채우지 않고 보류나 재질문 흐름(6-4)으로 연결해요.</a:t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클라이언트가 보내는 category 값은 바꿔 보낼 수 있어요. 권한 결정에 쓰면 안 돼요.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5-3. 두 검색 범위 직접 만들기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category in ["출장", "교육"]: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current_condition과 metadata.category 조건을 must로 묶은 Filter를 만드세요.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# TODO: index.client.scroll로 읽고 results[category]에 정렬된 document_id 집합을 담으세요.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raise NotImplementedError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출장 → ['meal', 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교육 → ['education']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교육비 질문 + 출장 필터 → education은 k를 늘려도 안 나와요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5-3 Metadata Filter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5-3. 두 검색 범위 직접 만들기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results = {}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for category in ["출장", "교육"]: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selected = models.Filter(must=[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current_condition,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models.FieldCondition(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key=____,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    match=models.MatchValue(value=____),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),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])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records, _ = index.client.scroll(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  index.collection, scroll_filter=selected, limit=100)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results[category] = sorted({p.payload["document_id"] for p in records})</a:t>
            </a:r>
          </a:p>
          <a:p>
            <a:pPr algn="l"/>
            <a:r>
              <a:rPr sz="10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print(category, results[category])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ch05\rag_ch05_03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출장 → ['meal', 'travel']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교육 → ['education']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교육비 질문 + 출장 필터 → education은 k를 늘려도 안 나와요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2"/>
          </p:nvPr>
        </p:nvSpPr>
        <p:spPr/>
        <p:txBody>
          <a:bodyPr/>
          <a:lstStyle/>
          <a:p>
            <a:r>
              <a:rPr b="1">
                <a:solidFill>
                  <a:srgbClr val="FFFFFF"/>
                </a:solidFill>
              </a:rPr>
              <a:t>교안 </a:t>
            </a:r>
            <a:r>
              <a:rPr b="1">
                <a:solidFill>
                  <a:srgbClr val="FB062F"/>
                </a:solidFill>
              </a:rPr>
              <a:t>5-4</a:t>
            </a:r>
            <a:r>
              <a:rPr b="1">
                <a:solidFill>
                  <a:srgbClr val="858793"/>
                </a:solidFill>
              </a:rPr>
              <a:t>  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3"/>
          </p:nvPr>
        </p:nvSpPr>
        <p:spPr/>
        <p:txBody>
          <a:bodyPr/>
          <a:lstStyle/>
          <a:p>
            <a:r>
              <a:t>데이터 갱신과 ANN 검색 개요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04"/>
          </p:nvPr>
        </p:nvSpPr>
        <p:spPr/>
        <p:txBody>
          <a:bodyPr/>
          <a:lstStyle/>
          <a:p>
            <a:r>
              <a:t>청킹 설정만 바꿔도 ID가 바뀜 → 삭제 대상 = old − new → 새로 등록 3 → 5 → 옛 ID 삭제 → 2 → ANN의 탐색 누락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청킹 설정만 바꿔도 청크 ID가 모두 바뀌어요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8229600" cy="27432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828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19204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60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31312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80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4342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55528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120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1097280"/>
            <a:ext cx="548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148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1481328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512064" y="1481328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old (0, 80)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793524" y="1938528"/>
            <a:ext cx="4448432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848388" y="1938528"/>
            <a:ext cx="43569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old (60, 140)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129848" y="2395728"/>
            <a:ext cx="1556951" cy="384048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 w="12700">
            <a:solidFill>
              <a:srgbClr val="E0E1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7184712" y="2395728"/>
            <a:ext cx="146551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(120,148)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57200" y="2697480"/>
            <a:ext cx="5560540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12064" y="2697480"/>
            <a:ext cx="546910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new (0, 100)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905632" y="3154680"/>
            <a:ext cx="3781167" cy="384048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4960496" y="3154680"/>
            <a:ext cx="3689727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new (80, 148)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2395728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100 / 20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3703320"/>
            <a:ext cx="822960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94360" y="3776472"/>
            <a:ext cx="7955279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[(0, 80), (60, 140), (120, 148)]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[(0, 100), (80, 148)]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삭제할 ID = old_ids − new_ids (방향이 중요)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Oval 25"/>
          <p:cNvSpPr/>
          <p:nvPr/>
        </p:nvSpPr>
        <p:spPr>
          <a:xfrm>
            <a:off x="914399" y="1188720"/>
            <a:ext cx="2377440" cy="2103120"/>
          </a:xfrm>
          <a:prstGeom prst="ellipse">
            <a:avLst/>
          </a:prstGeom>
          <a:noFill/>
          <a:ln w="3175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14399" y="914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858793"/>
                </a:solidFill>
                <a:latin typeface="Consolas"/>
                <a:ea typeface="Consolas"/>
                <a:cs typeface="Consolas"/>
              </a:rPr>
              <a:t>old_ids</a:t>
            </a:r>
          </a:p>
        </p:txBody>
      </p:sp>
      <p:sp>
        <p:nvSpPr>
          <p:cNvPr id="28" name="Oval 27"/>
          <p:cNvSpPr/>
          <p:nvPr/>
        </p:nvSpPr>
        <p:spPr>
          <a:xfrm>
            <a:off x="2743200" y="1188720"/>
            <a:ext cx="2377440" cy="2103120"/>
          </a:xfrm>
          <a:prstGeom prst="ellipse">
            <a:avLst/>
          </a:prstGeom>
          <a:noFill/>
          <a:ln w="317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743200" y="914400"/>
            <a:ext cx="2377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new_ids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234440" y="160020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34440" y="160020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old 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234440" y="20116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34440" y="20116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old 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234440" y="242316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34440" y="242316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old 3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886200" y="17830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3886200" y="17830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new 1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886200" y="2240280"/>
            <a:ext cx="1005840" cy="320040"/>
          </a:xfrm>
          <a:prstGeom prst="roundRect">
            <a:avLst>
              <a:gd name="adj" fmla="val 30000"/>
            </a:avLst>
          </a:prstGeom>
          <a:solidFill>
            <a:srgbClr val="FFF0F2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3886200" y="2240280"/>
            <a:ext cx="100584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50" b="0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new 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06040" y="2057400"/>
            <a:ext cx="822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858793"/>
                </a:solidFill>
              </a:rPr>
              <a:t>∩ = 0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520440"/>
            <a:ext cx="4572000" cy="457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94360" y="3593592"/>
            <a:ext cx="42976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 2 3   ← old · new · stale</a:t>
            </a:r>
          </a:p>
        </p:txBody>
      </p:sp>
      <p:graphicFrame>
        <p:nvGraphicFramePr>
          <p:cNvPr id="43" name="Table 42"/>
          <p:cNvGraphicFramePr>
            <a:graphicFrameLocks noGrp="1"/>
          </p:cNvGraphicFramePr>
          <p:nvPr/>
        </p:nvGraphicFramePr>
        <p:xfrm>
          <a:off x="5303520" y="1097280"/>
          <a:ext cx="3383280" cy="192024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1097280"/>
                <a:gridCol w="1645920"/>
                <a:gridCol w="64008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집합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의미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</a:rPr>
                        <a:t>수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old_ids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이전 travel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new_ids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지금 저장할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old − new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더 안 쓸 청크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141617"/>
                          </a:solidFill>
                        </a:rPr>
                        <a:t>old ∩ new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그대로 유지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141617"/>
                          </a:solidFill>
                        </a:rPr>
                        <a:t>0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44" name="Rounded Rectangle 43"/>
          <p:cNvSpPr/>
          <p:nvPr/>
        </p:nvSpPr>
        <p:spPr>
          <a:xfrm>
            <a:off x="5303520" y="3154680"/>
            <a:ext cx="3383280" cy="141732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486400" y="3264408"/>
            <a:ext cx="3017520" cy="12344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이 방식은 해당 문서의 옛 ID 목록을 알고 있을 때만 쓸 수 있어요.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새로 등록 → 5개, 옛 ID만 삭제 → 2개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640080" y="1938528"/>
            <a:ext cx="1097280" cy="987552"/>
          </a:xfrm>
          <a:prstGeom prst="roundRect">
            <a:avLst>
              <a:gd name="adj" fmla="val 3000"/>
            </a:avLst>
          </a:prstGeom>
          <a:solidFill>
            <a:srgbClr val="8587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40080" y="1554480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41617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199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옛 3개 등록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783080" y="2377440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2240280" y="1280160"/>
            <a:ext cx="1097280" cy="1645919"/>
          </a:xfrm>
          <a:prstGeom prst="roundRect">
            <a:avLst>
              <a:gd name="adj" fmla="val 3000"/>
            </a:avLst>
          </a:prstGeom>
          <a:solidFill>
            <a:srgbClr val="FB062F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2240280" y="896112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FB062F"/>
                </a:solidFill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574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새 2개 Upsert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3383280" y="2377440"/>
            <a:ext cx="411480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3840480" y="2267712"/>
            <a:ext cx="1097280" cy="658368"/>
          </a:xfrm>
          <a:prstGeom prst="roundRect">
            <a:avLst>
              <a:gd name="adj" fmla="val 3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3840480" y="1883664"/>
            <a:ext cx="1097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>
                <a:solidFill>
                  <a:srgbClr val="141617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0" y="3017520"/>
            <a:ext cx="1463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858793"/>
                </a:solidFill>
              </a:rPr>
              <a:t>stale 삭제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394960" y="1051560"/>
            <a:ext cx="3291840" cy="14630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5532120" y="1143000"/>
            <a:ext cx="301752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client.delete("refresh_demo",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points_selector=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models.PointIdsList(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    points=sorted(stale_ids)),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wait=True)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394960" y="2651760"/>
            <a:ext cx="329184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5532120" y="2724912"/>
            <a:ext cx="301752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(2, 384)</a:t>
            </a:r>
          </a:p>
          <a:p>
            <a:pPr algn="l"/>
            <a:r>
              <a:rPr sz="105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3 → 5 → 2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40080" y="3584448"/>
            <a:ext cx="7863840" cy="9144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먼저 지우면 새 청크가 등록되기 전까지 검색할 자료가 없는 시간이 생기고, 먼저 등록하면 두 버전이 함께 있는 시간이 생겨요.</a:t>
            </a:r>
          </a:p>
          <a:p>
            <a:pPr algn="l">
              <a:spcAft>
                <a:spcPts val="300"/>
              </a:spcAft>
            </a:pPr>
            <a:r>
              <a:rPr sz="1000" b="0">
                <a:solidFill>
                  <a:srgbClr val="141617"/>
                </a:solidFill>
              </a:rPr>
              <a:t>수업에서는 3 → 5 → 2 중간 상태를 관찰하고, 실제 전환은 서비스 배포 설계에서 다뤄요.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ANN: 일부 후보만 보고 가까운 벡터 찾기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548640" y="1280160"/>
            <a:ext cx="640080" cy="1737360"/>
          </a:xfrm>
          <a:prstGeom prst="roundRect">
            <a:avLst>
              <a:gd name="adj" fmla="val 3000"/>
            </a:avLst>
          </a:prstGeom>
          <a:solidFill>
            <a:srgbClr val="FB062F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457200" y="987551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0.95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463040" y="1316735"/>
            <a:ext cx="640080" cy="1700784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371600" y="1024127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0.93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4630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1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2377440" y="1426463"/>
            <a:ext cx="640080" cy="1591056"/>
          </a:xfrm>
          <a:prstGeom prst="roundRect">
            <a:avLst>
              <a:gd name="adj" fmla="val 3000"/>
            </a:avLst>
          </a:prstGeom>
          <a:solidFill>
            <a:srgbClr val="FB062F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2286000" y="1133855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0.87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774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2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291840" y="2011679"/>
            <a:ext cx="640080" cy="1005840"/>
          </a:xfrm>
          <a:prstGeom prst="roundRect">
            <a:avLst>
              <a:gd name="adj" fmla="val 3000"/>
            </a:avLst>
          </a:prstGeom>
          <a:solidFill>
            <a:srgbClr val="F3F4F6"/>
          </a:solidFill>
          <a:ln w="12700">
            <a:solidFill>
              <a:srgbClr val="8587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3200400" y="1719071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0.55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2918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3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206240" y="2651760"/>
            <a:ext cx="640080" cy="365760"/>
          </a:xfrm>
          <a:prstGeom prst="roundRect">
            <a:avLst>
              <a:gd name="adj" fmla="val 3000"/>
            </a:avLst>
          </a:prstGeom>
          <a:solidFill>
            <a:srgbClr val="FB062F"/>
          </a:solidFill>
          <a:ln w="1270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4114800" y="2359152"/>
            <a:ext cx="8229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1">
                <a:solidFill>
                  <a:srgbClr val="141617"/>
                </a:solidFill>
              </a:rPr>
              <a:t>0.20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0" y="3063240"/>
            <a:ext cx="640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338328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FB062F"/>
                </a:solidFill>
              </a:rPr>
              <a:t>빨강 = 탐색한 후보 (visited 0, 2, 4)  ·  1번(0.93)은 후보에도 못 들어감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212080" y="1051560"/>
            <a:ext cx="3474720" cy="141732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5349240" y="1143000"/>
            <a:ext cx="320040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exact = set(np.argsort(-scores)[:2])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visited = np.array([0, 2, 4])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approx = set(visited[</a:t>
            </a:r>
          </a:p>
          <a:p>
            <a:pPr algn="l"/>
            <a:r>
              <a:rPr sz="9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  np.argsort(-scores[visited])[:2]])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212080" y="2606040"/>
            <a:ext cx="3474720" cy="54864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5349240" y="2679192"/>
            <a:ext cx="3200400" cy="4023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[0, 1] [0, 2]</a:t>
            </a:r>
          </a:p>
          <a:p>
            <a:pPr algn="l"/>
            <a:r>
              <a:rPr sz="1100" b="0">
                <a:solidFill>
                  <a:srgbClr val="E0E1E5"/>
                </a:solidFill>
                <a:latin typeface="Consolas"/>
                <a:ea typeface="Consolas"/>
                <a:cs typeface="Consolas"/>
              </a:rPr>
              <a:t>0.5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3749039"/>
            <a:ext cx="8229600" cy="8229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640080" y="3858768"/>
            <a:ext cx="786384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050" b="0">
                <a:solidFill>
                  <a:srgbClr val="141617"/>
                </a:solidFill>
              </a:rPr>
              <a:t>후보를 더 넓게 탐색하면 누락이 줄지만 시간이 늘어요. hnsw_ef가 탐색 범위, exact=True가 비교 기준이 되는 전수 검색이에요.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ANN Recall과 정답 문서 Recall은 다른 평가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graphicFrame>
        <p:nvGraphicFramePr>
          <p:cNvPr id="26" name="Table 25"/>
          <p:cNvGraphicFramePr>
            <a:graphicFrameLocks noGrp="1"/>
          </p:cNvGraphicFramePr>
          <p:nvPr/>
        </p:nvGraphicFramePr>
        <p:xfrm>
          <a:off x="457200" y="1097280"/>
          <a:ext cx="8229600" cy="1371600"/>
        </p:xfrm>
        <a:graphic>
          <a:graphicData uri="http://schemas.openxmlformats.org/drawingml/2006/table">
            <a:tbl>
              <a:tblPr firstRow="0" bandRow="0">
                <a:tableStyleId>{5940675A-B579-460E-94D1-54222C63F5DA}</a:tableStyleId>
              </a:tblPr>
              <a:tblGrid>
                <a:gridCol w="2194560"/>
                <a:gridCol w="3108960"/>
                <a:gridCol w="2926080"/>
              </a:tblGrid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평가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비교 기준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</a:rPr>
                        <a:t>확인하는 내용</a:t>
                      </a:r>
                    </a:p>
                  </a:txBody>
                  <a:tcPr marL="73152" marR="73152" marT="27432" marB="27432" anchor="ctr">
                    <a:solidFill>
                      <a:srgbClr val="141617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ANN Recall@k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같은 벡터의 전수 검색 Top-k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근접 이웃 탐색의 누락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141617"/>
                          </a:solidFill>
                        </a:rPr>
                        <a:t>정답 문서 Recall@k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사람이 지정한 정답 문서 집합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141617"/>
                          </a:solidFill>
                        </a:rPr>
                        <a:t>질문에 필요한 문서 포함 여부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  <a:lnL w="9525">
                      <a:solidFill>
                        <a:srgbClr val="E0E1E5"/>
                      </a:solidFill>
                    </a:lnL>
                    <a:lnR w="9525">
                      <a:solidFill>
                        <a:srgbClr val="E0E1E5"/>
                      </a:solidFill>
                    </a:lnR>
                    <a:lnT w="9525">
                      <a:solidFill>
                        <a:srgbClr val="E0E1E5"/>
                      </a:solidFill>
                    </a:lnT>
                    <a:lnB w="9525">
                      <a:solidFill>
                        <a:srgbClr val="E0E1E5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7" name="Rounded Rectangle 26"/>
          <p:cNvSpPr/>
          <p:nvPr/>
        </p:nvSpPr>
        <p:spPr>
          <a:xfrm>
            <a:off x="457200" y="2743200"/>
            <a:ext cx="4023360" cy="178308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85800" y="2743200"/>
            <a:ext cx="356616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FB062F"/>
                </a:solidFill>
              </a:rPr>
              <a:t>서버 확장 실습이라면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같은 Collection · 질문 · 필터 · k 고정
exact 결과와 ANN 결과의 Point ID 비교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663440" y="2743200"/>
            <a:ext cx="4023360" cy="178308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4892040" y="2743200"/>
            <a:ext cx="3566160" cy="1783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141617"/>
                </a:solidFill>
              </a:rPr>
              <a:t>함께 기록할 것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141617"/>
                </a:solidFill>
              </a:rPr>
              <a:t>실행 시간 → 탐색 범위를 넓히는
비용이 그만한 가치가 있는지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5-4. 잘못된 삭제 대상 고치기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Hard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# TODO: to_remove에 삭제할 Point ID 집합을 계산하세요.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raise NotImplementedError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print("삭제 대상 수:", len(to_remove))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print("새 ID를 삭제하는가:", bool(to_remove &amp; new_ids))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q_hard.py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교안의 TODO를 직접 완성해요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q_hard.py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삭제 대상 수: 3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새 ID를 삭제하는가: False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old_ids | new_ids로 잡으면 5개 삭제 → 새 청크도 사라져요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5-4 갱신과 ANN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퀴즈 5-4. 잘못된 삭제 대상 고치기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7223760" y="329184"/>
            <a:ext cx="1463040" cy="411480"/>
          </a:xfrm>
          <a:prstGeom prst="roundRect">
            <a:avLst>
              <a:gd name="adj" fmla="val 50000"/>
            </a:avLst>
          </a:prstGeom>
          <a:solidFill>
            <a:srgbClr val="4141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223760" y="329184"/>
            <a:ext cx="146304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Easy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1051560"/>
            <a:ext cx="5212080" cy="2743200"/>
          </a:xfrm>
          <a:prstGeom prst="roundRect">
            <a:avLst>
              <a:gd name="adj" fmla="val 3000"/>
            </a:avLst>
          </a:prstGeom>
          <a:solidFill>
            <a:srgbClr val="0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594360" y="1143000"/>
            <a:ext cx="49377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to_remove = ____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print("삭제 대상 수:", len(to_remove))</a:t>
            </a:r>
          </a:p>
          <a:p>
            <a:pPr algn="l"/>
            <a:r>
              <a:rPr sz="1150" b="0">
                <a:solidFill>
                  <a:srgbClr val="FFD54F"/>
                </a:solidFill>
                <a:latin typeface="Consolas"/>
                <a:ea typeface="Consolas"/>
                <a:cs typeface="Consolas"/>
              </a:rPr>
              <a:t>print("새 ID를 삭제하는가:", bool(to_remove &amp; new_ids))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852160" y="1051560"/>
            <a:ext cx="2834640" cy="2743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035040" y="1143000"/>
            <a:ext cx="2514600" cy="2606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파일</a:t>
            </a:r>
          </a:p>
          <a:p>
            <a:pPr algn="l">
              <a:spcAft>
                <a:spcPts val="200"/>
              </a:spcAft>
            </a:pPr>
            <a:r>
              <a:rPr sz="1300" b="1">
                <a:solidFill>
                  <a:srgbClr val="FB062F"/>
                </a:solidFill>
                <a:latin typeface="Consolas"/>
                <a:ea typeface="Consolas"/>
                <a:cs typeface="Consolas"/>
              </a:rPr>
              <a:t>q_easy.py</a:t>
            </a:r>
          </a:p>
          <a:p>
            <a:pPr algn="l">
              <a:spcAft>
                <a:spcPts val="200"/>
              </a:spcAft>
            </a:pPr>
            <a:r>
              <a:rPr sz="1050" b="0">
                <a:solidFill>
                  <a:srgbClr val="141617"/>
                </a:solidFill>
              </a:rPr>
              <a:t>빈칸(____)을 채워요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858793"/>
                </a:solidFill>
              </a:rPr>
              <a:t>실행 (강의 폴더에서)</a:t>
            </a:r>
          </a:p>
          <a:p>
            <a:pPr algn="l">
              <a:spcAft>
                <a:spcPts val="200"/>
              </a:spcAft>
            </a:pPr>
            <a:r>
              <a:rPr sz="900" b="0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cd ch05\rag_ch05_04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141617"/>
                </a:solidFill>
                <a:latin typeface="Consolas"/>
                <a:ea typeface="Consolas"/>
                <a:cs typeface="Consolas"/>
              </a:rPr>
              <a:t>uv run q_easy.py</a:t>
            </a:r>
          </a:p>
          <a:p>
            <a:pPr algn="l">
              <a:spcAft>
                <a:spcPts val="200"/>
              </a:spcAft>
            </a:pPr>
            <a:r>
              <a:rPr sz="600" b="0">
                <a:solidFill>
                  <a:srgbClr val="141617"/>
                </a:solidFill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050" b="1">
                <a:solidFill>
                  <a:srgbClr val="141617"/>
                </a:solidFill>
              </a:rPr>
              <a:t>통과하면 ✅ 정답이에요!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3886200"/>
            <a:ext cx="8229600" cy="77724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40080" y="3931920"/>
            <a:ext cx="118872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1">
                <a:solidFill>
                  <a:srgbClr val="FB062F"/>
                </a:solidFill>
              </a:rPr>
              <a:t>확인할 결과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828800" y="3931920"/>
            <a:ext cx="6766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50" b="0">
                <a:solidFill>
                  <a:srgbClr val="141617"/>
                </a:solidFill>
              </a:rPr>
              <a:t>삭제 대상 수: 3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새 ID를 삭제하는가: False</a:t>
            </a:r>
          </a:p>
          <a:p>
            <a:pPr algn="l"/>
            <a:r>
              <a:rPr sz="950" b="0">
                <a:solidFill>
                  <a:srgbClr val="141617"/>
                </a:solidFill>
              </a:rPr>
              <a:t>old_ids | new_ids로 잡으면 5개 삭제 → 새 청크도 사라져요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0"/>
          </p:nvPr>
        </p:nvSpPr>
        <p:spPr/>
        <p:txBody>
          <a:bodyPr/>
          <a:lstStyle/>
          <a:p>
            <a:r>
              <a:rPr b="1">
                <a:solidFill>
                  <a:srgbClr val="141617"/>
                </a:solidFill>
              </a:rPr>
              <a:t>정리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idx="101"/>
          </p:nvPr>
        </p:nvSpPr>
        <p:spPr/>
        <p:txBody>
          <a:bodyPr/>
          <a:lstStyle/>
          <a:p>
            <a:r>
              <a:t>오전 결과물: 원문과 함께 저장하고, 조건으로 범위 정하기</a:t>
            </a:r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457200" cy="25603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  <p:sp>
        <p:nvSpPr>
          <p:cNvPr id="26" name="Rounded Rectangle 25"/>
          <p:cNvSpPr/>
          <p:nvPr/>
        </p:nvSpPr>
        <p:spPr>
          <a:xfrm>
            <a:off x="45720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59436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5-1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id · vector · payload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uuid5 · Upsert 1개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31343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56032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2697479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5-2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697479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Upsert · Query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697479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28 Point · current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0.8945 · 0.875 · 0.8444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416552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4663440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480060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5-3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80060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Filter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80060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travel-old 제외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28 → 5 · Range · []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519671" y="1892807"/>
            <a:ext cx="219456" cy="0"/>
          </a:xfrm>
          <a:prstGeom prst="line">
            <a:avLst/>
          </a:prstGeom>
          <a:ln w="19050">
            <a:solidFill>
              <a:srgbClr val="14161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6766559" y="1097280"/>
            <a:ext cx="1828800" cy="1600200"/>
          </a:xfrm>
          <a:prstGeom prst="roundRect">
            <a:avLst>
              <a:gd name="adj" fmla="val 8000"/>
            </a:avLst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6903720" y="1188720"/>
            <a:ext cx="1554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B062F"/>
                </a:solidFill>
              </a:rPr>
              <a:t>5-4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03720" y="1572768"/>
            <a:ext cx="15544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141617"/>
                </a:solidFill>
              </a:rPr>
              <a:t>갱신 · ANN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903720" y="2011680"/>
            <a:ext cx="155448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50" b="0">
                <a:solidFill>
                  <a:srgbClr val="858793"/>
                </a:solidFill>
              </a:rPr>
              <a:t>old − new = 3</a:t>
            </a:r>
          </a:p>
          <a:p>
            <a:pPr algn="l"/>
            <a:r>
              <a:rPr sz="950" b="0">
                <a:solidFill>
                  <a:srgbClr val="858793"/>
                </a:solidFill>
              </a:rPr>
              <a:t>3 → 5 → 2 · 0.5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57200" y="2926080"/>
            <a:ext cx="8229600" cy="1280160"/>
          </a:xfrm>
          <a:prstGeom prst="roundRect">
            <a:avLst>
              <a:gd name="adj" fmla="val 8000"/>
            </a:avLst>
          </a:prstGeom>
          <a:solidFill>
            <a:srgbClr val="FFF0F2"/>
          </a:solidFill>
          <a:ln w="19050">
            <a:solidFill>
              <a:srgbClr val="FB06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6" name="TextBox 45"/>
          <p:cNvSpPr txBox="1"/>
          <p:nvPr/>
        </p:nvSpPr>
        <p:spPr>
          <a:xfrm>
            <a:off x="685800" y="2926080"/>
            <a:ext cx="7772400" cy="12801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Aft>
                <a:spcPts val="500"/>
              </a:spcAft>
            </a:pPr>
            <a:r>
              <a:rPr sz="1300" b="1">
                <a:solidFill>
                  <a:srgbClr val="FB062F"/>
                </a:solidFill>
              </a:rPr>
              <a:t>오후 6장으로 이어지는 질문</a:t>
            </a:r>
          </a:p>
          <a:p>
            <a:pPr algn="l">
              <a:spcAft>
                <a:spcPts val="500"/>
              </a:spcAft>
            </a:pPr>
            <a:r>
              <a:rPr sz="1100" b="0">
                <a:solidFill>
                  <a:srgbClr val="141617"/>
                </a:solidFill>
              </a:rPr>
              <a:t>검색 결과(score + payload)를 그대로 모델에 넘길 수 있을까요? 근거가 부족하면 어떻게 답해야 할까요?</a:t>
            </a:r>
          </a:p>
          <a:p>
            <a:pPr algn="l">
              <a:spcAft>
                <a:spcPts val="500"/>
              </a:spcAft>
            </a:pPr>
            <a:r>
              <a:rPr sz="1100" b="1">
                <a:solidFill>
                  <a:srgbClr val="141617"/>
                </a:solidFill>
              </a:rPr>
              <a:t>→ Context 구성(S1 · S2) → 2-Step RAG → 출처 연결 → 근거 부족 시 보류</a:t>
            </a:r>
          </a:p>
        </p:txBody>
      </p:sp>
    </p:spTree>
  </p:cSld>
  <p:clrMapOvr>
    <a:masterClrMapping/>
  </p:clrMapOvr>
</p:sld>
</file>

<file path=ppt/slides/slide9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label-375"/>
          <p:cNvSpPr txBox="1"/>
          <p:nvPr/>
        </p:nvSpPr>
        <p:spPr>
          <a:xfrm>
            <a:off x="54864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RAG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Private LLM Course · 3일차 오전 마무리</a:t>
            </a:r>
            <a:endParaRPr lang="en-US" sz="12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548640" y="868680"/>
            <a:ext cx="69494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>질문과 정리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</a:rPr>
              <a:t/>
            </a:r>
            <a:endParaRPr lang="en-US" sz="3800" dirty="0"/>
          </a:p>
        </p:txBody>
      </p:sp>
      <p:sp>
        <p:nvSpPr>
          <p:cNvPr id="4" name="dlabel-376"/>
          <p:cNvSpPr txBox="1"/>
          <p:nvPr/>
        </p:nvSpPr>
        <p:spPr>
          <a:xfrm>
            <a:off x="548640" y="274320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오후 수업 전에</a:t>
            </a:r>
            <a:pPr indent="0" marL="0">
              <a:buNone/>
            </a:pPr>
            <a:r>
              <a:rPr lang="en-US" sz="1200" dirty="0">
                <a:solidFill>
                  <a:srgbClr val="858793"/>
                </a:solidFill>
              </a:rPr>
              <a:t>   확인할 것</a:t>
            </a:r>
            <a:endParaRPr lang="en-US" sz="1200" dirty="0"/>
          </a:p>
        </p:txBody>
      </p:sp>
      <p:sp>
        <p:nvSpPr>
          <p:cNvPr id="5" name="t-377"/>
          <p:cNvSpPr txBox="1"/>
          <p:nvPr/>
        </p:nvSpPr>
        <p:spPr>
          <a:xfrm>
            <a:off x="548640" y="3154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ch06/rag_ch06_01에서 uv run prepare.py</a:t>
            </a:r>
            <a:endParaRPr lang="en-US" sz="1500" dirty="0"/>
          </a:p>
        </p:txBody>
      </p:sp>
      <p:sp>
        <p:nvSpPr>
          <p:cNvPr id="6" name="t-378"/>
          <p:cNvSpPr txBox="1"/>
          <p:nvPr/>
        </p:nvSpPr>
        <p:spPr>
          <a:xfrm>
            <a:off x="548640" y="34107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벡터를 미리 만들어 두면 오후 시작이 빨라요</a:t>
            </a:r>
            <a:endParaRPr lang="en-US" sz="950" dirty="0"/>
          </a:p>
        </p:txBody>
      </p:sp>
      <p:sp>
        <p:nvSpPr>
          <p:cNvPr id="7" name="t-379"/>
          <p:cNvSpPr txBox="1"/>
          <p:nvPr/>
        </p:nvSpPr>
        <p:spPr>
          <a:xfrm>
            <a:off x="548640" y="3611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Ollama (선택)</a:t>
            </a:r>
            <a:endParaRPr lang="en-US" sz="1500" dirty="0"/>
          </a:p>
        </p:txBody>
      </p:sp>
      <p:sp>
        <p:nvSpPr>
          <p:cNvPr id="8" name="t-380"/>
          <p:cNvSpPr txBox="1"/>
          <p:nvPr/>
        </p:nvSpPr>
        <p:spPr>
          <a:xfrm>
            <a:off x="548640" y="3867912"/>
            <a:ext cx="7315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858793"/>
                </a:solidFill>
              </a:rPr>
              <a:t>6-2 · 6-4 실제 생성: ollama list에 gemma3:4b-it-q4_K_M</a:t>
            </a:r>
            <a:endParaRPr lang="en-US" sz="950" dirty="0"/>
          </a:p>
        </p:txBody>
      </p:sp>
      <p:pic>
        <p:nvPicPr>
          <p:cNvPr id="9" name="ts-381" descr="/private/tmp/claude-501/-Users-giin-Desktop-work/450004e7-3239-436b-91c3-140d15687ef1/scratchpad/deck/img/teamsparta_gr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681728"/>
            <a:ext cx="1051560" cy="1371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KANT Review">
  <a:themeElements>
    <a:clrScheme name="KANT Review">
      <a:dk1>
        <a:srgbClr val="141617"/>
      </a:dk1>
      <a:lt1>
        <a:srgbClr val="FFFFFF"/>
      </a:lt1>
      <a:dk2>
        <a:srgbClr val="0C0E13"/>
      </a:dk2>
      <a:lt2>
        <a:srgbClr val="F3F4F6"/>
      </a:lt2>
      <a:accent1>
        <a:srgbClr val="FB062F"/>
      </a:accent1>
      <a:accent2>
        <a:srgbClr val="1F8A70"/>
      </a:accent2>
      <a:accent3>
        <a:srgbClr val="41414B"/>
      </a:accent3>
      <a:accent4>
        <a:srgbClr val="858793"/>
      </a:accent4>
      <a:accent5>
        <a:srgbClr val="E0E1E5"/>
      </a:accent5>
      <a:accent6>
        <a:srgbClr val="FFF0F2"/>
      </a:accent6>
      <a:hlink>
        <a:srgbClr val="2F6FB0"/>
      </a:hlink>
      <a:folHlink>
        <a:srgbClr val="6B4FA0"/>
      </a:folHlink>
    </a:clrScheme>
    <a:fontScheme name="KANT Review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39</Slides>
  <Notes>39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Review 2일차 오전 · Private LLM Course</dc:title>
  <dc:subject>PptxGenJS Presentation</dc:subject>
  <dc:creator>김기인</dc:creator>
  <cp:lastModifiedBy>김기인</cp:lastModifiedBy>
  <cp:revision>1</cp:revision>
  <dcterms:created xsi:type="dcterms:W3CDTF">2026-10-05T08:57:24Z</dcterms:created>
  <dcterms:modified xsi:type="dcterms:W3CDTF">2026-10-05T08:57:24Z</dcterms:modified>
</cp:coreProperties>
</file>