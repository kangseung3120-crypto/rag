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326" r:id="rId8"/>
    <p:sldId id="327" r:id="rId7"/>
    <p:sldId id="328" r:id="rId6"/>
    <p:sldId id="329" r:id="rId5"/>
    <p:sldId id="330" r:id="rId4"/>
    <p:sldId id="331" r:id="rId3"/>
    <p:sldId id="332" r:id="rId46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오리엔테이션" id="{5EC71000-0000-4000-8000-000000000001}">
          <p14:sldIdLst>
            <p14:sldId id="256"/>
            <p14:sldId id="295"/>
            <p14:sldId id="296"/>
          </p14:sldIdLst>
        </p14:section>
        <p14:section name="00 실습 환경 준비" id="{5EC71001-0000-4000-8000-000000000002}">
          <p14:sldIdLst>
            <p14:sldId id="297"/>
            <p14:sldId id="298"/>
            <p14:sldId id="299"/>
          </p14:sldIdLst>
        </p14:section>
        <p14:section name="3-1 Chunk Size와 Overlap" id="{5EC71002-0000-4000-8000-000000000003}">
          <p14:sldIdLst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3-2 Fixed / Recursive / Token 청킹" id="{5EC71003-0000-4000-8000-000000000004}">
          <p14:sldIdLst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</p14:sldIdLst>
        </p14:section>
        <p14:section name="3-3 문서 구조 기반 청킹" id="{5EC71004-0000-4000-8000-000000000005}">
          <p14:sldIdLst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  <p14:section name="3-4 청킹 전략 비교와 선택" id="{5EC71005-0000-4000-8000-000000000006}">
          <p14:sldIdLst>
            <p14:sldId id="325"/>
            <p14:sldId id="326"/>
            <p14:sldId id="327"/>
            <p14:sldId id="328"/>
            <p14:sldId id="329"/>
            <p14:sldId id="330"/>
            <p14:sldId id="331"/>
          </p14:sldIdLst>
        </p14:section>
        <p14:section name="정리" id="{5EC71006-0000-4000-8000-000000000007}">
          <p14:sldIdLst>
            <p14:sldId id="332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9.xml"/><Relationship Id="rId4" Type="http://schemas.openxmlformats.org/officeDocument/2006/relationships/slide" Target="slides/slide38.xml"/><Relationship Id="rId5" Type="http://schemas.openxmlformats.org/officeDocument/2006/relationships/slide" Target="slides/slide37.xml"/><Relationship Id="rId6" Type="http://schemas.openxmlformats.org/officeDocument/2006/relationships/slide" Target="slides/slide36.xml"/><Relationship Id="rId7" Type="http://schemas.openxmlformats.org/officeDocument/2006/relationships/slide" Target="slides/slide35.xml"/><Relationship Id="rId8" Type="http://schemas.openxmlformats.org/officeDocument/2006/relationships/slide" Target="slides/slide34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99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slide" Target="slides/slide4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저장 문자</c:v>
                </c:pt>
              </c:strCache>
            </c:strRef>
          </c:tx>
          <c:spPr>
            <a:solidFill>
              <a:srgbClr val="FB062F"/>
            </a:solidFill>
          </c:spPr>
          <c:dPt>
            <c:idx val="0"/>
            <c:spPr>
              <a:solidFill>
                <a:srgbClr val="858793"/>
              </a:solidFill>
            </c:spPr>
          </c:dPt>
          <c:dPt>
            <c:idx val="2"/>
            <c:spPr>
              <a:solidFill>
                <a:srgbClr val="858793"/>
              </a:solidFill>
            </c:spPr>
          </c:dPt>
          <c:cat>
            <c:strRef>
              <c:f>Sheet1!$A$2:$A$4</c:f>
              <c:strCache>
                <c:ptCount val="3"/>
                <c:pt idx="0">
                  <c:v>80 / 0</c:v>
                </c:pt>
                <c:pt idx="1">
                  <c:v>80 / 20</c:v>
                </c:pt>
                <c:pt idx="2">
                  <c:v>100 / 20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148</c:v>
                </c:pt>
                <c:pt idx="1">
                  <c:v>188</c:v>
                </c:pt>
                <c:pt idx="2">
                  <c:v>168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1E5"/>
            </a:solidFill>
          </a:ln>
        </c:spPr>
        <c:txPr>
          <a:bodyPr/>
          <a:lstStyle/>
          <a:p>
            <a:pPr>
              <a:defRPr sz="1000">
                <a:solidFill>
                  <a:srgbClr val="14161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1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5879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문자 수</c:v>
                </c:pt>
              </c:strCache>
            </c:strRef>
          </c:tx>
          <c:spPr>
            <a:solidFill>
              <a:srgbClr val="858793"/>
            </a:solidFill>
          </c:spPr>
          <c:cat>
            <c:strRef>
              <c:f>Sheet1!$A$2:$A$4</c:f>
              <c:strCache>
                <c:ptCount val="3"/>
                <c:pt idx="0">
                  <c:v>청크 1</c:v>
                </c:pt>
                <c:pt idx="1">
                  <c:v>청크 2</c:v>
                </c:pt>
                <c:pt idx="2">
                  <c:v>청크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</c:v>
                </c:pt>
                <c:pt idx="1">
                  <c:v>70</c:v>
                </c:pt>
                <c:pt idx="2">
                  <c:v>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E5 토큰</c:v>
                </c:pt>
              </c:strCache>
            </c:strRef>
          </c:tx>
          <c:spPr>
            <a:solidFill>
              <a:srgbClr val="FB062F"/>
            </a:solidFill>
          </c:spPr>
          <c:cat>
            <c:strRef>
              <c:f>Sheet1!$A$2:$A$4</c:f>
              <c:strCache>
                <c:ptCount val="3"/>
                <c:pt idx="0">
                  <c:v>청크 1</c:v>
                </c:pt>
                <c:pt idx="1">
                  <c:v>청크 2</c:v>
                </c:pt>
                <c:pt idx="2">
                  <c:v>청크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32</c:v>
                </c:pt>
                <c:pt idx="1">
                  <c:v>40</c:v>
                </c:pt>
                <c:pt idx="2">
                  <c:v>17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1E5"/>
            </a:solidFill>
          </a:ln>
        </c:spPr>
        <c:txPr>
          <a:bodyPr/>
          <a:lstStyle/>
          <a:p>
            <a:pPr>
              <a:defRPr sz="1000">
                <a:solidFill>
                  <a:srgbClr val="14161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1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58793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858793"/>
              </a:solidFill>
            </a:defRPr>
          </a:pPr>
        </a:p>
      </c:txPr>
    </c:legend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인사 후 오늘 다룰 교안 순서 소개: 3-1 → 3-2 → 3-3 → 3-4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"document_id"   ② []   ③ "end"</a:t>
            </a:r>
          </a:p>
          <a:p/>
          <a:p>
            <a:r>
              <a:t>정답 파일: ch03\rag_ch03_04\q_solution.py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어제(1일차): **RAG 흐름**과 **문서 준비**(로딩 · Metadata · 정제 · JSONL)</a:t>
            </a:r>
          </a:p>
          <a:p>
            <a:r>
              <a:t>오늘 오전 3장: 정제한 문서를 **검색 단위(청크)로 나누기**</a:t>
            </a:r>
          </a:p>
          <a:p>
            <a:r>
              <a:t>오늘 오후 4장: 청크를 **벡터로 바꾸고** 질문과 가까운 청크 찾기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Indexing 쪽 순서: 로딩 → 정제 · Metadata(**어제**) → **청킹(오전)** → **임베딩(오후)** → 색인(5장)</a:t>
            </a:r>
          </a:p>
          <a:p>
            <a:r>
              <a:t>청크가 바뀌면 그 뒤의 벡터와 색인도 **모두 다시** 만들어야 해요.</a:t>
            </a:r>
          </a:p>
          <a:p>
            <a:r>
              <a:t>그래서 3-4에서 **공통 기준(80/20)** 을 저장하고 오후에 그대로 써요.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어제와 같은 방식: **rag_day2 열기 → uv sync 한 번 → 강의 폴더에서 uv run**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**환경(pyproject · uv.lock · .venv)은 공유**, 강의 파일은 폴더마다 따로</a:t>
            </a:r>
          </a:p>
          <a:p>
            <a:r>
              <a:t>3-2부터 **Tokenizer**, 4장은 **E5 모델(약 470MB)과 PyTorch** 를 써요.</a:t>
            </a:r>
          </a:p>
          <a:p>
            <a:r>
              <a:t>첫 실행에 모델을 내려받아요 → **점심 전에 4-1 check_embedding.py를 한 번 돌려 두면** 오후가 편해요.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처음 한 번: rag_day2에서 **uv sync**</a:t>
            </a:r>
          </a:p>
          <a:p>
            <a:r>
              <a:t>강의마다: **cd ch03\rag_ch03_01 → uv run main.py**, 4장은 **prepare.py 먼저**</a:t>
            </a:r>
          </a:p>
          <a:p>
            <a:r>
              <a:t>교안의 uv init · uv add는 **건너뛰어요**.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흐름: 왜 자르나 → 80자로 자르면 생기는 문제 → **겹침(overlap)** 과 **이동 간격** → 위치를 담은 청커 → 저장량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문서 하나 = 검색 단위면, 질문과 **관련 없는 문장도 모델 입력에 같이** 들어가요.</a:t>
            </a:r>
          </a:p>
          <a:p>
            <a:r>
              <a:t>그래서 본문을 **작은 조각(청크)** 으로 나눠 검색 단위로 써요 = **청킹**</a:t>
            </a:r>
          </a:p>
          <a:p>
            <a:r>
              <a:t>처음엔 travel 148자 **하나만** 대상으로 경계를 눈으로 확인해요.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원문 148자를 **[0:80] / [80:160]** 으로 자르면 첫 조각이 **"서면"** 에서 끝나요.</a:t>
            </a:r>
          </a:p>
          <a:p>
            <a:r>
              <a:t>앞 조각만 검색되면 **무엇을 받아야 하는지**가 없고, 뒤 조각만 검색되면 **무엇에 대한 승인인지** 몰라요.</a:t>
            </a:r>
          </a:p>
          <a:p>
            <a:r>
              <a:t>슬라이스 끝은 **포함하지 않아요**: [0:80]은 0~79번 문자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이동 간격 = **size − overlap = 80 − 20 = 60** → 시작 위치 **0, 60, 120**</a:t>
            </a:r>
          </a:p>
          <a:p>
            <a:r>
              <a:t>마지막 구간은 **120:148** — 끝은 원문 길이를 넘지 못해요 (min).</a:t>
            </a:r>
          </a:p>
          <a:p>
            <a:r>
              <a:t>**[60:80] 20자**가 두 청크에 함께 들어가요.</a:t>
            </a:r>
          </a:p>
          <a:p>
            <a:r>
              <a:t>손계산: 100/20이면? → **[0:100], [80:148]** (퀴즈에서 확인)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range의 세 번째 인자 = **이동 간격(size − overlap)**</a:t>
            </a:r>
          </a:p>
          <a:p>
            <a:r>
              <a:t>**min(start + size, len(text))** 로 마지막 끝을 원문 길이로 제한, 끝에 닿으면 **break**</a:t>
            </a:r>
          </a:p>
          <a:p>
            <a:r>
              <a:t>결과에 **(start, end, piece)** 를 함께 담아야 나중에 원문 위치를 찾아요.</a:t>
            </a:r>
          </a:p>
          <a:p>
            <a:r>
              <a:t>겹쳐도 2번 조각은 **"숙박은"부터** 시작 → "한도 초과"가 빠져요. 겹침이 만능은 아니에요.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80/0 → **148자**(원문과 같음), 80/20 → **188자**(+40), 100/20 → **168자**(+20)</a:t>
            </a:r>
          </a:p>
          <a:p>
            <a:r>
              <a:t>겹친 구간이 **두 번 저장**되기 때문이에요.</a:t>
            </a:r>
          </a:p>
          <a:p>
            <a:r>
              <a:t>문자 합계일 뿐 **벡터 · 인덱스 크기는 아니에요**. 비교할 땐 같은 문서 · 같은 질문으로.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겹침이 크기 이상이면 이동 간격이 0 이하가 되므로 실행 전에 막아요.</a:t>
            </a:r>
          </a:p>
          <a:p>
            <a:r>
              <a:t># 본문을 자르는 로직은 windows를 그대로 재사용해 검증과 분할의 역할을 나눠요.</a:t>
            </a:r>
          </a:p>
          <a:p>
            <a:r>
              <a:t>def checked_windows(text, size, overlap):</a:t>
            </a:r>
          </a:p>
          <a:p>
            <a:r>
              <a:t>    if not 0 &lt;= overlap &lt; size:</a:t>
            </a:r>
          </a:p>
          <a:p>
            <a:r>
              <a:t>        raise ValueError("0 &lt;= overlap &lt; size")</a:t>
            </a:r>
          </a:p>
          <a:p>
            <a:r>
              <a:t>    return windows(text, size, overlap)</a:t>
            </a:r>
          </a:p>
          <a:p/>
          <a:p>
            <a:r>
              <a:t>생각해 보기: overlap을 0→10→20으로 바꾸며 저장 문자 수와 승인 문장이 들어간 청크를 비교해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0   ② size   ③ ValueError   ④ windows</a:t>
            </a:r>
          </a:p>
          <a:p/>
          <a:p>
            <a:r>
              <a:t>정답 파일: ch03\rag_ch03_01\q_solution.py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손잡이를 **하나씩** 바꿔요: **어디서 자를지**(경계) · **무엇으로 셀지**(문자 vs Token)</a:t>
            </a:r>
          </a:p>
          <a:p>
            <a:r>
              <a:t>하나씩 바꿔야 결과가 달라진 **원인**을 알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Fixed: 글자 수 위치에서 기계적으로 → **"서면" / "정" / "니다."** 에서 끊김</a:t>
            </a:r>
          </a:p>
          <a:p>
            <a:r>
              <a:t>Recursive: **문장 경계(. ) 먼저** → 조각 하나만 읽어도 뜻이 통해요.</a:t>
            </a:r>
          </a:p>
          <a:p>
            <a:r>
              <a:t>단, ". " 기준은 **이 샘플에서만** 통하는 가정 (소수점 · 약어 · 목록 주의)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구분자 순서: **". " → " " → ""** (문장 → 단어 → 문자)</a:t>
            </a:r>
          </a:p>
          <a:p>
            <a:r>
              <a:t>keep_separator="end": 마침표를 **앞 조각 끝**에, strip_whitespace=False: 경계 공백 유지</a:t>
            </a:r>
          </a:p>
          <a:p>
            <a:r>
              <a:t>**overlap=20인데 실제 겹침 0** — 20자 이하 조각이 없어서. overlap은 **목표값**이에요.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E5 Tokenizer로 **"passage: " + 청크**를 세요 (모델 입력과 똑같이)</a:t>
            </a:r>
          </a:p>
          <a:p>
            <a:r>
              <a:t>54자 → **32토큰**, 70자 → **40토큰**, 24자 → **17토큰**: 비율이 일정하지 않아요.</a:t>
            </a:r>
          </a:p>
          <a:p>
            <a:r>
              <a:t>그래서 "한글 몇 글자 = 몇 토큰" **고정 환산식은 쓰기 어려워요.**</a:t>
            </a:r>
          </a:p>
          <a:p>
            <a:r>
              <a:t>Tokenizer만 실행해요. 임베딩 계산은 아직 안 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from_huggingface_tokenizer: **분할 방식은 그대로, 길이 함수만 Tokenizer로**</a:t>
            </a:r>
          </a:p>
          <a:p>
            <a:r>
              <a:t>chunk_size=50은 **토큰 50**이에요. 문자 80과 **단위가 달라서** 크기를 비교하면 안 돼요.</a:t>
            </a:r>
          </a:p>
          <a:p>
            <a:r>
              <a:t>결과 2조각: **51토큰 / 33토큰** — 설정 50인데 51? 분할 땐 **접두사 · 특수 토큰이 빠져** 있었기 때문</a:t>
            </a:r>
          </a:p>
          <a:p>
            <a:r>
              <a:t>→ 최종 입력 조립 방식 그대로 **다시 재야** 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실습용으로 **30토큰 제한**을 강제로: 전체 **79토큰 → 30토큰**</a:t>
            </a:r>
          </a:p>
          <a:p>
            <a:r>
              <a:t>디코딩해 보면 **"예약 전 서면 승인" 조건이 사라짐** → 이 조건을 묻는 질문엔 잘 안 걸려요.</a:t>
            </a:r>
          </a:p>
          <a:p>
            <a:r>
              <a:t>잘림은 **오류 없이** 일어나요. 실행 성공 ≠ 입력 전체 처리</a:t>
            </a:r>
          </a:p>
          <a:p>
            <a:r>
              <a:t>E5와 생성 모델은 **Tokenizer · 한도가 달라요** → 모델마다 따로 계산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각 조각에 문자 수와 E5 최종 입력 토큰 수를 나란히 기록해요.</a:t>
            </a:r>
          </a:p>
          <a:p>
            <a:r>
              <a:t># 최대 토큰 수를 비교하면 어떤 분할 방식이 입력 한도에 더 가까운지 알 수 있어요.</a:t>
            </a:r>
          </a:p>
          <a:p>
            <a:r>
              <a:t>def measure_chunks(pieces, tokenizer):</a:t>
            </a:r>
          </a:p>
          <a:p>
            <a:r>
              <a:t>    return [{"text": text, "chars": len(text),</a:t>
            </a:r>
          </a:p>
          <a:p>
            <a:r>
              <a:t>             "input_tokens": len(tokenizer("passage: " + text)["input_ids"])}</a:t>
            </a:r>
          </a:p>
          <a:p>
            <a:r>
              <a:t>            for text in pieces]</a:t>
            </a:r>
          </a:p>
          <a:p/>
          <a:p>
            <a:r>
              <a:t>생각해 보기: 고정 분할은 최대 토큰이 더 작지만 '서면 승인' 조건을 끊었어요. 길이만으로 청크 품질을 판단할 수 없는 이유를 설명해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len   ② "passage: "   ③ pieces</a:t>
            </a:r>
          </a:p>
          <a:p/>
          <a:p>
            <a:r>
              <a:t>정답 파일: ch03\rag_ch03_02\q_solution.py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쉬는 시간 10분 · 다음은 3-3 문서 구조 기반 청킹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글자 수만 맞추면 **서로 다른 규정이 한 청크에 섞일** 수 있어요.</a:t>
            </a:r>
          </a:p>
          <a:p>
            <a:r>
              <a:t>그래서 **제목으로 먼저 나누고**, 절 안에서만 크기를 줄여요.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education(교육비) + remote(재택근무)를 **## 제목**을 붙여 한 문자열로 → 실무의 여러 규정 한 파일</a:t>
            </a:r>
          </a:p>
          <a:p>
            <a:r>
              <a:t>글자 수로 아무 데서나 자르면 **교육비 마지막 조건 + 재택근무 첫 조건**이 한 청크에</a:t>
            </a:r>
          </a:p>
          <a:p>
            <a:r>
              <a:t>제목을 경계로 먼저 나누면 **각 절의 범위가 유지**돼요.</a:t>
            </a:r>
          </a:p>
          <a:p>
            <a:r>
              <a:t>Semantic Chunking(유사도 계산)과 달리 **이미 있는 제목 구조**를 써요.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MarkdownHeaderTextSplitter: **## 제목 → metadata["section"]**, 본문에선 제목 줄 제거(strip_headers 기본)</a:t>
            </a:r>
          </a:p>
          <a:p>
            <a:r>
              <a:t>splitter는 **제목만** 알려 줘요 → by_title로 원문을 찾아 **metadata.update + document_id**</a:t>
            </a:r>
          </a:p>
          <a:p>
            <a:r>
              <a:t>이 샘플은 제목이 달라서 가능. **제목이 반복되면** 파일 ID · 제목 경로가 필요해요.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제목 분할만으로는 **길이를 제한 못 해요** → 절마다 Recursive를 한 번 더</a:t>
            </a:r>
          </a:p>
          <a:p>
            <a:r>
              <a:t>Document 목록이니까 **split_documents** → 본문을 나누며 **metadata를 각 청크에 전달**</a:t>
            </a:r>
          </a:p>
          <a:p>
            <a:r>
              <a:t>결과: **education 3조각, remote 2조각**, 모든 청크에 원문 ID</a:t>
            </a:r>
          </a:p>
          <a:p>
            <a:r>
              <a:t>overlap도 **절 안에서만** → 앞 문서 내용이 다음 절로 반복되지 않아요.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임베딩 모델은 **넘겨준 문자열만** 벡터로 바꿔요 → metadata 제목은 **자동 반영 안 됨**</a:t>
            </a:r>
          </a:p>
          <a:p>
            <a:r>
              <a:t>제목도 검색에 쓰려면 **embedding_text = 제목 + \n + 본문**을 따로 만들어요 (원문은 그대로).</a:t>
            </a:r>
          </a:p>
          <a:p>
            <a:r>
              <a:t>"개인 취미 강좌는 규정되어 있지 않다" 같은 **예외 · 미규정 문장도 청크 본문에 남겨야** 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교안 5절은 **설명만** 있고 실습 자료는 문단이에요. 그래서 그림으로 보여 줘요.</a:t>
            </a:r>
          </a:p>
          <a:p>
            <a:r>
              <a:t>표에서 **값만 떼면** "30만원"이 어느 항목 값인지 몰라요 → **행마다 열 이름을 붙여** 나눠요.</a:t>
            </a:r>
          </a:p>
          <a:p>
            <a:r>
              <a:t>목록의 "위 항목은 제외" 같은 예외는 **가리키는 대상과 같은 청크**에 있거나, 검색 후 범위를 넓혀야 해요.</a:t>
            </a:r>
          </a:p>
          <a:p>
            <a:r>
              <a:t>표 · 이미지를 직접 다루는 건 **9장 4강(Multimodal RAG)**에서 다시 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청크 본문 앞에 원문 ID와 제목을 붙여 출처와 주제를 함께 보여 줘요.</a:t>
            </a:r>
          </a:p>
          <a:p>
            <a:r>
              <a:t># 검색용 문자열을 보강해도 원래 page_content와 metadata는 수정하지 않아요.</a:t>
            </a:r>
          </a:p>
          <a:p>
            <a:r>
              <a:t>def tagged_text(piece):</a:t>
            </a:r>
          </a:p>
          <a:p>
            <a:r>
              <a:t>    title = piece.metadata["title"]</a:t>
            </a:r>
          </a:p>
          <a:p>
            <a:r>
              <a:t>    did = piece.metadata["document_id"]</a:t>
            </a:r>
          </a:p>
          <a:p>
            <a:r>
              <a:t>    return f"[{did}] {title}\n{piece.page_content}"</a:t>
            </a:r>
          </a:p>
          <a:p/>
          <a:p>
            <a:r>
              <a:t>생각해 보기: 크기를 80→60으로 줄이면 각 ID의 청크 수가 어떻게 바뀌고, 교육비 마지막 조건이 온전히 읽히는지 확인해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"title"   ② "document_id"   ③ page_content</a:t>
            </a:r>
          </a:p>
          <a:p/>
          <a:p>
            <a:r>
              <a:t>정답 파일: ch03\rag_ch03_03\q_solution.py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이번엔 **방식은 고정 문자 하나**, 크기 · 겹침만 바꿔요 (변수 하나만).</a:t>
            </a:r>
          </a:p>
          <a:p>
            <a:r>
              <a:t>핵심 질문: 숙박 금액 · 영수증 · **승인 조건을 청크에서 온전히 읽을 수 있나?**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travel 첫 세 문장 = **숙박 한도 · 영수증 · 초과 승인** (28 · 24 · 38자)</a:t>
            </a:r>
          </a:p>
          <a:p>
            <a:r>
              <a:t>승인 문장이 **가장 길고 가장 뒤**에 있어요 → 경계에 걸리기 쉬움</a:t>
            </a:r>
          </a:p>
          <a:p>
            <a:r>
              <a:t>원문 · 근거 문장 · 알고리즘은 고정, **size와 overlap만** 바꿔요. Recursive · Token은 3-2에서 따로 비교했어요.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전체 청크 **24 → 28 → 22**, travel 저장 문자 **148 → 188 → 168**</a:t>
            </a:r>
          </a:p>
          <a:p>
            <a:r>
              <a:t>근거 보존: 80/0 · 80/20은 **[✓, ✓, ✗]**, 100/20만 **[✓, ✓, ✓]**</a:t>
            </a:r>
          </a:p>
          <a:p>
            <a:r>
              <a:t>True = **한 청크 안에 문장 전체가 있다**는 뜻일 뿐, 검색 성공률 · 답변 정확도가 아니에요.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청크 1은 **"서면"에서 잘림**, 청크 2는 겹침 덕에 앞을 일부 담지만 **"숙박은"부터** → "한도 초과" 빠짐</a:t>
            </a:r>
          </a:p>
          <a:p>
            <a:r>
              <a:t>승인 문장 전체를 담은 청크가 **하나도 없어서 False**</a:t>
            </a:r>
          </a:p>
          <a:p>
            <a:r>
              <a:t>개선 후보: **크기 100**, **문장 경계 우선**, **검색 후 인접 청크 함께 가져오기**</a:t>
            </a:r>
          </a:p>
          <a:p>
            <a:r>
              <a:t>100/20이 이 세 문장엔 좋았지만 **다른 규정 · 질문**에서도 그런지는 추가 비교가 필요해요.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4~8장에서 임베딩 · 검색 · 평가를 비교하려면 **같은 청크**가 필요해요 → **80/20을 공통 기준선**으로 저장</a:t>
            </a:r>
          </a:p>
          <a:p>
            <a:r>
              <a:t>80/20은 **최적이 아니에요**. 끊긴 승인 문장은 뒤에서 검색 결과를 평가할 **사례로 남겨** 둬요 (9장 Parent-Child).</a:t>
            </a:r>
          </a:p>
          <a:p>
            <a:r>
              <a:t>chunk_id = **문서ID : 본문해시12 : size : overlap : start** → 원문이나 설정이 바뀌면 ID도 바뀜</a:t>
            </a:r>
          </a:p>
          <a:p>
            <a:r>
              <a:t>documents.jsonl은 한 줄에 문서, chunks.json은 **청크 목록 하나의 JSON 배열**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원문 ID별로 청크의 문자 구간을 모아 겹침과 빈 구간을 살펴볼 수 있게 해요.</a:t>
            </a:r>
          </a:p>
          <a:p>
            <a:r>
              <a:t># 범위 목록을 출력하는 함수이며 완전한 원문 복원 여부를 자동 판정하지는 않아요.</a:t>
            </a:r>
          </a:p>
          <a:p>
            <a:r>
              <a:t>def coverage_by_document(chunks):</a:t>
            </a:r>
          </a:p>
          <a:p>
            <a:r>
              <a:t>    result = {}</a:t>
            </a:r>
          </a:p>
          <a:p>
            <a:r>
              <a:t>    for c in chunks:</a:t>
            </a:r>
          </a:p>
          <a:p>
            <a:r>
              <a:t>        result.setdefault(c["document_id"], []).append((c["start"], c["end"]))</a:t>
            </a:r>
          </a:p>
          <a:p>
            <a:r>
              <a:t>    return result</a:t>
            </a:r>
          </a:p>
          <a:p/>
          <a:p>
            <a:r>
              <a:t>생각해 보기: 원본 범위를 보관하는 작업과, 검색할 때 status: current만 고르는 필터가 왜 다른 단계인지 설명해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질문 받고 마무리. 오후 수업 전에 확인할 것: ch04/rag_ch04_01에서 uv run check_embedding.py / ch03/rag_ch03_04/chunks.json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3-1 이동 간격 = size − overlap, 겹침은 **맥락 vs 저장량**</a:t>
            </a:r>
          </a:p>
          <a:p>
            <a:r>
              <a:t>3-2 경계(문장 우선)와 길이 단위(**토큰**)를 따로, **Truncation은 조용히** 잘라요.</a:t>
            </a:r>
          </a:p>
          <a:p>
            <a:r>
              <a:t>3-3 제목으로 먼저 나누고 **metadata 전달**, 제목은 **embedding_text로 따로**</a:t>
            </a:r>
          </a:p>
          <a:p>
            <a:r>
              <a:t>3-4 **80/20 chunks.json 28개** → 오후 4장의 입력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>
            <p:ph idx="103" type="title" hasCustomPrompt="1"/>
          </p:nvPr>
        </p:nvSpPr>
        <p:spPr>
          <a:xfrm>
            <a:off x="548640" y="18288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548640" y="315468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46304"/>
            <a:ext cx="658368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84048"/>
            <a:ext cx="822960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pic>
        <p:nvPicPr>
          <p:cNvPr id="4" name="Image 0" descr="/private/tmp/claude-501/-Users-giin-Desktop-work/450004e7-3239-436b-91c3-140d15687ef1/scratchpad/deck/img/kant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28032"/>
            <a:ext cx="713232" cy="14630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98448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RAG · Private LLM Course · 2일차 오전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99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Private LLM Course · 2일차 오전 · 4시간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근거가 끊기지 않게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문서를 조각내는 청킹</a:t>
            </a:r>
            <a:endParaRPr lang="en-US" sz="3800" dirty="0"/>
          </a:p>
        </p:txBody>
      </p:sp>
      <p:sp>
        <p:nvSpPr>
          <p:cNvPr id="4" name="dlabel-2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오늘 다루는 교안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따라갈 순서</a:t>
            </a:r>
            <a:endParaRPr lang="en-US" sz="1200" dirty="0"/>
          </a:p>
        </p:txBody>
      </p:sp>
      <p:sp>
        <p:nvSpPr>
          <p:cNvPr id="5" name="t-3"/>
          <p:cNvSpPr txBox="1"/>
          <p:nvPr/>
        </p:nvSpPr>
        <p:spPr>
          <a:xfrm>
            <a:off x="5486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3-1  Chunk Size와 Overlap</a:t>
            </a:r>
            <a:endParaRPr lang="en-US" sz="1500" dirty="0"/>
          </a:p>
        </p:txBody>
      </p:sp>
      <p:sp>
        <p:nvSpPr>
          <p:cNvPr id="6" name="t-4"/>
          <p:cNvSpPr txBox="1"/>
          <p:nvPr/>
        </p:nvSpPr>
        <p:spPr>
          <a:xfrm>
            <a:off x="5486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이동 간격, 위치를 담은 청커, 저장량</a:t>
            </a:r>
            <a:endParaRPr lang="en-US" sz="950" dirty="0"/>
          </a:p>
        </p:txBody>
      </p:sp>
      <p:sp>
        <p:nvSpPr>
          <p:cNvPr id="7" name="t-5"/>
          <p:cNvSpPr txBox="1"/>
          <p:nvPr/>
        </p:nvSpPr>
        <p:spPr>
          <a:xfrm>
            <a:off x="5486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3-2  Fixed / Recursive / Token 청킹</a:t>
            </a:r>
            <a:endParaRPr lang="en-US" sz="1500" dirty="0"/>
          </a:p>
        </p:txBody>
      </p:sp>
      <p:sp>
        <p:nvSpPr>
          <p:cNvPr id="8" name="t-6"/>
          <p:cNvSpPr txBox="1"/>
          <p:nvPr/>
        </p:nvSpPr>
        <p:spPr>
          <a:xfrm>
            <a:off x="5486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문장 경계, E5 Tokenizer, Truncation</a:t>
            </a:r>
            <a:endParaRPr lang="en-US" sz="950" dirty="0"/>
          </a:p>
        </p:txBody>
      </p:sp>
      <p:sp>
        <p:nvSpPr>
          <p:cNvPr id="9" name="t-7"/>
          <p:cNvSpPr txBox="1"/>
          <p:nvPr/>
        </p:nvSpPr>
        <p:spPr>
          <a:xfrm>
            <a:off x="46634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3-3  한국어 / 문서 구조 기반 청킹</a:t>
            </a:r>
            <a:endParaRPr lang="en-US" sz="1500" dirty="0"/>
          </a:p>
        </p:txBody>
      </p:sp>
      <p:sp>
        <p:nvSpPr>
          <p:cNvPr id="10" name="t-8"/>
          <p:cNvSpPr txBox="1"/>
          <p:nvPr/>
        </p:nvSpPr>
        <p:spPr>
          <a:xfrm>
            <a:off x="46634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제목 분할, Metadata 전달, 검색용 입력</a:t>
            </a:r>
            <a:endParaRPr lang="en-US" sz="950" dirty="0"/>
          </a:p>
        </p:txBody>
      </p:sp>
      <p:sp>
        <p:nvSpPr>
          <p:cNvPr id="11" name="t-9"/>
          <p:cNvSpPr txBox="1"/>
          <p:nvPr/>
        </p:nvSpPr>
        <p:spPr>
          <a:xfrm>
            <a:off x="46634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3-4  청킹 전략 비교와 선택</a:t>
            </a:r>
            <a:endParaRPr lang="en-US" sz="1500" dirty="0"/>
          </a:p>
        </p:txBody>
      </p:sp>
      <p:sp>
        <p:nvSpPr>
          <p:cNvPr id="12" name="t-10"/>
          <p:cNvSpPr txBox="1"/>
          <p:nvPr/>
        </p:nvSpPr>
        <p:spPr>
          <a:xfrm>
            <a:off x="46634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근거 보존 비교, chunks.json 저장</a:t>
            </a:r>
            <a:endParaRPr lang="en-US" sz="950" dirty="0"/>
          </a:p>
        </p:txBody>
      </p:sp>
      <p:pic>
        <p:nvPicPr>
          <p:cNvPr id="13" name="ts-11" descr="/private/tmp/claude-501/-Users-giin-Desktop-work/450004e7-3239-436b-91c3-140d15687ef1/scratchpad/deck/img/teamsparta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오리엔테이션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2일차: 오전은 청킹, 오후는 임베딩과 Dense 검색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4023360" cy="31089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1234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오전 · 4시간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5544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1617"/>
                </a:solidFill>
              </a:rPr>
              <a:t>3장  청킹 전략과 비교 실험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057400"/>
            <a:ext cx="3566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3-1 Chunk Size와 Overlap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3-2 Fixed · Recursive · Token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3-3 문서 구조 기반 청킹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3-4 청킹 전략 비교와 선택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1097280"/>
            <a:ext cx="4023360" cy="3108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892040" y="1234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오후 · 4시간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15544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1617"/>
                </a:solidFill>
              </a:rPr>
              <a:t>4장  임베딩과 Dense Retrieval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2057400"/>
            <a:ext cx="3566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4-1 텍스트 임베딩과 벡터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4-2 코사인 유사도와 Top-k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4-3 Top-k와 Threshold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4-4 모델 비교와 Dense 기준선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498848" y="265176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58793"/>
                </a:solidFill>
              </a:rPr>
              <a:t>오늘 실습은 rag_day2 폴더 하나에서 진행해요. 3-4에서 저장한 80/20 청크가 오후 4장의 입력이 돼요.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오리엔테이션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전체 구조에서 오늘의 위치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17320"/>
            <a:ext cx="150876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417320"/>
            <a:ext cx="128930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문서 로딩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TXT · HTML · 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858793"/>
                </a:solidFill>
              </a:rPr>
              <a:t>어제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984248" y="1938528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148840" y="1417320"/>
            <a:ext cx="150876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258568" y="1417320"/>
            <a:ext cx="128930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정제 · Metadata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status · 출처 · 중복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858793"/>
                </a:solidFill>
              </a:rPr>
              <a:t>어제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675887" y="1938528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840480" y="1417320"/>
            <a:ext cx="150876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950208" y="1417320"/>
            <a:ext cx="128930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청킹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크기 · 겹침 · 구조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오전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67528" y="1938528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532120" y="1417320"/>
            <a:ext cx="15087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41848" y="1417320"/>
            <a:ext cx="128930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임베딩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E5 · 384차원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오후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059168" y="1938528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223760" y="1417320"/>
            <a:ext cx="150876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333488" y="1417320"/>
            <a:ext cx="128930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색인 · 검색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Qdrant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858793"/>
                </a:solidFill>
              </a:rPr>
              <a:t>5장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2788920"/>
            <a:ext cx="822960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85800" y="2852928"/>
            <a:ext cx="7772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58793"/>
                </a:solidFill>
              </a:rPr>
              <a:t>오늘 계속 보는 문장 하나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41617"/>
                </a:solidFill>
              </a:rPr>
              <a:t>travel 148자: </a:t>
            </a:r>
            <a:r>
              <a:rPr sz="1100" b="0">
                <a:solidFill>
                  <a:srgbClr val="141617"/>
                </a:solidFill>
              </a:rPr>
              <a:t>국내 출장 숙박 비용 한도는 1박당 12만원입니다. 숙박 영수증을 첨부해야 정산할 수 있습니다. </a:t>
            </a:r>
            <a:r>
              <a:rPr sz="1100" b="1">
                <a:solidFill>
                  <a:srgbClr val="FB062F"/>
                </a:solidFill>
              </a:rPr>
              <a:t>한도 초과 숙박은 예약 전에 담당 임원의 서면 승인을 받아야 합니다.</a:t>
            </a:r>
            <a:r>
              <a:rPr sz="1100" b="0">
                <a:solidFill>
                  <a:srgbClr val="141617"/>
                </a:solidFill>
              </a:rPr>
              <a:t> 승인 없이 초과 지출한 금액은 … 교통비와 식비를 정하지 않습니다.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41617"/>
                </a:solidFill>
              </a:rPr>
              <a:t>→ 빨간 승인 조건이 청크 경계에서 끊기는지를 오전 내내 따라가요.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준비 </a:t>
            </a:r>
            <a:r>
              <a:rPr b="1">
                <a:solidFill>
                  <a:srgbClr val="FB062F"/>
                </a:solidFill>
              </a:rPr>
              <a:t>00</a:t>
            </a:r>
            <a:r>
              <a:rPr b="1">
                <a:solidFill>
                  <a:srgbClr val="858793"/>
                </a:solidFill>
              </a:rPr>
              <a:t>   실습 환경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실습 환경 준비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rag_day2 폴더 열기 → uv sync 한 번 → 강의 폴더로 이동해 uv run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00 실습 환경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폴더 하나에 8개 강의, 환경은 하나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023360" cy="35204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749040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rag_day2/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pyproject.toml   # 필요한 패키지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uv.lock          # 고정된 버전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.venv/           # uv sync가 만듦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ch03/  (오전)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rag_ch03_01/ … rag_ch03_04/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ch04/  (오후)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rag_ch04_01/ … rag_ch04_04/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강의 폴더 = 노션 ZIP과 같음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+ q_easy.py · q_hard.py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+ q_solution.py  (퀴즈)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754880" y="1051560"/>
          <a:ext cx="3931920" cy="23042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0312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패키지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쓰는 강의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langchain-text-splitters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3-2 · 3-3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langchain-core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3-3 (Document)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transformers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3-2 Tokenizer · 4장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sentence-transformers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4장 E5 임베딩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numpy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4장 벡터 계산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4754880" y="3520440"/>
            <a:ext cx="393192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937760" y="3630168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uv sync가 PyTorch까지 설치해서 처음엔 몇 분 걸려요.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모델은 첫 실행 때 내려받고 이후 캐시를 써요.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00 실습 환경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명령은 두 단계: 처음에 sync, 강의마다 run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023360" cy="14630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749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--version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python install 3.12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sync   # rag_day2에서 한 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1051560"/>
            <a:ext cx="4023360" cy="14630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00600" y="1143000"/>
            <a:ext cx="3749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cd ch03\rag_ch03_01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main.py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solution.py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q_easy.py   # 퀴즈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697480"/>
            <a:ext cx="8229600" cy="9144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2788920"/>
            <a:ext cx="79552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cd ch04\rag_ch04_02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prepare.py   # 4-2 ~ 4-4: 벡터를 먼저 만들어요 (vectors.npy)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main.py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457200" y="3749039"/>
          <a:ext cx="8229600" cy="8229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931920"/>
                <a:gridCol w="429768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증상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해결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os error 396 (하드 링크)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setx UV_LINK_MODE copy → 새 터미널 → uv sync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FileNotFoundError: vectors.npy / embedding_config.json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그 강의 폴더에서 uv run prepare.py 먼저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3-1</a:t>
            </a:r>
            <a:r>
              <a:rPr b="1">
                <a:solidFill>
                  <a:srgbClr val="858793"/>
                </a:solidFill>
              </a:rPr>
              <a:t>   Size와 Overlap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Chunk Size와 Overlap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문서를 왜 자를까 → 80자 자르기의 문제 → 겹침과 이동 간격 → 위치를 함께 반환하는 청커 → 저장량 비교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3-1 Size와 Overlap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문서를 통째로 쓰면 필요 없는 내용까지 함께 가요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43000"/>
            <a:ext cx="393192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143000"/>
            <a:ext cx="3712463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문서 단위 검색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travel 전체 148자가 통째로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질문과 상관없는 조건까지 입력에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1143000"/>
            <a:ext cx="3931920" cy="13258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64608" y="1143000"/>
            <a:ext cx="3712463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청크 단위 검색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필요한 조각만 골라 입력에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→ 조각의 경계가 중요해져요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57200" y="2697480"/>
          <a:ext cx="8229600" cy="15361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62179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처음 만나는 표현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뜻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Chunk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검색과 임베딩에 사용할 문서의 작은 조각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Size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조각 하나의 최대 문자 수 (이번 함수 기준)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Overlap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앞 조각의 끝과 다음 조각의 시작에 반복되는 범위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3-1 Size와 Overlap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80자씩 자르면, 승인 조건이 두 조각으로 갈라져요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8229600" cy="274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82880" y="1097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1312" y="1097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097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148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481328"/>
            <a:ext cx="4448432" cy="38404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12064" y="1481328"/>
            <a:ext cx="43569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[0:80]  … 한도 초과 숙박은 예약 전에 담당 임원의 서면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05632" y="1956815"/>
            <a:ext cx="3781167" cy="384048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960496" y="1956815"/>
            <a:ext cx="368972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[80:148]  승인을 받아야 합니다. 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04735" y="1417320"/>
            <a:ext cx="2001794" cy="105156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FB06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904735" y="2514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경계에서 끊긴 승인 조건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2926080"/>
            <a:ext cx="8229600" cy="8686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4360" y="2999232"/>
            <a:ext cx="7955279" cy="7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원문 문자 수: 148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첫 80자: … 한도 초과 숙박은 예약 전에 담당 임원의 서면 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다음 80자: 승인을 받아야 합니다. 승인 없이 초과 지출한 금액은 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40080" y="4041648"/>
            <a:ext cx="786384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이 문제를 줄이는 방법이 겹침(Overlap)이에요. 다음 조각의 시작을 앞으로 당겨 경계 근처를 두 조각에 함께 넣어요.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3-1 Size와 Overlap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겹침 20자 = 시작 위치를 60씩만 옮기기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8229600" cy="274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82880" y="1097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9204" y="1097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1312" y="1097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5528" y="1097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120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67636" y="1097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140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1097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148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1481328"/>
            <a:ext cx="4448432" cy="384048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12064" y="1481328"/>
            <a:ext cx="43569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[0:80]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93524" y="1956815"/>
            <a:ext cx="4448432" cy="38404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848388" y="1956815"/>
            <a:ext cx="43569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[60:140]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29848" y="2432304"/>
            <a:ext cx="1556951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184712" y="2432304"/>
            <a:ext cx="14655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[120:148]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93524" y="1444752"/>
            <a:ext cx="1112108" cy="91440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FB06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610644" y="23957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062F"/>
                </a:solidFill>
              </a:rPr>
              <a:t>겹침 20자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457200" y="2880360"/>
          <a:ext cx="8229600" cy="14630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4206240"/>
                <a:gridCol w="20116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이번 설정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size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한 조각의 최대 문자 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overlap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인접 조각이 공유할 문자 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size − overlap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시작 위치 이동 간격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3-1 Size와 Overlap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위치와 본문을 함께 반환하는 청커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297680" cy="23317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023360" cy="2148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windows(text, size, overlap):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result = []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for start in range(0, len(text),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       size - overlap):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end = min(start + size, len(text))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result.append((start, end,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       text[start:end]))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if end == len(text):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break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result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60" y="1051560"/>
            <a:ext cx="3749039" cy="23317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074920" y="1124712"/>
            <a:ext cx="3474720" cy="2185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[0:80] 국내 출장 숙박 비용 …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  … 담당 임원의 서면 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[60:140] 숙박은 예약 전에 담당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  임원의 서면 승인을 … 식비를 정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[120:148] 니다. 이 규정은 교통비와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  식비를 정하지 않습니다.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" y="3675887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문자 수만 보고 자르기 때문에 단어 중간에서도 끊겨요 ("정" / "니다.").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20자를 겹쳐도 두 번째 조각은 "숙박은"부터 시작해서 "한도 초과"가 빠져요 → 조건 문장의 길이와 분할 위치를 함께 봐야 해요.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3-1 Size와 Overlap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겹침은 맥락을 지키지만, 저장량이 늘어요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1051560"/>
          <a:ext cx="4937760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577840" y="1143000"/>
          <a:ext cx="3108960" cy="15361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97280"/>
                <a:gridCol w="914400"/>
                <a:gridCol w="10972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설정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청크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저장 문자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80 /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148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80 / 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188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100 / 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577840" y="28346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58793"/>
                </a:solidFill>
              </a:rPr>
              <a:t>겹치는 구간 [60:80]:</a:t>
            </a:r>
          </a:p>
          <a:p>
            <a:pPr algn="l"/>
            <a:r>
              <a:rPr sz="1000" b="0">
                <a:solidFill>
                  <a:srgbClr val="858793"/>
                </a:solidFill>
              </a:rPr>
              <a:t>"숙박은 예약 전에 담당 임원의 서면"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3995928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len(text)는 문자 수예요. 임베딩 모델의 토큰 수와는 달라요 → 3-2에서 Tokenizer로 직접 세요.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3-1 Size와 Overlap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3-1. 입력값을 확인하는 청커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checked_windows(text, size, overlap):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허용 범위를 벗어나면 ValueError를 발생시키세요.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올바른 입력이면 windows 결과를 반환하세요.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ch03\rag_ch03_01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100/20 → [0:100], [80:148]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승인 문장 전체가 첫 청크에 들어가요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80/80, 80/-1 → ValueError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3-1 Size와 Overlap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3-1. 입력값을 확인하는 청커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checked_windows(text, size, overlap):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not ____ &lt;= overlap &lt; ____: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raise ____("0 &lt;= overlap &lt; size")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____(text, size, overlap)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ch03\rag_ch03_01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100/20 → [0:100], [80:148]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승인 문장 전체가 첫 청크에 들어가요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80/80, 80/-1 → ValueError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3-2</a:t>
            </a:r>
            <a:r>
              <a:rPr b="1">
                <a:solidFill>
                  <a:srgbClr val="858793"/>
                </a:solidFill>
              </a:rPr>
              <a:t>   Fixed · Recursive · Token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Fixed / Recursive / Token 청킹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어디서 자를지(문자 위치 vs 문장 경계)와 무엇으로 길이를 셀지(문자 vs 토큰)를 하나씩 바꿔 비교 → Truncation 확인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3-2 Fixed · Recursive · Token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같은 80자 제한, 경계가 다르면 조각이 달라요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0241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Fixed 80/20 (문자 위치)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1371600"/>
            <a:ext cx="4023360" cy="74980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4360" y="1371600"/>
            <a:ext cx="3749039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1  국내 출장 숙박 비용 한도는 … 한도 초과 숙박은 예약 전에 담당 임원의 서면 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2240280"/>
            <a:ext cx="4023360" cy="74980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94360" y="2240280"/>
            <a:ext cx="3749039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2  ✂ 숙박은 예약 전에 담당 임원의 서면 승인을 … 식비를 정 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108960"/>
            <a:ext cx="4023360" cy="74980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94360" y="3108960"/>
            <a:ext cx="3749039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3  ✂ 니다. 이 규정은 교통비와 식비를 정하지 않습니다.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10241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Recursive 80/20 (문장 우선)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1371600"/>
            <a:ext cx="4023360" cy="749808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00600" y="1371600"/>
            <a:ext cx="3749039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1  국내 출장 숙박 비용 한도는 1박당 12만원입니다. 숙박 영수증을 첨부해야 정산할 수 있습니다.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63440" y="2240280"/>
            <a:ext cx="4023360" cy="749808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800600" y="2240280"/>
            <a:ext cx="3749039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2  한도 초과 숙박은 예약 전에 담당 임원의 서면 승인을 받아야 합니다. 승인 없이 … 정산되지 않습니다.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63440" y="3108960"/>
            <a:ext cx="4023360" cy="749808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800600" y="3108960"/>
            <a:ext cx="3749039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3  이 규정은 교통비와 식비를 정하지 않습니다.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0080" y="417880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Recursive는 첫 조각에 금액 · 영수증, 둘째에 초과 승인 · 미승인 지출, 셋째에 범위가 온전히 들어가요.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3-2 Fixed · Recursive · Token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Recursive: 큰 구분자부터 시도하고, 긴 부분만 더 잘게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887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188720"/>
            <a:ext cx="160934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B062F"/>
                </a:solidFill>
              </a:rPr>
              <a:t>". "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문장 끝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13432" y="1645920"/>
            <a:ext cx="26517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606040" y="11887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715768" y="1188720"/>
            <a:ext cx="160934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41617"/>
                </a:solidFill>
              </a:rPr>
              <a:t>" "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공백(단어)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462272" y="1645920"/>
            <a:ext cx="26517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754880" y="11887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864608" y="1188720"/>
            <a:ext cx="160934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41617"/>
                </a:solidFill>
              </a:rPr>
              <a:t>""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문자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118872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858793"/>
                </a:solidFill>
              </a:rPr>
              <a:t>앞 구분자로 나눠도</a:t>
            </a:r>
          </a:p>
          <a:p>
            <a:pPr algn="l"/>
            <a:r>
              <a:rPr sz="1000" b="0">
                <a:solidFill>
                  <a:srgbClr val="858793"/>
                </a:solidFill>
              </a:rPr>
              <a:t>80자를 넘는 부분만</a:t>
            </a:r>
          </a:p>
          <a:p>
            <a:pPr algn="l"/>
            <a:r>
              <a:rPr sz="1000" b="0">
                <a:solidFill>
                  <a:srgbClr val="858793"/>
                </a:solidFill>
              </a:rPr>
              <a:t>다음 구분자로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2331720"/>
            <a:ext cx="4754880" cy="15087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94360" y="2423160"/>
            <a:ext cx="448056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splitter = RecursiveCharacterTextSplitter(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chunk_size=80, chunk_overlap=20,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separators=[". ", " ", ""],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keep_separator="end",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strip_whitespace=False)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94960" y="2331720"/>
            <a:ext cx="3291840" cy="15087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577840" y="2441448"/>
            <a:ext cx="29260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617"/>
                </a:solidFill>
              </a:rPr>
              <a:t>20자 겹침은 어디에?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chunk_overlap=20이어도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이 결과에는 겹침이 없어요.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설정값만 믿지 말고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결과를 읽어 확인해요.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" y="4133088"/>
            <a:ext cx="7863840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Recursive는 나눈 문장을 다시 합쳐 청크를 만들어요. 겹침으로 넘길 조각이 20자 이하여야 해서 이 샘플에선 겹침이 생기지 않아요.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3-2 Fixed · Recursive · Token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모델의 한도는 문자가 아니라 토큰이에요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1051560"/>
          <a:ext cx="475488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394960" y="1051560"/>
            <a:ext cx="3291840" cy="14173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532120" y="1143000"/>
            <a:ext cx="3017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tokenizer = AutoTokenizer.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from_pretrained(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"intfloat/multilingual-e5-small")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ids = tokenizer("passage: " + text,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truncation=False)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94960" y="2606040"/>
            <a:ext cx="3291840" cy="9601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577840" y="2715768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토큰 수(input_ids 길이)에는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passage: 접두사와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특수 토큰도 들어 있어요.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749039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385876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617"/>
                </a:solidFill>
              </a:rPr>
              <a:t>손으로 비교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문자 ÷ 토큰 = 1.69 · 1.75 · 1.41 → 청크마다 달라요. 입력 한도는 실제 Tokenizer로 재야 해요.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3-2 Fixed · Recursive · Token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토큰을 길이 함수로: 경계 규칙은 그대로, 세는 법만 바꾸기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572000" cy="1600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2976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token_splitter = RecursiveCharacterTextSplitter\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.from_huggingface_tokenizer(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tokenizer, chunk_size=50, chunk_overlap=10,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separators=[". ", " ", ""],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keep_separator="end", strip_whitespace=False)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0" y="105156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349240" y="105156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B062F"/>
                </a:solidFill>
              </a:rPr>
              <a:t>51 토큰  </a:t>
            </a:r>
            <a:r>
              <a:rPr sz="1000" b="0">
                <a:solidFill>
                  <a:srgbClr val="141617"/>
                </a:solidFill>
              </a:rPr>
              <a:t>금액 · 영수증 · 초과 승인 (3문장)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12080" y="1920239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349240" y="1920239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617"/>
                </a:solidFill>
              </a:rPr>
              <a:t>33 토큰  </a:t>
            </a:r>
            <a:r>
              <a:rPr sz="1000" b="0">
                <a:solidFill>
                  <a:srgbClr val="141617"/>
                </a:solidFill>
              </a:rPr>
              <a:t>미승인 지출 · 비용 범위 (2문장)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88036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2880360"/>
            <a:ext cx="7863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분할 때 잰 길이 ≤ 50</a:t>
            </a:r>
            <a:r>
              <a:rPr sz="1200" b="0">
                <a:solidFill>
                  <a:srgbClr val="141617"/>
                </a:solidFill>
              </a:rPr>
              <a:t>   →   </a:t>
            </a:r>
            <a:r>
              <a:rPr sz="1200" b="1">
                <a:solidFill>
                  <a:srgbClr val="FB062F"/>
                </a:solidFill>
              </a:rPr>
              <a:t>"passage: " + 특수 토큰을 붙인 최종 입력 = 51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749039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" y="385876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"50이 80보다 작으니 더 잘게"가 아니에요. 토큰 50 조각이 문자 80 조각보다 더 많은 문장을 담았어요.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3-2 Fixed · Recursive · Token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Truncation: 한도를 넘으면 조용히 잘려요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234440"/>
            <a:ext cx="8229600" cy="5029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457200" y="1234440"/>
            <a:ext cx="3125164" cy="5029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48640" y="1234440"/>
            <a:ext cx="312516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남은 30토큰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3804" y="123444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잘린 49토큰 (모델에 전달 안 됨)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1783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58793"/>
                </a:solidFill>
              </a:rPr>
              <a:t>전체 입력 79토큰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148840"/>
            <a:ext cx="8229600" cy="8686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94360" y="2221992"/>
            <a:ext cx="7955279" cy="7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자른 입력을 다시 읽기: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passage: 국내 출장 숙박 비용 한도는 1박당 12만원입니다. 숙박 영수증을 첨부해야 정산할 수 있습니다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154680"/>
            <a:ext cx="8229600" cy="5943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0080" y="3154680"/>
            <a:ext cx="7863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B062F"/>
                </a:solidFill>
              </a:rPr>
              <a:t>빠진 조건: 한도 초과 숙박은 예약 전에 담당 임원의 서면 승인을 받아야 합니다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80" y="4041648"/>
            <a:ext cx="786384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두 방식을 구분해요: 최종 입력 길이를 먼저 재서 미리 나누기 vs 그대로 넣고 초과분을 잘라내기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3-2 Fixed · Recursive · Token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3-2. 분할 결과를 한 표로 비교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measure_chunks(pieces, tokenizer):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rows = []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본문과 len(text)를 기록하세요.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passage prefix를 붙인 input_ids 길이를 기록하세요.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청크별 dict 목록을 반환하세요.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ch03\rag_ch03_02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recursive: (54자, 32토큰) (70, 40) (24, 17)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fixed 최대 45토큰 · token 분할 최대 51토큰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토큰이 작다고 조건이 잘 보존되는 건 아니에요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3-2 Fixed · Recursive · Token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3-2. 분할 결과를 한 표로 비교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measure_chunks(pieces, tokenizer):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[{"text": text, "chars": ____(text),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"input_tokens": len(tokenizer(____ + text)["input_ids"])}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for text in ____]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ch03\rag_ch03_02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recursive: (54자, 32토큰) (70, 40) (24, 17)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fixed 최대 45토큰 · token 분할 최대 51토큰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토큰이 작다고 조건이 잘 보존되는 건 아니에요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휴식 </a:t>
            </a:r>
            <a:r>
              <a:rPr b="1">
                <a:solidFill>
                  <a:srgbClr val="FB062F"/>
                </a:solidFill>
              </a:rPr>
              <a:t>10분</a:t>
            </a:r>
            <a:r>
              <a:rPr b="1">
                <a:solidFill>
                  <a:srgbClr val="858793"/>
                </a:solidFill>
              </a:rPr>
              <a:t>   후 재개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쉬는 시간 10분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다음: 3-3 한국어 / 문서 구조 기반 청킹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3-3</a:t>
            </a:r>
            <a:r>
              <a:rPr b="1">
                <a:solidFill>
                  <a:srgbClr val="858793"/>
                </a:solidFill>
              </a:rPr>
              <a:t>   문서 구조 기반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한국어 / 문서 구조 기반 청킹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제목으로 절을 먼저 나누고 → 원문 정보를 Metadata로 전달 → 긴 절만 다시 나누기 → 제목을 검색에 반영하는 법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3-3 문서 구조 기반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규정 두 개를 한 파일로: 아무 데서나 자르면 섞여요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206240" cy="21031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93192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## 교육비 지원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직무 교육비는 분기 1회, 1인당 30만원까지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지원합니다. … 개인 취미 강좌의 지원 여부는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이 문서에 규정되어 있지 않습니다.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## 재택근무 운영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재택근무는 주 2회까지 운영하며 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1051560"/>
            <a:ext cx="3840480" cy="960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956048" y="1051560"/>
            <a:ext cx="362102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글자 수로만 자르면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교육비 끝 조건 + 재택근무 첫 조건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→ 한 청크에 섞일 수 있음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2194560"/>
            <a:ext cx="3840480" cy="9601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956048" y="2194560"/>
            <a:ext cx="362102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제목으로 먼저 나누면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## 교육비 지원 / ## 재택근무 운영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→ 절 범위 유지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337560"/>
            <a:ext cx="8229600" cy="12344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447288"/>
            <a:ext cx="78638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617"/>
                </a:solidFill>
              </a:rPr>
              <a:t>처음 만나는 표현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Markdown 제목 = 줄 앞의 ##로 표시한 절 제목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제목 경로 = 문서 안에서 어느 장 · 절에 속하는지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검색용 입력 = 모델에 실제로 전달할 문자열 (저장한 metadata 전체가 자동으로 들어가지 않아요)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3-3 문서 구조 기반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제목은 section으로, 원문 정보는 우리가 다시 연결해요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43000"/>
            <a:ext cx="2103120" cy="438912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14300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section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06040" y="1362456"/>
            <a:ext cx="274320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926080" y="1143000"/>
            <a:ext cx="1828800" cy="438912"/>
          </a:xfrm>
          <a:prstGeom prst="roundRect">
            <a:avLst>
              <a:gd name="adj" fmla="val 10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926080" y="1143000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B062F"/>
                </a:solidFill>
              </a:rPr>
              <a:t>splitter가 만듦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1691640"/>
            <a:ext cx="2103120" cy="438912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169164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document_id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606040" y="1911095"/>
            <a:ext cx="274320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926080" y="1691640"/>
            <a:ext cx="1828800" cy="43891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926080" y="1691640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</a:rPr>
              <a:t>원문에서 복사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2240280"/>
            <a:ext cx="2103120" cy="438912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57200" y="224028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status · source_url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606040" y="2459736"/>
            <a:ext cx="274320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2926080" y="2240280"/>
            <a:ext cx="1828800" cy="43891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2926080" y="2240280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</a:rPr>
              <a:t>원문에서 복사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2788920"/>
            <a:ext cx="2103120" cy="438912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57200" y="278892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title · version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606040" y="3008376"/>
            <a:ext cx="274320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2926080" y="2788920"/>
            <a:ext cx="1828800" cy="43891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2926080" y="2788920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</a:rPr>
              <a:t>원문에서 복사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0" y="1143000"/>
            <a:ext cx="3657600" cy="21031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166360" y="1234440"/>
            <a:ext cx="3383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header_splitter = MarkdownHeaderTextSplitter(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headers_to_split_on=[("##", "section")])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sections = header_splitter.split_text(md)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by_title = {d["metadata"]["title"]: d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for d in chosen}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sec in sections: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orig = by_title[sec.metadata["section"]]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sec.metadata.update(orig["metadata"])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sec.metadata["document_id"] = \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orig["document_id"]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3474720"/>
            <a:ext cx="8229600" cy="6858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94360" y="3547872"/>
            <a:ext cx="7955279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education 교육비 지원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직무 교육비는 분기 1회, 1인당 30만원까지 지원합니다. 신청자는 과정 소개와 …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3-3 문서 구조 기반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제목으로 나눈 뒤, 긴 절만 다시 나누기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8229600" cy="219456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E0E1E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594360" y="1143000"/>
            <a:ext cx="1188720" cy="347472"/>
          </a:xfrm>
          <a:prstGeom prst="roundRect">
            <a:avLst>
              <a:gd name="adj" fmla="val 15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4360" y="11430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education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1143000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41617"/>
                </a:solidFill>
              </a:rPr>
              <a:t>직무 교육비는 분기 1회, 1인당 30만원까지 지원합니다.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1563624"/>
            <a:ext cx="1188720" cy="347472"/>
          </a:xfrm>
          <a:prstGeom prst="roundRect">
            <a:avLst>
              <a:gd name="adj" fmla="val 15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1563624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education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1563624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41617"/>
                </a:solidFill>
              </a:rPr>
              <a:t>신청자는 과정 소개와 업무 연관성을 … 수료증과 영수증을 제출합니다.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1984248"/>
            <a:ext cx="1188720" cy="347472"/>
          </a:xfrm>
          <a:prstGeom prst="roundRect">
            <a:avLst>
              <a:gd name="adj" fmla="val 15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94360" y="1984248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education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1984248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41617"/>
                </a:solidFill>
              </a:rPr>
              <a:t>개인 취미 강좌의 지원 여부는 이 문서에 규정되어 있지 않습니다.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2514600"/>
            <a:ext cx="1188720" cy="347472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4360" y="25146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remote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2514600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41617"/>
                </a:solidFill>
              </a:rPr>
              <a:t>재택근무는 주 2회까지 운영하며 사전에 관리자와 일정 협의를 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2935224"/>
            <a:ext cx="1188720" cy="347472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94360" y="2935224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remote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2935224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41617"/>
                </a:solidFill>
              </a:rPr>
              <a:t>재택근무 중에도 … 오전 10시부터 오후 4시까지 … 근무 장소 변경 시 …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2423160"/>
            <a:ext cx="7955279" cy="18288"/>
          </a:xfrm>
          <a:prstGeom prst="roundRect">
            <a:avLst>
              <a:gd name="adj" fmla="val 0"/>
            </a:avLst>
          </a:prstGeom>
          <a:solidFill>
            <a:srgbClr val="85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583680" y="219456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58793"/>
                </a:solidFill>
              </a:rPr>
              <a:t>절 경계 (섞이지 않음)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383280"/>
            <a:ext cx="8229600" cy="11887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40080" y="3493008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크기와 겹침 설정이 각 절 안에서만 적용돼요. 그래서 education의 마지막 조건과 remote의 첫 문장이 같은 청크에 섞이지 않아요.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다만 절 안의 문장은 여전히 잘릴 수 있으니 최종 청크 본문은 직접 읽어 확인해요.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3-3 문서 구조 기반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metadata의 제목은 임베딩에 자동으로 들어가지 않아요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114300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metadata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title: "교육비 지원"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FB062F"/>
                </a:solidFill>
              </a:rPr>
              <a:t>→ 임베딩 입력에 자동 포함 ✗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434840" y="1783080"/>
            <a:ext cx="27432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754880" y="1097280"/>
            <a:ext cx="3931920" cy="13716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892040" y="118872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embedding_text = (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piece.metadata["title"] + "\n"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+ piece.page_content)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교육비 지원\n직무 교육비는 …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457200" y="2697480"/>
          <a:ext cx="8229600" cy="1828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77440"/>
                <a:gridCol w="2560320"/>
                <a:gridCol w="32918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정보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저장 위치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효과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원문 제목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metadata.title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화면 표시와 원문 구분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검색용 제목 + 본문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별도 embedding_text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임베딩이 제목 표현도 처리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원문 ID, URL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metadata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청크에서 원문으로 연결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예외 · 미규정 문장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청크 본문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답변 범위와 조건 판단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3-3 문서 구조 기반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표와 목록이 있는 자료는 어떻게 나눌까요?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97280"/>
          <a:ext cx="3931920" cy="12344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14400"/>
                <a:gridCol w="914400"/>
                <a:gridCol w="914400"/>
                <a:gridCol w="11887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한도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주기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증빙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교육비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30만원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분기 1회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수료증 · 영수증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숙박비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12만원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1박당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숙박 영수증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57200" y="24231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858793"/>
                </a:solidFill>
              </a:rPr>
              <a:t>원본 표 (예시)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1097280"/>
            <a:ext cx="4023360" cy="56692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00600" y="1097280"/>
            <a:ext cx="3840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858793"/>
                </a:solidFill>
              </a:rPr>
              <a:t>✗ 값만 남은 청크  </a:t>
            </a:r>
            <a:r>
              <a:rPr sz="10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30만원 | 분기 1회 | 수료증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17830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800600" y="178308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✓ 행 + 열 이름</a:t>
            </a:r>
          </a:p>
          <a:p>
            <a:pPr algn="l"/>
            <a:r>
              <a:rPr sz="10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항목: 교육비 · 한도: 30만원 ·</a:t>
            </a:r>
          </a:p>
          <a:p>
            <a:pPr algn="l"/>
            <a:r>
              <a:rPr sz="10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주기: 분기 1회 · 증빙: 수료증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971800"/>
            <a:ext cx="8229600" cy="16002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081528"/>
            <a:ext cx="78638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617"/>
                </a:solidFill>
              </a:rPr>
              <a:t>표 · 목록 청킹의 원칙 (교안 5절)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표: 행을 나눌 때 열 이름을 붙이거나, 관련 표 영역을 함께 전달하는 방식을 비교해요.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번호 목록: 상위 제목과 항목 번호가 적용 범위를 알려 줘요. "위 항목은 제외"처럼 앞을 가리키는 예외는 대상과 같은 청크에 두거나 검색 후 원문 범위를 넓혀요.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문서 구조마다 나눈 결과를 직접 읽어 보는 게 핵심이에요.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3-3 문서 구조 기반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3-3. 청크의 원문 표시하기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tagged_text(piece):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metadata에서 ID와 제목을 가져오세요.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첫 줄에 [ID] 제목, 다음 줄에 본문을 반환하세요.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ch03\rag_ch03_03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첫 줄: [remote] 재택근무 운영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본문: 오전 10시~오후 4시 협업 시간 · 근무 장소 변경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metadata와 page_content는 그대로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3-3 문서 구조 기반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3-3. 청크의 원문 표시하기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tagged_text(piece):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title = piece.metadata[____]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did = piece.metadata[____]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f"[{did}] {title}\n{piece.____}"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ch03\rag_ch03_03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첫 줄: [remote] 재택근무 운영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본문: 오전 10시~오후 4시 협업 시간 · 근무 장소 변경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metadata와 page_content는 그대로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3-4</a:t>
            </a:r>
            <a:r>
              <a:rPr b="1">
                <a:solidFill>
                  <a:srgbClr val="858793"/>
                </a:solidFill>
              </a:rPr>
              <a:t>   전략 비교와 선택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청킹 전략 비교와 선택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근거 문장 3개 고정 → 크기 · 겹침만 바꿔 세 설정 비교 → 끊긴 조건 찾기 → 공통 기준 80/20으로 chunks.json 저장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3-4 전략 비교와 선택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비교 기준을 먼저 고정해요: 근거 문장 3개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43000"/>
            <a:ext cx="502920" cy="548640"/>
          </a:xfrm>
          <a:prstGeom prst="roundRect">
            <a:avLst>
              <a:gd name="adj" fmla="val 15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143000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" y="1143000"/>
            <a:ext cx="6583680" cy="5486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188720" y="114300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1617"/>
                </a:solidFill>
              </a:rPr>
              <a:t>국내 출장 숙박 비용 한도는 1박당 12만원입니다.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114300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858793"/>
                </a:solidFill>
              </a:rPr>
              <a:t>28자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1828800"/>
            <a:ext cx="502920" cy="548640"/>
          </a:xfrm>
          <a:prstGeom prst="roundRect">
            <a:avLst>
              <a:gd name="adj" fmla="val 15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1828800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" y="1828800"/>
            <a:ext cx="6583680" cy="5486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188720" y="182880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1617"/>
                </a:solidFill>
              </a:rPr>
              <a:t>숙박 영수증을 첨부해야 정산할 수 있습니다.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182880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858793"/>
                </a:solidFill>
              </a:rPr>
              <a:t>24자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2514600"/>
            <a:ext cx="502920" cy="548640"/>
          </a:xfrm>
          <a:prstGeom prst="roundRect">
            <a:avLst>
              <a:gd name="adj" fmla="val 15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57200" y="2514600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51560" y="2514600"/>
            <a:ext cx="6583680" cy="5486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188720" y="251460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1617"/>
                </a:solidFill>
              </a:rPr>
              <a:t>한도 초과 숙박은 예약 전에 담당 임원의 서면 승인을 받아야 합니다.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251460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062F"/>
                </a:solidFill>
              </a:rPr>
              <a:t>38자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457200" y="3291840"/>
          <a:ext cx="8229600" cy="8778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86000"/>
                <a:gridCol w="2011680"/>
                <a:gridCol w="2103120"/>
                <a:gridCol w="182880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고정한 입력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바꾼 설정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관찰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저장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문서 12개 · 근거 문장 3개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80/0 · 80/20 · 100/20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근거 보존 True / False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80/20 chunks.json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3-4 전략 비교와 선택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세 설정을 같은 자료에: 100/20에서만 승인 문장이 온전해요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80160"/>
                <a:gridCol w="1188720"/>
                <a:gridCol w="1188720"/>
                <a:gridCol w="1188720"/>
                <a:gridCol w="1097280"/>
                <a:gridCol w="1097280"/>
                <a:gridCol w="11887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설정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전체 청크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travel 청크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저장 문자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① 한도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② 영수증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③ 승인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41617"/>
                          </a:solidFill>
                        </a:rPr>
                        <a:t>80 /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617"/>
                          </a:solidFill>
                        </a:rPr>
                        <a:t>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617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617"/>
                          </a:solidFill>
                        </a:rPr>
                        <a:t>148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617"/>
                          </a:solidFill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617"/>
                          </a:solidFill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617"/>
                          </a:solidFill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41617"/>
                          </a:solidFill>
                        </a:rPr>
                        <a:t>80 / 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617"/>
                          </a:solidFill>
                        </a:rPr>
                        <a:t>28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617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617"/>
                          </a:solidFill>
                        </a:rPr>
                        <a:t>188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617"/>
                          </a:solidFill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617"/>
                          </a:solidFill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617"/>
                          </a:solidFill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41617"/>
                          </a:solidFill>
                        </a:rPr>
                        <a:t>100 / 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617"/>
                          </a:solidFill>
                        </a:rPr>
                        <a:t>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617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617"/>
                          </a:solidFill>
                        </a:rPr>
                        <a:t>168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617"/>
                          </a:solidFill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617"/>
                          </a:solidFill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617"/>
                          </a:solidFill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7498079" y="2468880"/>
            <a:ext cx="1188720" cy="457200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457200" y="3063240"/>
            <a:ext cx="8229600" cy="8686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3154680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kept = [any(phrase in c["text"] for c in selected) for phrase in evidence]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any: 청크 중 하나라도 문장 전체를 포함하면 True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" y="417880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False여도 인접 청크를 함께 검색하면 이어 읽을 수 있고, True여도 그 청크가 검색되지 않으면 답에 못 써요.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3-4 전략 비교와 선택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80/20에서 승인 문장이 실패한 위치를 원문으로 확인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8229600" cy="274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82880" y="1097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9204" y="1097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1312" y="1097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5528" y="1097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120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1097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148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1481328"/>
            <a:ext cx="4448432" cy="38404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12064" y="1481328"/>
            <a:ext cx="43569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0:80  … 담당 임원의 서면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93524" y="1956815"/>
            <a:ext cx="4448432" cy="38404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848388" y="1956815"/>
            <a:ext cx="43569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60:140  숙박은 예약 전에 … 승인을 받아야 합니다 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29848" y="2432304"/>
            <a:ext cx="1556951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84712" y="2432304"/>
            <a:ext cx="14655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120:148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59891" y="1399032"/>
            <a:ext cx="2113005" cy="36576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185571" y="2743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승인 문장 [54:92] — 어느 청크에도 통째로 없음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457200" y="3154680"/>
          <a:ext cx="8229600" cy="13898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3017520"/>
                <a:gridCol w="301752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관찰값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확인하는 것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확인하지 못하는 것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청크 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검색 단위 개수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질문과의 관련성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본문 문자 합계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중복을 포함한 텍스트 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벡터 · 인덱스 전체 저장 용량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문장 전체 포함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한 청크의 조건 보존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실제 검색 · 생성 성공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3-4 전략 비교와 선택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공통 기준 80/20으로 chunks.json 저장 (최적값이 아니에요)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88720"/>
            <a:ext cx="1143000" cy="54864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18872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leave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17830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858793"/>
                </a:solidFill>
              </a:rPr>
              <a:t>문서 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1188720"/>
            <a:ext cx="228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41617"/>
                </a:solidFill>
              </a:rPr>
              <a:t>: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1188720"/>
            <a:ext cx="2231136" cy="548640"/>
          </a:xfrm>
          <a:prstGeom prst="roundRect">
            <a:avLst>
              <a:gd name="adj" fmla="val 10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828800" y="1188720"/>
            <a:ext cx="223113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5a1ba9d2dd70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1783080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858793"/>
                </a:solidFill>
              </a:rPr>
              <a:t>본문 해시 12자리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9935" y="1188720"/>
            <a:ext cx="228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41617"/>
                </a:solidFill>
              </a:rPr>
              <a:t>: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88536" y="1188720"/>
            <a:ext cx="676656" cy="54864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288536" y="1188720"/>
            <a:ext cx="67665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05655" y="1783080"/>
            <a:ext cx="10424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858793"/>
                </a:solidFill>
              </a:rPr>
              <a:t>size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65192" y="1188720"/>
            <a:ext cx="228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41617"/>
                </a:solidFill>
              </a:rPr>
              <a:t>: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93792" y="1188720"/>
            <a:ext cx="676656" cy="54864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193792" y="1188720"/>
            <a:ext cx="67665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10912" y="1783080"/>
            <a:ext cx="10424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858793"/>
                </a:solidFill>
              </a:rPr>
              <a:t>overlap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70448" y="1188720"/>
            <a:ext cx="228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41617"/>
                </a:solidFill>
              </a:rPr>
              <a:t>: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9048" y="1188720"/>
            <a:ext cx="521208" cy="54864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099048" y="1188720"/>
            <a:ext cx="52120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16168" y="1783080"/>
            <a:ext cx="886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858793"/>
                </a:solidFill>
              </a:rPr>
              <a:t>start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2240280"/>
            <a:ext cx="4206240" cy="23317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94360" y="2313432"/>
            <a:ext cx="3931920" cy="2185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저장한 청크: 28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  "chunk_id": "leave:5a1ba9d2dd70:80:20:0",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  "document_id": "leave",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  "text": "연차 휴가는 연 15일입니다. …",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  "metadata": { "title": …, "status": "current", … },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  "start": 0,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  "end": 80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46320" y="2240280"/>
            <a:ext cx="3840480" cy="23317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5029200" y="2350008"/>
            <a:ext cx="3474720" cy="2148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617"/>
                </a:solidFill>
              </a:rPr>
              <a:t>저장할 때 기억할 것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청크를 바꾸면 그 뒤 임베딩 · 색인도 다시 만들어야 해요.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대안 설정을 시험하려면 chunks_candidate.json에 따로 저장해 수업 공통 chunks.json과 섞지 않아요.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3-4 전략 비교와 선택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3-4. 문서별 분할 구간 모으기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coverage_by_document(chunks):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result = {}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원문 ID마다 구간 목록을 만드세요.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각 청크의 start, end를 추가하세요.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ID -&gt; 구간 목록을 반환하세요.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ch03\rag_ch03_04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travel → (0,80), (60,140), (120,148)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문서 12개 모두 · 구버전(travel-old)도 포함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문서마다 마지막 end = 원문 길이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3-4 전략 비교와 선택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3-4. 문서별 분할 구간 모으기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coverage_by_document(chunks):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result = {}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for c in chunks: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result.setdefault(c[____], ____).append((c["start"], c[____]))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result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ch03\rag_ch03_04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travel → (0,80), (60,140), (120,148)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문서 12개 모두 · 구버전(travel-old)도 포함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문서마다 마지막 end = 원문 길이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정리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오전 결과물: 근거를 지키며 문서를 조각내기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3-1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크기 · 겹침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이동 간격 60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저장량 148/188/168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1343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56032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697479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3-2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79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경계 · 토큰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79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Recursive · E5 토큰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Truncation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1655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66344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80060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3-3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문서 구조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제목 → section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embedding_text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19671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766559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90372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3-4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비교 · 저장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근거 보존 비교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chunks.json 28개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2926080"/>
            <a:ext cx="8229600" cy="12801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85800" y="2926080"/>
            <a:ext cx="77724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B062F"/>
                </a:solidFill>
              </a:rPr>
              <a:t>오후 4장으로 이어지는 질문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41617"/>
                </a:solidFill>
              </a:rPr>
              <a:t>chunks.json의 28개 청크를 어떻게 숫자로 바꾸고, 질문과 "가깝다"를 어떻게 계산할까요?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41617"/>
                </a:solidFill>
              </a:rPr>
              <a:t>→ E5 임베딩(384차원) · 코사인 유사도 · Top-k와 Threshold · 기준선 저장</a:t>
            </a:r>
          </a:p>
        </p:txBody>
      </p:sp>
    </p:spTree>
  </p:cSld>
  <p:clrMapOvr>
    <a:masterClrMapping/>
  </p:clrMapOvr>
</p:sld>
</file>

<file path=ppt/slides/slide9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375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Private LLM Course · 2일차 오전 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질문과 정리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/>
            </a:r>
            <a:endParaRPr lang="en-US" sz="3800" dirty="0"/>
          </a:p>
        </p:txBody>
      </p:sp>
      <p:sp>
        <p:nvSpPr>
          <p:cNvPr id="4" name="dlabel-376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오후 수업 전에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확인할 것</a:t>
            </a:r>
            <a:endParaRPr lang="en-US" sz="1200" dirty="0"/>
          </a:p>
        </p:txBody>
      </p:sp>
      <p:sp>
        <p:nvSpPr>
          <p:cNvPr id="5" name="t-377"/>
          <p:cNvSpPr txBox="1"/>
          <p:nvPr/>
        </p:nvSpPr>
        <p:spPr>
          <a:xfrm>
            <a:off x="54864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ch04/rag_ch04_01에서 uv run check_embedding.py</a:t>
            </a:r>
            <a:endParaRPr lang="en-US" sz="1500" dirty="0"/>
          </a:p>
        </p:txBody>
      </p:sp>
      <p:sp>
        <p:nvSpPr>
          <p:cNvPr id="6" name="t-378"/>
          <p:cNvSpPr txBox="1"/>
          <p:nvPr/>
        </p:nvSpPr>
        <p:spPr>
          <a:xfrm>
            <a:off x="548640" y="34107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E5 모델을 미리 내려받아 shape [2, 384] 확인</a:t>
            </a:r>
            <a:endParaRPr lang="en-US" sz="950" dirty="0"/>
          </a:p>
        </p:txBody>
      </p:sp>
      <p:sp>
        <p:nvSpPr>
          <p:cNvPr id="7" name="t-379"/>
          <p:cNvSpPr txBox="1"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ch03/rag_ch03_04/chunks.json</a:t>
            </a:r>
            <a:endParaRPr lang="en-US" sz="1500" dirty="0"/>
          </a:p>
        </p:txBody>
      </p:sp>
      <p:sp>
        <p:nvSpPr>
          <p:cNvPr id="8" name="t-380"/>
          <p:cNvSpPr txBox="1"/>
          <p:nvPr/>
        </p:nvSpPr>
        <p:spPr>
          <a:xfrm>
            <a:off x="548640" y="38679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28개 청크가 저장됐는지 (오후 4장의 입력)</a:t>
            </a:r>
            <a:endParaRPr lang="en-US" sz="950" dirty="0"/>
          </a:p>
        </p:txBody>
      </p:sp>
      <p:pic>
        <p:nvPicPr>
          <p:cNvPr id="9" name="ts-381" descr="/private/tmp/claude-501/-Users-giin-Desktop-work/450004e7-3239-436b-91c3-140d15687ef1/scratchpad/deck/img/teamsparta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 Review">
  <a:themeElements>
    <a:clrScheme name="KANT Review">
      <a:dk1>
        <a:srgbClr val="141617"/>
      </a:dk1>
      <a:lt1>
        <a:srgbClr val="FFFFFF"/>
      </a:lt1>
      <a:dk2>
        <a:srgbClr val="0C0E13"/>
      </a:dk2>
      <a:lt2>
        <a:srgbClr val="F3F4F6"/>
      </a:lt2>
      <a:accent1>
        <a:srgbClr val="FB062F"/>
      </a:accent1>
      <a:accent2>
        <a:srgbClr val="1F8A70"/>
      </a:accent2>
      <a:accent3>
        <a:srgbClr val="41414B"/>
      </a:accent3>
      <a:accent4>
        <a:srgbClr val="858793"/>
      </a:accent4>
      <a:accent5>
        <a:srgbClr val="E0E1E5"/>
      </a:accent5>
      <a:accent6>
        <a:srgbClr val="FFF0F2"/>
      </a:accent6>
      <a:hlink>
        <a:srgbClr val="2F6FB0"/>
      </a:hlink>
      <a:folHlink>
        <a:srgbClr val="6B4FA0"/>
      </a:folHlink>
    </a:clrScheme>
    <a:fontScheme name="KANT Review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2일차 오전 · Private LLM Course</dc:title>
  <dc:subject>PptxGenJS Presentation</dc:subject>
  <dc:creator>김기인</dc:creator>
  <cp:lastModifiedBy>김기인</cp:lastModifiedBy>
  <cp:revision>1</cp:revision>
  <dcterms:created xsi:type="dcterms:W3CDTF">2026-10-05T08:57:24Z</dcterms:created>
  <dcterms:modified xsi:type="dcterms:W3CDTF">2026-10-05T08:57:24Z</dcterms:modified>
</cp:coreProperties>
</file>