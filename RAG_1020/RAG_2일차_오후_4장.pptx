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326" r:id="rId38"/>
    <p:sldId id="327" r:id="rId39"/>
    <p:sldId id="328" r:id="rId40"/>
    <p:sldId id="329" r:id="rId41"/>
    <p:sldId id="330" r:id="rId8"/>
    <p:sldId id="331" r:id="rId7"/>
    <p:sldId id="332" r:id="rId6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리엔테이션" id="{5EC71000-0000-4000-8000-000000000001}">
          <p14:sldIdLst>
            <p14:sldId id="256"/>
            <p14:sldId id="297"/>
          </p14:sldIdLst>
        </p14:section>
        <p14:section name="4-1 텍스트 임베딩과 벡터 표현" id="{5EC71001-0000-4000-8000-000000000002}">
          <p14:sldIdLst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4-2 코사인 유사도와 Top-k 검색" id="{5EC71002-0000-4000-8000-000000000003}">
          <p14:sldIdLst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</p14:sldIdLst>
        </p14:section>
        <p14:section name="4-3 Top-k와 Threshold" id="{5EC71003-0000-4000-8000-000000000004}">
          <p14:sldIdLst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  <p14:section name="4-4 모델 비교와 Dense 기준선" id="{5EC71004-0000-4000-8000-000000000005}">
          <p14:sldIdLst>
            <p14:sldId id="325"/>
            <p14:sldId id="326"/>
            <p14:sldId id="327"/>
            <p14:sldId id="328"/>
            <p14:sldId id="329"/>
            <p14:sldId id="330"/>
            <p14:sldId id="331"/>
          </p14:sldIdLst>
        </p14:section>
        <p14:section name="정리" id="{5EC71005-0000-4000-8000-000000000006}">
          <p14:sldIdLst>
            <p14:sldId id="332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999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내적</c:v>
                </c:pt>
              </c:strCache>
            </c:strRef>
          </c:tx>
          <c:spPr>
            <a:solidFill>
              <a:srgbClr val="858793"/>
            </a:solidFill>
          </c:spPr>
          <c:cat>
            <c:strRef>
              <c:f>Sheet1!$A$2:$A$4</c:f>
              <c:strCache>
                <c:ptCount val="3"/>
                <c:pt idx="0">
                  <c:v>d₁</c:v>
                </c:pt>
                <c:pt idx="1">
                  <c:v>d₂</c:v>
                </c:pt>
                <c:pt idx="2">
                  <c:v>d₃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0</c:v>
                </c:pt>
                <c:pt idx="2">
                  <c:v>-25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10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코사인</c:v>
                </c:pt>
              </c:strCache>
            </c:strRef>
          </c:tx>
          <c:spPr>
            <a:solidFill>
              <a:srgbClr val="FB062F"/>
            </a:solidFill>
          </c:spPr>
          <c:cat>
            <c:strRef>
              <c:f>Sheet1!$A$2:$A$4</c:f>
              <c:strCache>
                <c:ptCount val="3"/>
                <c:pt idx="0">
                  <c:v>d₁</c:v>
                </c:pt>
                <c:pt idx="1">
                  <c:v>d₂</c:v>
                </c:pt>
                <c:pt idx="2">
                  <c:v>d₃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</c:v>
                </c:pt>
                <c:pt idx="2">
                  <c:v>-1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10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코사인</c:v>
                </c:pt>
              </c:strCache>
            </c:strRef>
          </c:tx>
          <c:spPr>
            <a:solidFill>
              <a:srgbClr val="FB062F"/>
            </a:solidFill>
          </c:spPr>
          <c:dPt>
            <c:idx val="1"/>
            <c:spPr>
              <a:solidFill>
                <a:srgbClr val="858793"/>
              </a:solidFill>
            </c:spPr>
          </c:dPt>
          <c:dPt>
            <c:idx val="2"/>
            <c:spPr>
              <a:solidFill>
                <a:srgbClr val="858793"/>
              </a:solidFill>
            </c:spPr>
          </c:dPt>
          <c:dPt>
            <c:idx val="3"/>
            <c:spPr>
              <a:solidFill>
                <a:srgbClr val="858793"/>
              </a:solidFill>
            </c:spPr>
          </c:dPt>
          <c:cat>
            <c:strRef>
              <c:f>Sheet1!$A$2:$A$5</c:f>
              <c:strCache>
                <c:ptCount val="4"/>
                <c:pt idx="0">
                  <c:v>1 travel:0</c:v>
                </c:pt>
                <c:pt idx="1">
                  <c:v>2 meal:0</c:v>
                </c:pt>
                <c:pt idx="2">
                  <c:v>3 meal:60</c:v>
                </c:pt>
                <c:pt idx="3">
                  <c:v>4 travel:60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0.8945</c:v>
                </c:pt>
                <c:pt idx="1">
                  <c:v>0.875</c:v>
                </c:pt>
                <c:pt idx="2">
                  <c:v>0.8444</c:v>
                </c:pt>
                <c:pt idx="3">
                  <c:v>0.8399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10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1"/>
          <c:min val="0.8"/>
        </c:scaling>
        <c:delete val="0"/>
        <c:axPos val="b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점수</c:v>
                </c:pt>
              </c:strCache>
            </c:strRef>
          </c:tx>
          <c:spPr>
            <a:solidFill>
              <a:srgbClr val="858793"/>
            </a:solidFill>
          </c:spPr>
          <c:dPt>
            <c:idx val="0"/>
            <c:spPr>
              <a:solidFill>
                <a:srgbClr val="FB062F"/>
              </a:solidFill>
            </c:spPr>
          </c:dPt>
          <c:dPt>
            <c:idx val="1"/>
            <c:spPr>
              <a:solidFill>
                <a:srgbClr val="FB062F"/>
              </a:solidFill>
            </c:spPr>
          </c:dPt>
          <c:cat>
            <c:strRef>
              <c:f>Sheet1!$A$2:$A$6</c:f>
              <c:strCache>
                <c:ptCount val="5"/>
                <c:pt idx="0">
                  <c:v>meal:60</c:v>
                </c:pt>
                <c:pt idx="1">
                  <c:v>meal:0</c:v>
                </c:pt>
                <c:pt idx="2">
                  <c:v>travel:0</c:v>
                </c:pt>
                <c:pt idx="3">
                  <c:v>travel:120</c:v>
                </c:pt>
                <c:pt idx="4">
                  <c:v>travel:60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0.9134</c:v>
                </c:pt>
                <c:pt idx="1">
                  <c:v>0.8858</c:v>
                </c:pt>
                <c:pt idx="2">
                  <c:v>0.8768</c:v>
                </c:pt>
                <c:pt idx="3">
                  <c:v>0.8601</c:v>
                </c:pt>
                <c:pt idx="4">
                  <c:v>0.8557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9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2"/>
          <c:min val="0.84"/>
        </c:scaling>
        <c:delete val="0"/>
        <c:axPos val="l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q06 (답 있음)</c:v>
                </c:pt>
              </c:strCache>
            </c:strRef>
          </c:tx>
          <c:spPr>
            <a:solidFill>
              <a:srgbClr val="FB062F"/>
            </a:solidFill>
          </c:spPr>
          <c:cat>
            <c:strRef>
              <c:f>Sheet1!$A$2:$A$4</c:f>
              <c:strCache>
                <c:ptCount val="3"/>
                <c:pt idx="0">
                  <c:v>1위</c:v>
                </c:pt>
                <c:pt idx="1">
                  <c:v>2위</c:v>
                </c:pt>
                <c:pt idx="2">
                  <c:v>3위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0.9134</c:v>
                </c:pt>
                <c:pt idx="1">
                  <c:v>0.8858</c:v>
                </c:pt>
                <c:pt idx="2">
                  <c:v>0.8768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매출 목표 (답 없음)</c:v>
                </c:pt>
              </c:strCache>
            </c:strRef>
          </c:tx>
          <c:spPr>
            <a:solidFill>
              <a:srgbClr val="858793"/>
            </a:solidFill>
          </c:spPr>
          <c:cat>
            <c:strRef>
              <c:f>Sheet1!$A$2:$A$4</c:f>
              <c:strCache>
                <c:ptCount val="3"/>
                <c:pt idx="0">
                  <c:v>1위</c:v>
                </c:pt>
                <c:pt idx="1">
                  <c:v>2위</c:v>
                </c:pt>
                <c:pt idx="2">
                  <c:v>3위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0.7986</c:v>
                </c:pt>
                <c:pt idx="1">
                  <c:v>0.7982</c:v>
                </c:pt>
                <c:pt idx="2">
                  <c:v>0.7842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9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5"/>
          <c:min val="0.7"/>
        </c:scaling>
        <c:delete val="0"/>
        <c:axPos val="l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858793"/>
              </a:solidFill>
            </a:defRPr>
          </a:pPr>
        </a:p>
      </c:txPr>
    </c:legend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인사 후 오늘 다룰 교안 순서 소개: 4-1 → 4-2 → 4-3 → 4-4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오전에 저장한 **80/20 청크 28개**가 오후의 입력이에요.</a:t>
            </a:r>
          </a:p>
          <a:p>
            <a:r>
              <a:t>4-1 벡터 만들기 → 4-2 **코사인 점수와 Top-k** → 4-3 **k와 Threshold** → 4-4 **기준선 저장**</a:t>
            </a:r>
          </a:p>
          <a:p>
            <a:r>
              <a:t>4-2부터는 강의 폴더에서 **uv run prepare.py**로 벡터를 먼저 만들어요.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흐름: 청크 → **Pooling** → **정규화** → E5 입력 → **(28, 384)** 저장</a:t>
            </a:r>
          </a:p>
          <a:p>
            <a:r>
              <a:t>숫자로 바꿔 둬야 다음 강의에서 질문과 **얼마나 비슷한지** 계산할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문서 12개 → 80/20 청크 **28개**, travel은 **(0,80) (60,140) (120,148)** 세 조각</a:t>
            </a:r>
          </a:p>
          <a:p>
            <a:r>
              <a:t>검색 단위가 청크라서 **벡터도 28개**</a:t>
            </a:r>
          </a:p>
          <a:p>
            <a:r>
              <a:t>벡터는 후보를 찾는 도구, 모델에 근거로 넘기는 건 **원래 본문** → ID · 위치를 유지해요.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Transformer는 토큰마다 벡터 → 10토큰이면 **(10, 384)**. 문장끼리 비교하려면 **하나로 모아야** 해요 = Pooling</a:t>
            </a:r>
          </a:p>
          <a:p>
            <a:r>
              <a:t>패딩 [99, 99]는 **mask 0**으로 빼요: 합 **[4, 2]** ÷ 실제 토큰 수 **2** = **[2, 1]**</a:t>
            </a:r>
          </a:p>
          <a:p>
            <a:r>
              <a:t>패딩까지 평균내면 **[34.33, 33.67]** — 의미 없는 99에 끌려가요.</a:t>
            </a:r>
          </a:p>
          <a:p>
            <a:r>
              <a:t>분모도 **mask.sum()=2**여야 해요 (3으로 나누면 [4/3, 2/3]).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[2, 1]의 길이 = **√(2² + 1²) = √5** → 각 성분 ÷ √5 = **[0.8944, 0.4472]**</a:t>
            </a:r>
          </a:p>
          <a:p>
            <a:r>
              <a:t>**성분의 합이 1이 아니라 제곱의 합이 1** (0.8944 + 0.4472 = 1.34)</a:t>
            </a:r>
          </a:p>
          <a:p>
            <a:r>
              <a:t>길이를 1로 맞추면 다음 강의에서 **내적 = 코사인 유사도**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모델: **intfloat/multilingual-e5-small** — 384차원, 한국어 지원, CPU 실행, API 키 불필요</a:t>
            </a:r>
          </a:p>
          <a:p>
            <a:r>
              <a:t>E5는 역할 **접두사**를 붙이도록 학습됨: 문서 **passage:**, 질문 **query:**</a:t>
            </a:r>
          </a:p>
          <a:p>
            <a:r>
              <a:t>접두사는 **모델에 넣을 때만** 붙여요. 원래 text에 저장하면 다시 임베딩할 때 두 번 붙어요.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encode(passages, **normalize_embeddings=True**) → **(28, 384)**</a:t>
            </a:r>
          </a:p>
          <a:p>
            <a:r>
              <a:t>**vectors[i]와 chunks[i]가 같은 청크** — 이 규칙을 꼭 지켜요.</a:t>
            </a:r>
          </a:p>
          <a:p>
            <a:r>
              <a:t>axis=1로 행마다 길이 → **[1.0, 1.0, 1.0]** = 정규화 완료</a:t>
            </a:r>
          </a:p>
          <a:p>
            <a:r>
              <a:t>성분 하나를 "숙박"처럼 해석하지 않아요. 여러 성분이 함께 의미를 표현해요.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**384 = 출력 벡터 차원**, **512 = 입력 토큰 한도** (접두사 · 특수 토큰 포함)</a:t>
            </a:r>
          </a:p>
          <a:p>
            <a:r>
              <a:t>이번 28개 입력의 최대 = **49토큰** → 모두 한도 안</a:t>
            </a:r>
          </a:p>
          <a:p>
            <a:r>
              <a:t>청크를 30번 반복한 입력 = **1234토큰** → 한도 초과, 뒷부분이 잘릴 수 있어요 → **다시 청킹**</a:t>
            </a:r>
          </a:p>
          <a:p>
            <a:r>
              <a:t>벡터가 나왔다고 입력 전체가 반영된 건 아니에요 (3-2 Truncation).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**vectors.npy** (28, 384) + **embedding_config.json** (모델 · 차원 · 정규화 · 입력 형식 · 청크 지문)</a:t>
            </a:r>
          </a:p>
          <a:p>
            <a:r>
              <a:t>**fingerprint** = 청크 ID와 본문을 순서대로 해시 → 청크가 바뀌면 값이 달라져요.</a:t>
            </a:r>
          </a:p>
          <a:p>
            <a:r>
              <a:t>다음 강의의 load_vectors가 지문을 비교해 **청크와 벡터가 맞는지** 확인해요.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질문은 검색을 요청하는 입력이므로 query: 접두사를 붙이고, 문서와 같은 조건으로 정규화해요.</a:t>
            </a:r>
          </a:p>
          <a:p>
            <a:r>
              <a:t>question = "출장 호텔비는 얼마까지인가요?"</a:t>
            </a:r>
          </a:p>
          <a:p>
            <a:r>
              <a:t>query_vector = model.encode(</a:t>
            </a:r>
          </a:p>
          <a:p>
            <a:r>
              <a:t>    "query: " + question,</a:t>
            </a:r>
          </a:p>
          <a:p>
            <a:r>
              <a:t>    normalize_embeddings=True,</a:t>
            </a:r>
          </a:p>
          <a:p>
            <a:r>
              <a:t>)</a:t>
            </a:r>
          </a:p>
          <a:p>
            <a:r>
              <a:t>print(query_vector.shape)</a:t>
            </a:r>
          </a:p>
          <a:p>
            <a:r>
              <a:t>print(round(float(np.linalg.norm(query_vector)), 6))</a:t>
            </a:r>
          </a:p>
          <a:p/>
          <a:p>
            <a:r>
              <a:t>생각해 보기: 질문에 passage:를 붙여도 실행은 돼요. 그래도 query:를 써야 하는 이유를 E5의 학습 방식으로 설명해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"query: "   ② True</a:t>
            </a:r>
          </a:p>
          <a:p/>
          <a:p>
            <a:r>
              <a:t>정답 파일: ch04\rag_ch04_01\q_solution.py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손계산으로 **길이가 점수에 주는 영향**을 보고, 같은 연산을 **28개 청크 검색**에 적용해요.</a:t>
            </a:r>
          </a:p>
          <a:p>
            <a:r>
              <a:t>4-2부터 강의 폴더에서 **uv run prepare.py**를 먼저 실행해요.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 = **[3, 4]**, d₁ = **[6, 8]**(같은 방향, 2배 길이), d₂ = **[4, −3]**(직각), d₃ = **[−3, −4]**(반대)</a:t>
            </a:r>
          </a:p>
          <a:p>
            <a:r>
              <a:t>내적 = 같은 위치 성분끼리 곱해 더하기: q·d₁ = **50**, q·d₂ = **0**, q·d₃ = **−25**</a:t>
            </a:r>
          </a:p>
          <a:p>
            <a:r>
              <a:t>길이: q = 5, d₁ = 10, d₂ = d₃ = 5 — 계산용 값이고 실제 의미 축은 아니에요.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 = q·d / (‖q‖ ‖d‖): d₁ **50/(5×10) = 1**, d₂ **0**, d₃ **−25/(5×5) = −1**</a:t>
            </a:r>
          </a:p>
          <a:p>
            <a:r>
              <a:t>d₁은 두 배 길어서 내적 50이 컸지만, 방향이 같으니 **코사인은 1** — 길이 영향 제거</a:t>
            </a:r>
          </a:p>
          <a:p>
            <a:r>
              <a:t>정규화하면 분모 = 1×1 → **내적 = 코사인** → 행렬 곱 한 번으로 28개 점수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문서 벡터는 prepare.py가 만들어 둠 → 질문만 **query:** 로 임베딩</a:t>
            </a:r>
          </a:p>
          <a:p>
            <a:r>
              <a:t>vectors (28, 384) @ query (384,) = scores **(28,)**, **scores[7] ↔ chunks[7]**</a:t>
            </a:r>
          </a:p>
          <a:p>
            <a:r>
              <a:t>점수 배열만 정렬하면 원문 연결이 끊겨요 → **행 번호를 정렬**</a:t>
            </a:r>
          </a:p>
          <a:p>
            <a:r>
              <a:t>먼저 **status: current** 행만 남겨요 (Qdrant 필터는 5장).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질문: "출장 숙박 비용 한도와 필요한 증빙은?" → 1위 **travel:0 0.8945**</a:t>
            </a:r>
          </a:p>
          <a:p>
            <a:r>
              <a:t>2위 **meal:0 0.8750** — 점수는 높지만 **1일 3만원은 식비**</a:t>
            </a:r>
          </a:p>
          <a:p>
            <a:r>
              <a:t>travel [0,80)에 **1박당 12만원 · 숙박 영수증** 둘 다 → 답의 근거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"회사의 올해 매출 목표는?" → **leave 0.7986, 0.7982** — 연차 규정에 매출 목표는 없어요.</a:t>
            </a:r>
          </a:p>
          <a:p>
            <a:r>
              <a:t>검색은 **상대적으로 가장 가까운 후보**를 돌려줄 뿐, 답이 있는지는 판정 안 해요.</a:t>
            </a:r>
          </a:p>
          <a:p>
            <a:r>
              <a:t>**0.7986 ≠ 정답 확률 79.86%**</a:t>
            </a:r>
          </a:p>
          <a:p>
            <a:r>
              <a:t>Threshold로 거를 수 있지만 그것만으론 부족 → 4-3, 6장 보류 처리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후보별 길이는 행마다 구하므로 axis=1, 높은 점수부터 정렬하려고 점수에 마이너스를 붙여요.</a:t>
            </a:r>
          </a:p>
          <a:p>
            <a:r>
              <a:t>q = np.array([1., 0.])</a:t>
            </a:r>
          </a:p>
          <a:p>
            <a:r>
              <a:t>candidates = np.array([[1., 1.], [3., 0.], [-1., 0.]])</a:t>
            </a:r>
          </a:p>
          <a:p>
            <a:r>
              <a:t>lengths = np.linalg.norm(candidates, axis=1)</a:t>
            </a:r>
          </a:p>
          <a:p>
            <a:r>
              <a:t>scores = (candidates @ q) / (lengths * np.linalg.norm(q))</a:t>
            </a:r>
          </a:p>
          <a:p>
            <a:r>
              <a:t>order = np.argsort(-scores)</a:t>
            </a:r>
          </a:p>
          <a:p>
            <a:r>
              <a:t>print(scores.round(4).tolist())</a:t>
            </a:r>
          </a:p>
          <a:p>
            <a:r>
              <a:t>print(order.tolist())</a:t>
            </a:r>
          </a:p>
          <a:p/>
          <a:p>
            <a:r>
              <a:t>생각해 보기: '호텔비 지원 한도는?'처럼 표현을 바꾼 질문으로 상위 3개 원문을 읽고, 정답 조건이 포함됐는지 한 문장으로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np.linalg.norm(candidates, axis=1)   ② -scores</a:t>
            </a:r>
          </a:p>
          <a:p/>
          <a:p>
            <a:r>
              <a:t>정답 파일: ch04\rag_ch04_02\q_solution.py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쉬는 시간 10분 · 다음은 4-3 Top-k와 Threshold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결과를 줄이는 손잡이 두 개: **k(최대 개수)** 와 **threshold(점수 하한)**</a:t>
            </a:r>
          </a:p>
          <a:p>
            <a:r>
              <a:t>둘 다 줄이는 대신 **필요한 근거를 빠뜨릴 수 있어요.**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q06: "출장 식비와 숙박비의 한도는 각각 얼마이고 두 한도를 합쳐 쓸 수 있나요?"</a:t>
            </a:r>
          </a:p>
          <a:p>
            <a:r>
              <a:t>필요한 항목 3개: **식비 금액(meal:0)** · **숙박비 금액(travel:0)** · **합산 여부(meal:60)**</a:t>
            </a:r>
          </a:p>
          <a:p>
            <a:r>
              <a:t>"정답 문서를 찾았나"만 보면 **같은 문서 안에서 빠진 청크**를 못 알아채요.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**status: current**만 → ② 점수순 정렬 → ③ **score ≥ threshold**만 → ④ 앞에서 **최대 k개**</a:t>
            </a:r>
          </a:p>
          <a:p>
            <a:r>
              <a:t>**threshold=None** = 점수 하한만 생략, **현행 필터와 k는 그대로**</a:t>
            </a:r>
          </a:p>
          <a:p>
            <a:r>
              <a:t>k는 **최대** 개수: 통과 후보가 2개면 k=5여도 2개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k=1 → meal:60(**합산 금지만**), k=2 → +meal:0(**식비 3만원**) — 둘 다 문서 Recall **0.5**</a:t>
            </a:r>
          </a:p>
          <a:p>
            <a:r>
              <a:t>k=3 → +travel:0(**숙박 12만원**) → 세 항목 완성, Recall **1.0**, 215자</a:t>
            </a:r>
          </a:p>
          <a:p>
            <a:r>
              <a:t>k=5 → 새 금액 없이 사전 승인 조건만 추가, **323자** (입력만 길어짐)</a:t>
            </a:r>
          </a:p>
          <a:p>
            <a:r>
              <a:t>k를 늘릴 땐 **추가된 청크가 어떤 질문 항목을 해결하는지**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k=5 고정, threshold **None / 0.80 / 0.84 → 5개 그대로**</a:t>
            </a:r>
          </a:p>
          <a:p>
            <a:r>
              <a:t>**0.88 → 2개(meal만)**: 0.8768인 **travel:0이 빠져 숙박비 금액을 못 읽어요.**</a:t>
            </a:r>
          </a:p>
          <a:p>
            <a:r>
              <a:t>0.80 · 0.84 · 0.88은 **이 모델 · 자료의 비교값**일 뿐, 다른 모델에 그대로 쓰면 안 돼요.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q06 상위 3: **0.91 · 0.89 · 0.88**, 매출 목표 질문: **0.80 · 0.80 · 0.78**</a:t>
            </a:r>
          </a:p>
          <a:p>
            <a:r>
              <a:t>이 두 질문만 보면 0.80으로 갈리지만 **항상 그렇다는 근거는 없어요.**</a:t>
            </a:r>
          </a:p>
          <a:p>
            <a:r>
              <a:t>용어가 겹치는 질문 · 일부만 답이 있는 질문은 **답이 없어도 점수가 높을 수** 있어요.</a:t>
            </a:r>
          </a:p>
          <a:p>
            <a:r>
              <a:t>→ 4-4에서 여러 질문으로 기준선, **6장에서 내용 기반 보류**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반복문의 k와 threshold를 검색 인수에 연결해 한 조건씩 비교해요.</a:t>
            </a:r>
          </a:p>
          <a:p>
            <a:r>
              <a:t>q = "출장 숙박 비용 한도와 필요한 증빙은?"</a:t>
            </a:r>
          </a:p>
          <a:p>
            <a:r>
              <a:t>results = {}</a:t>
            </a:r>
          </a:p>
          <a:p>
            <a:r>
              <a:t>for k, threshold in [(1, None), (3, .88), (3, .90)]:</a:t>
            </a:r>
          </a:p>
          <a:p>
            <a:r>
              <a:t>    rows = exact_rows(q, chunks, vectors, model,</a:t>
            </a:r>
          </a:p>
          <a:p>
            <a:r>
              <a:t>                      k=k, threshold=threshold)</a:t>
            </a:r>
          </a:p>
          <a:p>
            <a:r>
              <a:t>    results[(k, threshold)] = [(r["document_id"], r["start"]) for r in rows]</a:t>
            </a:r>
          </a:p>
          <a:p>
            <a:r>
              <a:t>    print(k, threshold, results[(k, threshold)])</a:t>
            </a:r>
          </a:p>
          <a:p/>
          <a:p>
            <a:r>
              <a:t>생각해 보기: golden.jsonl의 다른 개발 질문 하나로 k=1과 k=3을 비교하고, 추가된 청크가 어떤 질문 항목을 해결했는지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k   ② threshold</a:t>
            </a:r>
          </a:p>
          <a:p/>
          <a:p>
            <a:r>
              <a:t>정답 파일: ch04\rag_ch04_03\q_solution.py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질문(q06)만으로는 전체 성능을 몰라요 → **개발 질문 12개**로 넓혀 **기준선** 저장</a:t>
            </a:r>
          </a:p>
          <a:p>
            <a:r>
              <a:t>모델을 비교할 땐 **모델 이외의 조건을 하나도 바꾸지 않아요.**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고정: **문서 12 · 청크 28(80/20) · status=current · passage:/query: · 코사인 k=3 · dev 12**</a:t>
            </a:r>
          </a:p>
          <a:p>
            <a:r>
              <a:t>모델과 함께 청킹 · 질문 · 필터까지 바꾸면 **무엇 때문인지** 알 수 없어요.</a:t>
            </a:r>
          </a:p>
          <a:p>
            <a:r>
              <a:t>모델마다 접두사 · 정규화 규칙이 다르면 **공식 규칙을 따르고 차이를 기록**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 **12개** = 답 있음 **10** + 답 없음 **2** (q11 매출 목표, q12 취미 강좌)</a:t>
            </a:r>
          </a:p>
          <a:p>
            <a:r>
              <a:t>q06 정답 {meal, travel}, meal만 찾으면 **Hit = 1** (하나라도), **Recall = 0.5** (절반)</a:t>
            </a:r>
          </a:p>
          <a:p>
            <a:r>
              <a:t>정답 집합이 빈 질문은 Recall 분모가 0 → **평균에서 분리**</a:t>
            </a:r>
          </a:p>
          <a:p>
            <a:r>
              <a:t>reference(정답 문장)는 **채점용**, 생성 모델에 넘기지 않아요.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E5 small, k=3: 답 있는 10개 **Hit 1.0 · Recall 1.0**</a:t>
            </a:r>
          </a:p>
          <a:p>
            <a:r>
              <a:t>**q10**: 정답 education + **식비 · 숙박 문서도 함께** → Recall 1.0 ≠ 후보가 모두 관련</a:t>
            </a:r>
          </a:p>
          <a:p>
            <a:r>
              <a:t>**q12**: 취미 강좌 "규정 안 함" 문장 때문에 education이 위로 → 검색됐다고 **"지원한다"고 답하면 안 돼요**</a:t>
            </a:r>
          </a:p>
          <a:p>
            <a:r>
              <a:t>확인 순서: **정답 문서 포함 → 어떤 조건 → 답변 생성 가능?**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**dense_baseline.json**: 모델 ID · 차원 · k · 입력 형식 · 질문별 문서 ID · Hit · Recall · 질문 처리 시간</a:t>
            </a:r>
          </a:p>
          <a:p>
            <a:r>
              <a:t>모델을 바꾸면 **문서도 새 모델로 다시 임베딩** — small 벡터에 base 질문 벡터를 섞으면 안 돼요.</a:t>
            </a:r>
          </a:p>
          <a:p>
            <a:r>
              <a:t>교안 검수 기록: small · base **모두 Hit 1.0 · Recall 1.0** → 이 질문 세트로는 차이를 못 가려요.</a:t>
            </a:r>
          </a:p>
          <a:p>
            <a:r>
              <a:t>작은 모델로 만점이면 큰 모델의 비용을 정당화할 근거가 없어요. 최종은 **test 질문**으로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질문 ID로 두 모델의 결과를 맞대어 검색 문서가 달라진 질문만 골라요.</a:t>
            </a:r>
          </a:p>
          <a:p>
            <a:r>
              <a:t>recorded = json.loads(Path("recorded_e5_comparison.json").read_text(encoding="utf-8"))</a:t>
            </a:r>
          </a:p>
          <a:p>
            <a:r>
              <a:t>candidate_report = recorded["intfloat/multilingual-e5-base"]["report"]</a:t>
            </a:r>
          </a:p>
          <a:p>
            <a:r>
              <a:t>small_rows = {r["question_id"]: r for r in report["rows"]}</a:t>
            </a:r>
          </a:p>
          <a:p>
            <a:r>
              <a:t>base_rows = {r["question_id"]: r for r in candidate_report["rows"]}</a:t>
            </a:r>
          </a:p>
          <a:p>
            <a:r>
              <a:t>changed = []</a:t>
            </a:r>
          </a:p>
          <a:p>
            <a:r>
              <a:t>for question_id, before in small_rows.items():</a:t>
            </a:r>
          </a:p>
          <a:p>
            <a:r>
              <a:t>    after = base_rows[question_id]</a:t>
            </a:r>
          </a:p>
          <a:p>
            <a:r>
              <a:t>    if before["retrieved_document_ids"] != after["retrieved_document_ids"]:</a:t>
            </a:r>
          </a:p>
          <a:p>
            <a:r>
              <a:t>        changed.append(question_id)</a:t>
            </a:r>
          </a:p>
          <a:p>
            <a:r>
              <a:t>        print(question_id, before["retrieved_document_ids"], after["retrieved_document_ids"])</a:t>
            </a:r>
          </a:p>
          <a:p/>
          <a:p>
            <a:r>
              <a:t>생각해 보기: 결과가 다르다는 것만으로 우열을 정하지 않아요. 달라진 질문의 상위 원문을 읽고, 검색 품질과 실행 비용을 함께 근거로 모델 선택 이유를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after["retrieved_document_ids"]</a:t>
            </a:r>
          </a:p>
          <a:p/>
          <a:p>
            <a:r>
              <a:t>정답 파일: ch04\rag_ch04_04\q_solution.py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4-1 청크 28개 → **(28, 384) 정규화 벡터**, passage:/query:</a:t>
            </a:r>
          </a:p>
          <a:p>
            <a:r>
              <a:t>4-2 정규화 → **내적 = 코사인**, 행 번호로 원문 연결, 점수 ≠ 답</a:t>
            </a:r>
          </a:p>
          <a:p>
            <a:r>
              <a:t>4-3 **k는 최대 개수, threshold는 하한** — 둘 다 근거를 빠뜨릴 수 있음</a:t>
            </a:r>
          </a:p>
          <a:p>
            <a:r>
              <a:t>4-4 **모델만 바꾸고 고정**, dev 12 기준선 → 5장에서 Qdrant로 옮겨요.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 받고 마무리. 수업 후에 직접 해 볼 것: ch04/rag_ch04_04/dense_baseline.json / q05 · q10 · q12 원문 대조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548640" y="18288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48640" y="315468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658368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84048"/>
            <a:ext cx="822960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pic>
        <p:nvPicPr>
          <p:cNvPr id="4" name="Image 0" descr="/private/tmp/claude-501/-Users-giin-Desktop-work/450004e7-3239-436b-91c3-140d15687ef1/scratchpad/deck/img/kant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28032"/>
            <a:ext cx="713232" cy="14630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98448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RAG · Private LLM Course · 2일차 오후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chart" Target="../charts/char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chart" Target="../charts/char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2일차 오후 · 4시간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청크를 벡터로 바꾸고,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질문과 가까운 근거 찾기</a:t>
            </a:r>
            <a:endParaRPr lang="en-US" sz="3800" dirty="0"/>
          </a:p>
        </p:txBody>
      </p:sp>
      <p:sp>
        <p:nvSpPr>
          <p:cNvPr id="4" name="dlabel-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오늘 다루는 교안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따라갈 순서</a:t>
            </a:r>
            <a:endParaRPr lang="en-US" sz="1200" dirty="0"/>
          </a:p>
        </p:txBody>
      </p:sp>
      <p:sp>
        <p:nvSpPr>
          <p:cNvPr id="5" name="t-3"/>
          <p:cNvSpPr txBox="1"/>
          <p:nvPr/>
        </p:nvSpPr>
        <p:spPr>
          <a:xfrm>
            <a:off x="5486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4-1  텍스트 임베딩과 벡터 표현</a:t>
            </a:r>
            <a:endParaRPr lang="en-US" sz="1500" dirty="0"/>
          </a:p>
        </p:txBody>
      </p:sp>
      <p:sp>
        <p:nvSpPr>
          <p:cNvPr id="6" name="t-4"/>
          <p:cNvSpPr txBox="1"/>
          <p:nvPr/>
        </p:nvSpPr>
        <p:spPr>
          <a:xfrm>
            <a:off x="5486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Pooling, 정규화, E5 접두사, (28, 384)</a:t>
            </a:r>
            <a:endParaRPr lang="en-US" sz="950" dirty="0"/>
          </a:p>
        </p:txBody>
      </p:sp>
      <p:sp>
        <p:nvSpPr>
          <p:cNvPr id="7" name="t-5"/>
          <p:cNvSpPr txBox="1"/>
          <p:nvPr/>
        </p:nvSpPr>
        <p:spPr>
          <a:xfrm>
            <a:off x="5486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4-2  코사인 유사도와 Top-k 검색</a:t>
            </a:r>
            <a:endParaRPr lang="en-US" sz="1500" dirty="0"/>
          </a:p>
        </p:txBody>
      </p:sp>
      <p:sp>
        <p:nvSpPr>
          <p:cNvPr id="8" name="t-6"/>
          <p:cNvSpPr txBox="1"/>
          <p:nvPr/>
        </p:nvSpPr>
        <p:spPr>
          <a:xfrm>
            <a:off x="5486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내적 vs 코사인, 행 번호로 원문 연결</a:t>
            </a:r>
            <a:endParaRPr lang="en-US" sz="950" dirty="0"/>
          </a:p>
        </p:txBody>
      </p:sp>
      <p:sp>
        <p:nvSpPr>
          <p:cNvPr id="9" name="t-7"/>
          <p:cNvSpPr txBox="1"/>
          <p:nvPr/>
        </p:nvSpPr>
        <p:spPr>
          <a:xfrm>
            <a:off x="46634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4-3  Dense Retriever의 Top-k / Threshold</a:t>
            </a:r>
            <a:endParaRPr lang="en-US" sz="1500" dirty="0"/>
          </a:p>
        </p:txBody>
      </p:sp>
      <p:sp>
        <p:nvSpPr>
          <p:cNvPr id="10" name="t-8"/>
          <p:cNvSpPr txBox="1"/>
          <p:nvPr/>
        </p:nvSpPr>
        <p:spPr>
          <a:xfrm>
            <a:off x="46634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k와 하한이 남기고 거르는 근거</a:t>
            </a:r>
            <a:endParaRPr lang="en-US" sz="950" dirty="0"/>
          </a:p>
        </p:txBody>
      </p:sp>
      <p:sp>
        <p:nvSpPr>
          <p:cNvPr id="11" name="t-9"/>
          <p:cNvSpPr txBox="1"/>
          <p:nvPr/>
        </p:nvSpPr>
        <p:spPr>
          <a:xfrm>
            <a:off x="46634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4-4  임베딩 모델 비교와 Dense 기준선</a:t>
            </a:r>
            <a:endParaRPr lang="en-US" sz="1500" dirty="0"/>
          </a:p>
        </p:txBody>
      </p:sp>
      <p:sp>
        <p:nvSpPr>
          <p:cNvPr id="12" name="t-10"/>
          <p:cNvSpPr txBox="1"/>
          <p:nvPr/>
        </p:nvSpPr>
        <p:spPr>
          <a:xfrm>
            <a:off x="46634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Golden dev 12, Hit@k · Recall, 기준선</a:t>
            </a:r>
            <a:endParaRPr lang="en-US" sz="950" dirty="0"/>
          </a:p>
        </p:txBody>
      </p:sp>
      <p:pic>
        <p:nvPicPr>
          <p:cNvPr id="13" name="ts-11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오후 흐름: 청크 → 벡터 → 점수 → 상위 k개 → 기준선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417320"/>
            <a:ext cx="1289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청크 28개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chunks.json (80/20)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3장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84248" y="196596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148840" y="141732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258568" y="1417320"/>
            <a:ext cx="1289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임베딩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E5 small · 384차원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4-1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675887" y="196596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840480" y="141732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950208" y="1417320"/>
            <a:ext cx="1289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코사인 점수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vectors @ query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4-2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67528" y="196596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532120" y="141732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41848" y="1417320"/>
            <a:ext cx="1289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Top-k · 하한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k · threshold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4-3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059168" y="196596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223760" y="141732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333488" y="1417320"/>
            <a:ext cx="1289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기준선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dev 12 · Hit · Recall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4-4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788920"/>
            <a:ext cx="822960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2834640"/>
            <a:ext cx="77724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58793"/>
                </a:solidFill>
              </a:rPr>
              <a:t>오후에 계속 보는 질문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FB062F"/>
                </a:solidFill>
              </a:rPr>
              <a:t>q05 </a:t>
            </a:r>
            <a:r>
              <a:rPr sz="1150" b="1">
                <a:solidFill>
                  <a:srgbClr val="141617"/>
                </a:solidFill>
              </a:rPr>
              <a:t>출장 숙박 비용 한도와 필요한 증빙은?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FB062F"/>
                </a:solidFill>
              </a:rPr>
              <a:t>q06 </a:t>
            </a:r>
            <a:r>
              <a:rPr sz="1150" b="1">
                <a:solidFill>
                  <a:srgbClr val="141617"/>
                </a:solidFill>
              </a:rPr>
              <a:t>출장 식비와 숙박비의 한도는 각각 얼마이고 두 한도를 합쳐 쓸 수 있나요?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58793"/>
                </a:solidFill>
              </a:rPr>
              <a:t>점수가 높다 ≠ 답이 있다. 오후 내내 점수와 원문을 함께 읽어요.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4-1</a:t>
            </a:r>
            <a:r>
              <a:rPr b="1">
                <a:solidFill>
                  <a:srgbClr val="858793"/>
                </a:solidFill>
              </a:rPr>
              <a:t>   임베딩과 벡터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텍스트 임베딩과 벡터 표현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청크 28개 → 토큰 벡터를 하나로(Pooling) → 길이 1로(정규화) → E5 입력(passage:) → (28, 384) 저장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4-1 임베딩과 벡터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벡터는 문서 수(12)가 아니라 청크 수(28)만큼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280160"/>
            <a:ext cx="310896" cy="411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841247" y="1280160"/>
            <a:ext cx="310896" cy="411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25295" y="1280160"/>
            <a:ext cx="310896" cy="411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609344" y="1280160"/>
            <a:ext cx="310896" cy="411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993391" y="1280160"/>
            <a:ext cx="310896" cy="411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2377440" y="1280160"/>
            <a:ext cx="310896" cy="411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457200" y="1783080"/>
            <a:ext cx="310896" cy="411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1783080"/>
            <a:ext cx="310896" cy="411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1225295" y="1783080"/>
            <a:ext cx="310896" cy="411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1609344" y="1783080"/>
            <a:ext cx="310896" cy="411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1993391" y="1783080"/>
            <a:ext cx="310896" cy="411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2377440" y="1783080"/>
            <a:ext cx="310896" cy="411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960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문서 12개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880360" y="1691640"/>
            <a:ext cx="41148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383280" y="114300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3675888" y="114300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3968496" y="114300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4261104" y="114300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4553712" y="114300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4846320" y="114300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5138928" y="114300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383280" y="141732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3675888" y="141732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3968496" y="141732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4261104" y="141732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4553712" y="141732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4846320" y="141732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5138928" y="141732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3383280" y="169164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3675888" y="169164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3968496" y="169164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4261104" y="169164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4553712" y="169164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4846320" y="169164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ounded Rectangle 59"/>
          <p:cNvSpPr/>
          <p:nvPr/>
        </p:nvSpPr>
        <p:spPr>
          <a:xfrm>
            <a:off x="5138928" y="169164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3383280" y="196596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3675888" y="196596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3968496" y="196596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4261104" y="196596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4553712" y="196596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4846320" y="196596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5138928" y="1965960"/>
            <a:ext cx="237744" cy="219456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9525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3383280" y="9326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청크 28개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486400" y="1691640"/>
            <a:ext cx="41148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5989320" y="118872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ounded Rectangle 70"/>
          <p:cNvSpPr/>
          <p:nvPr/>
        </p:nvSpPr>
        <p:spPr>
          <a:xfrm>
            <a:off x="6172200" y="118872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6355080" y="118872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ounded Rectangle 72"/>
          <p:cNvSpPr/>
          <p:nvPr/>
        </p:nvSpPr>
        <p:spPr>
          <a:xfrm>
            <a:off x="6537960" y="118872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ounded Rectangle 73"/>
          <p:cNvSpPr/>
          <p:nvPr/>
        </p:nvSpPr>
        <p:spPr>
          <a:xfrm>
            <a:off x="6720840" y="118872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6903720" y="118872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ounded Rectangle 75"/>
          <p:cNvSpPr/>
          <p:nvPr/>
        </p:nvSpPr>
        <p:spPr>
          <a:xfrm>
            <a:off x="7086600" y="118872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ounded Rectangle 76"/>
          <p:cNvSpPr/>
          <p:nvPr/>
        </p:nvSpPr>
        <p:spPr>
          <a:xfrm>
            <a:off x="7269480" y="118872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ounded Rectangle 77"/>
          <p:cNvSpPr/>
          <p:nvPr/>
        </p:nvSpPr>
        <p:spPr>
          <a:xfrm>
            <a:off x="7452360" y="118872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7635240" y="118872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ounded Rectangle 79"/>
          <p:cNvSpPr/>
          <p:nvPr/>
        </p:nvSpPr>
        <p:spPr>
          <a:xfrm>
            <a:off x="7818120" y="118872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ounded Rectangle 80"/>
          <p:cNvSpPr/>
          <p:nvPr/>
        </p:nvSpPr>
        <p:spPr>
          <a:xfrm>
            <a:off x="8001000" y="118872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ounded Rectangle 81"/>
          <p:cNvSpPr/>
          <p:nvPr/>
        </p:nvSpPr>
        <p:spPr>
          <a:xfrm>
            <a:off x="8183879" y="118872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8366760" y="118872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ounded Rectangle 83"/>
          <p:cNvSpPr/>
          <p:nvPr/>
        </p:nvSpPr>
        <p:spPr>
          <a:xfrm>
            <a:off x="5989320" y="169164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ounded Rectangle 84"/>
          <p:cNvSpPr/>
          <p:nvPr/>
        </p:nvSpPr>
        <p:spPr>
          <a:xfrm>
            <a:off x="6172200" y="169164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ounded Rectangle 85"/>
          <p:cNvSpPr/>
          <p:nvPr/>
        </p:nvSpPr>
        <p:spPr>
          <a:xfrm>
            <a:off x="6355080" y="169164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6537960" y="169164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ounded Rectangle 87"/>
          <p:cNvSpPr/>
          <p:nvPr/>
        </p:nvSpPr>
        <p:spPr>
          <a:xfrm>
            <a:off x="6720840" y="169164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ounded Rectangle 88"/>
          <p:cNvSpPr/>
          <p:nvPr/>
        </p:nvSpPr>
        <p:spPr>
          <a:xfrm>
            <a:off x="6903720" y="169164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7086600" y="169164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7269480" y="169164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ounded Rectangle 91"/>
          <p:cNvSpPr/>
          <p:nvPr/>
        </p:nvSpPr>
        <p:spPr>
          <a:xfrm>
            <a:off x="7452360" y="169164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ounded Rectangle 92"/>
          <p:cNvSpPr/>
          <p:nvPr/>
        </p:nvSpPr>
        <p:spPr>
          <a:xfrm>
            <a:off x="7635240" y="169164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ounded Rectangle 93"/>
          <p:cNvSpPr/>
          <p:nvPr/>
        </p:nvSpPr>
        <p:spPr>
          <a:xfrm>
            <a:off x="7818120" y="169164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ounded Rectangle 94"/>
          <p:cNvSpPr/>
          <p:nvPr/>
        </p:nvSpPr>
        <p:spPr>
          <a:xfrm>
            <a:off x="8001000" y="169164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ounded Rectangle 95"/>
          <p:cNvSpPr/>
          <p:nvPr/>
        </p:nvSpPr>
        <p:spPr>
          <a:xfrm>
            <a:off x="8183879" y="169164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ounded Rectangle 96"/>
          <p:cNvSpPr/>
          <p:nvPr/>
        </p:nvSpPr>
        <p:spPr>
          <a:xfrm>
            <a:off x="8366760" y="1691640"/>
            <a:ext cx="91440" cy="411480"/>
          </a:xfrm>
          <a:prstGeom prst="roundRect">
            <a:avLst>
              <a:gd name="adj" fmla="val 1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5989320" y="9326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벡터 28개 (각 384차원)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57200" y="2514600"/>
            <a:ext cx="8229600" cy="685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594360" y="2587752"/>
            <a:ext cx="795527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문서 수: 12</a:t>
            </a:r>
          </a:p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청크 수: 28        travel → [(0, 80), (60, 140), (120, 148)]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640080" y="3493008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617"/>
                </a:solidFill>
              </a:rPr>
              <a:t>문장 임베딩은 무엇을 학습했을까?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검색에 쓰는 임베딩 모델은 관련 있는 문장 쌍은 가깝게, 관련 없는 문장은 멀게 학습돼 있어요.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하지만 완벽하지 않아요: "비용" · "영수증"이 겹치는 식비 문서도 숙박 질문 가까이 올 수 있어요 → 결과는 원문으로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4-1 임베딩과 벡터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Pooling: 토큰 벡터 여러 개를 문장 벡터 하나로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0241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계산용 가상 값 (실제 E5 출력 아님)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37160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토큰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137160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[ 1,  2]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137160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F8A70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1874519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토큰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1874519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[ 3,  0]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1874519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F8A70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37744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패딩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237744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[99, 99]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237744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F8A70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10972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8A70"/>
                </a:solidFill>
              </a:rPr>
              <a:t>mask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2926080"/>
            <a:ext cx="3200400" cy="18288"/>
          </a:xfrm>
          <a:prstGeom prst="roundRect">
            <a:avLst>
              <a:gd name="adj" fmla="val 0"/>
            </a:avLst>
          </a:prstGeom>
          <a:solidFill>
            <a:srgbClr val="85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30175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41617"/>
                </a:solidFill>
              </a:rPr>
              <a:t>패딩 제외 평균 = </a:t>
            </a:r>
            <a:r>
              <a:rPr sz="15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[2, 1]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4747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858793"/>
                </a:solidFill>
              </a:rPr>
              <a:t>패딩 포함 평균 = </a:t>
            </a:r>
            <a:r>
              <a:rPr sz="120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[34.33, 33.67]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31920" y="1097280"/>
            <a:ext cx="4754880" cy="14630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069080" y="1188720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tokens = np.array([[1., 2.], [3., 0.], [99., 99.]])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mask = np.array([1., 1., 0.])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pooled = (tokens * mask[:, None]).sum(axis=0) \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/ mask.sum()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31920" y="2743200"/>
            <a:ext cx="4754880" cy="11887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114800" y="2852928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mask[:, None]은 [1,1,0]을 3행 1열로 바꿔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각 행 전체에 곱해요 → 패딩 행이 0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나눌 때도 전체 행 수 3이 아니라 mask.sum() =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실제 모델: SentenceTransformer가 모델에 설정된 pooling을 자동 적용해요. 손으로 다시 하지 않아요.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4-1 임베딩과 벡터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정규화: 방향은 그대로, 길이만 1로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224942" y="1645919"/>
            <a:ext cx="7315" cy="2880360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185062" y="1645919"/>
            <a:ext cx="7315" cy="2880360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2145182" y="1645919"/>
            <a:ext cx="7315" cy="2880360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3105302" y="1645919"/>
            <a:ext cx="7315" cy="2880360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4065422" y="1645919"/>
            <a:ext cx="7315" cy="2880360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228600" y="4522622"/>
            <a:ext cx="38404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228600" y="3562502"/>
            <a:ext cx="38404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228600" y="2602382"/>
            <a:ext cx="38404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228600" y="1642262"/>
            <a:ext cx="38404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228600" y="3555187"/>
            <a:ext cx="3840480" cy="21945"/>
          </a:xfrm>
          <a:prstGeom prst="roundRect">
            <a:avLst>
              <a:gd name="adj" fmla="val 0"/>
            </a:avLst>
          </a:prstGeom>
          <a:solidFill>
            <a:srgbClr val="85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1177747" y="1645919"/>
            <a:ext cx="21945" cy="2880360"/>
          </a:xfrm>
          <a:prstGeom prst="roundRect">
            <a:avLst>
              <a:gd name="adj" fmla="val 0"/>
            </a:avLst>
          </a:prstGeom>
          <a:solidFill>
            <a:srgbClr val="85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228600" y="2606039"/>
            <a:ext cx="1920240" cy="1920240"/>
          </a:xfrm>
          <a:prstGeom prst="ellipse">
            <a:avLst/>
          </a:prstGeom>
          <a:noFill/>
          <a:ln w="19050">
            <a:solidFill>
              <a:srgbClr val="8587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8" name="Connector 37"/>
          <p:cNvCxnSpPr/>
          <p:nvPr/>
        </p:nvCxnSpPr>
        <p:spPr>
          <a:xfrm flipV="1">
            <a:off x="1188720" y="2606039"/>
            <a:ext cx="1920240" cy="960121"/>
          </a:xfrm>
          <a:prstGeom prst="line">
            <a:avLst/>
          </a:prstGeom>
          <a:ln w="38100">
            <a:solidFill>
              <a:srgbClr val="4141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88720" y="3136794"/>
            <a:ext cx="858731" cy="429366"/>
          </a:xfrm>
          <a:prstGeom prst="line">
            <a:avLst/>
          </a:prstGeom>
          <a:ln w="4445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926080" y="224027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[2, 1]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98548" y="315239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[0.894, 0.447]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" y="231343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길이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114300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√(2² + 1²) = √5 ≈ 2.236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1527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[2, 1]의 길이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192024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[2, 1] ÷ √5 = [0.8944, 0.4472]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230428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방향 그대로, 길이 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80560" y="274320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617720" y="2743200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0.8944 + 0.4472 = 1.34  ✗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8A70"/>
                </a:solidFill>
                <a:latin typeface="Consolas"/>
                <a:ea typeface="Consolas"/>
                <a:cs typeface="Consolas"/>
              </a:rPr>
              <a:t>0.8944² + 0.4472² = 1  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80560" y="384048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663440" y="3950208"/>
            <a:ext cx="38404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다음 강의: 정규화된 벡터끼리는 내적이 곧 코사인 유사도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4-1 임베딩과 벡터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E5 입력: 문서는 passage:, 질문은 query: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097280"/>
            <a:ext cx="8010144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41617"/>
                </a:solidFill>
              </a:rPr>
              <a:t>intfloat/multilingual-e5-small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출력 384차원 · 입력 한도 512토큰 · CPU · 첫 실행에 내려받아 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1031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검색할 문서 청크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2103120"/>
            <a:ext cx="6766560" cy="5486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057400" y="2103120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passage: </a:t>
            </a:r>
            <a:r>
              <a:rPr sz="1150" b="0">
                <a:solidFill>
                  <a:srgbClr val="141617"/>
                </a:solidFill>
              </a:rPr>
              <a:t>국내 출장 숙박 비용 한도는 1박당 12만원입니다. 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788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사용자 질문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20240" y="2788920"/>
            <a:ext cx="6766560" cy="5486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057400" y="2788920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1414B"/>
                </a:solidFill>
                <a:latin typeface="Consolas"/>
                <a:ea typeface="Consolas"/>
                <a:cs typeface="Consolas"/>
              </a:rPr>
              <a:t>query: </a:t>
            </a:r>
            <a:r>
              <a:rPr sz="1150" b="0">
                <a:solidFill>
                  <a:srgbClr val="141617"/>
                </a:solidFill>
              </a:rPr>
              <a:t>출장 호텔비는 얼마까지인가요?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" y="3685032"/>
            <a:ext cx="7955279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passages[0].startswith("passage: ")        True</a:t>
            </a:r>
          </a:p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chunks[0]["text"].startswith("passage: ")  False   ← 원래 본문은 그대로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4-1 임베딩과 벡터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(28, 384): 행은 청크, 열은 성분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03504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749808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96112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042416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1188720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335024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481328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1627632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1773936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1920240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2066543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2212848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2359152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2505456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2651760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2798064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2944368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3090672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3236976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3529584" y="118872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457200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603504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749808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896112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1042416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1188720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1335024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1481328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1627632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1773936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1920240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2066543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2212848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ounded Rectangle 59"/>
          <p:cNvSpPr/>
          <p:nvPr/>
        </p:nvSpPr>
        <p:spPr>
          <a:xfrm>
            <a:off x="2359152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2505456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2651760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2798064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2944368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3090672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3236976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3529584" y="12938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457200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/>
          <p:cNvSpPr/>
          <p:nvPr/>
        </p:nvSpPr>
        <p:spPr>
          <a:xfrm>
            <a:off x="603504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749808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ounded Rectangle 70"/>
          <p:cNvSpPr/>
          <p:nvPr/>
        </p:nvSpPr>
        <p:spPr>
          <a:xfrm>
            <a:off x="896112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1042416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ounded Rectangle 72"/>
          <p:cNvSpPr/>
          <p:nvPr/>
        </p:nvSpPr>
        <p:spPr>
          <a:xfrm>
            <a:off x="1188720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ounded Rectangle 73"/>
          <p:cNvSpPr/>
          <p:nvPr/>
        </p:nvSpPr>
        <p:spPr>
          <a:xfrm>
            <a:off x="1335024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1481328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ounded Rectangle 75"/>
          <p:cNvSpPr/>
          <p:nvPr/>
        </p:nvSpPr>
        <p:spPr>
          <a:xfrm>
            <a:off x="1627632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ounded Rectangle 76"/>
          <p:cNvSpPr/>
          <p:nvPr/>
        </p:nvSpPr>
        <p:spPr>
          <a:xfrm>
            <a:off x="1773936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ounded Rectangle 77"/>
          <p:cNvSpPr/>
          <p:nvPr/>
        </p:nvSpPr>
        <p:spPr>
          <a:xfrm>
            <a:off x="1920240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2066543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ounded Rectangle 79"/>
          <p:cNvSpPr/>
          <p:nvPr/>
        </p:nvSpPr>
        <p:spPr>
          <a:xfrm>
            <a:off x="2212848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ounded Rectangle 80"/>
          <p:cNvSpPr/>
          <p:nvPr/>
        </p:nvSpPr>
        <p:spPr>
          <a:xfrm>
            <a:off x="2359152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ounded Rectangle 81"/>
          <p:cNvSpPr/>
          <p:nvPr/>
        </p:nvSpPr>
        <p:spPr>
          <a:xfrm>
            <a:off x="2505456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2651760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ounded Rectangle 83"/>
          <p:cNvSpPr/>
          <p:nvPr/>
        </p:nvSpPr>
        <p:spPr>
          <a:xfrm>
            <a:off x="2798064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ounded Rectangle 84"/>
          <p:cNvSpPr/>
          <p:nvPr/>
        </p:nvSpPr>
        <p:spPr>
          <a:xfrm>
            <a:off x="2944368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ounded Rectangle 85"/>
          <p:cNvSpPr/>
          <p:nvPr/>
        </p:nvSpPr>
        <p:spPr>
          <a:xfrm>
            <a:off x="3090672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3236976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ounded Rectangle 87"/>
          <p:cNvSpPr/>
          <p:nvPr/>
        </p:nvSpPr>
        <p:spPr>
          <a:xfrm>
            <a:off x="3529584" y="139903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ounded Rectangle 88"/>
          <p:cNvSpPr/>
          <p:nvPr/>
        </p:nvSpPr>
        <p:spPr>
          <a:xfrm>
            <a:off x="457200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603504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749808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ounded Rectangle 91"/>
          <p:cNvSpPr/>
          <p:nvPr/>
        </p:nvSpPr>
        <p:spPr>
          <a:xfrm>
            <a:off x="896112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ounded Rectangle 92"/>
          <p:cNvSpPr/>
          <p:nvPr/>
        </p:nvSpPr>
        <p:spPr>
          <a:xfrm>
            <a:off x="1042416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ounded Rectangle 93"/>
          <p:cNvSpPr/>
          <p:nvPr/>
        </p:nvSpPr>
        <p:spPr>
          <a:xfrm>
            <a:off x="1188720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ounded Rectangle 94"/>
          <p:cNvSpPr/>
          <p:nvPr/>
        </p:nvSpPr>
        <p:spPr>
          <a:xfrm>
            <a:off x="1335024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ounded Rectangle 95"/>
          <p:cNvSpPr/>
          <p:nvPr/>
        </p:nvSpPr>
        <p:spPr>
          <a:xfrm>
            <a:off x="1481328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ounded Rectangle 96"/>
          <p:cNvSpPr/>
          <p:nvPr/>
        </p:nvSpPr>
        <p:spPr>
          <a:xfrm>
            <a:off x="1627632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ounded Rectangle 97"/>
          <p:cNvSpPr/>
          <p:nvPr/>
        </p:nvSpPr>
        <p:spPr>
          <a:xfrm>
            <a:off x="1773936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ounded Rectangle 98"/>
          <p:cNvSpPr/>
          <p:nvPr/>
        </p:nvSpPr>
        <p:spPr>
          <a:xfrm>
            <a:off x="1920240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ounded Rectangle 99"/>
          <p:cNvSpPr/>
          <p:nvPr/>
        </p:nvSpPr>
        <p:spPr>
          <a:xfrm>
            <a:off x="2066543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ounded Rectangle 100"/>
          <p:cNvSpPr/>
          <p:nvPr/>
        </p:nvSpPr>
        <p:spPr>
          <a:xfrm>
            <a:off x="2212848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ounded Rectangle 101"/>
          <p:cNvSpPr/>
          <p:nvPr/>
        </p:nvSpPr>
        <p:spPr>
          <a:xfrm>
            <a:off x="2359152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ounded Rectangle 102"/>
          <p:cNvSpPr/>
          <p:nvPr/>
        </p:nvSpPr>
        <p:spPr>
          <a:xfrm>
            <a:off x="2505456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ounded Rectangle 103"/>
          <p:cNvSpPr/>
          <p:nvPr/>
        </p:nvSpPr>
        <p:spPr>
          <a:xfrm>
            <a:off x="2651760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ounded Rectangle 104"/>
          <p:cNvSpPr/>
          <p:nvPr/>
        </p:nvSpPr>
        <p:spPr>
          <a:xfrm>
            <a:off x="2798064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ounded Rectangle 105"/>
          <p:cNvSpPr/>
          <p:nvPr/>
        </p:nvSpPr>
        <p:spPr>
          <a:xfrm>
            <a:off x="2944368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ounded Rectangle 106"/>
          <p:cNvSpPr/>
          <p:nvPr/>
        </p:nvSpPr>
        <p:spPr>
          <a:xfrm>
            <a:off x="3090672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ounded Rectangle 107"/>
          <p:cNvSpPr/>
          <p:nvPr/>
        </p:nvSpPr>
        <p:spPr>
          <a:xfrm>
            <a:off x="3236976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ounded Rectangle 108"/>
          <p:cNvSpPr/>
          <p:nvPr/>
        </p:nvSpPr>
        <p:spPr>
          <a:xfrm>
            <a:off x="3529584" y="150418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ounded Rectangle 109"/>
          <p:cNvSpPr/>
          <p:nvPr/>
        </p:nvSpPr>
        <p:spPr>
          <a:xfrm>
            <a:off x="457200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ounded Rectangle 110"/>
          <p:cNvSpPr/>
          <p:nvPr/>
        </p:nvSpPr>
        <p:spPr>
          <a:xfrm>
            <a:off x="603504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ounded Rectangle 111"/>
          <p:cNvSpPr/>
          <p:nvPr/>
        </p:nvSpPr>
        <p:spPr>
          <a:xfrm>
            <a:off x="749808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ounded Rectangle 112"/>
          <p:cNvSpPr/>
          <p:nvPr/>
        </p:nvSpPr>
        <p:spPr>
          <a:xfrm>
            <a:off x="896112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ounded Rectangle 113"/>
          <p:cNvSpPr/>
          <p:nvPr/>
        </p:nvSpPr>
        <p:spPr>
          <a:xfrm>
            <a:off x="1042416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ounded Rectangle 114"/>
          <p:cNvSpPr/>
          <p:nvPr/>
        </p:nvSpPr>
        <p:spPr>
          <a:xfrm>
            <a:off x="1188720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ounded Rectangle 115"/>
          <p:cNvSpPr/>
          <p:nvPr/>
        </p:nvSpPr>
        <p:spPr>
          <a:xfrm>
            <a:off x="1335024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ounded Rectangle 116"/>
          <p:cNvSpPr/>
          <p:nvPr/>
        </p:nvSpPr>
        <p:spPr>
          <a:xfrm>
            <a:off x="1481328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ounded Rectangle 117"/>
          <p:cNvSpPr/>
          <p:nvPr/>
        </p:nvSpPr>
        <p:spPr>
          <a:xfrm>
            <a:off x="1627632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ounded Rectangle 118"/>
          <p:cNvSpPr/>
          <p:nvPr/>
        </p:nvSpPr>
        <p:spPr>
          <a:xfrm>
            <a:off x="1773936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ounded Rectangle 119"/>
          <p:cNvSpPr/>
          <p:nvPr/>
        </p:nvSpPr>
        <p:spPr>
          <a:xfrm>
            <a:off x="1920240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ounded Rectangle 120"/>
          <p:cNvSpPr/>
          <p:nvPr/>
        </p:nvSpPr>
        <p:spPr>
          <a:xfrm>
            <a:off x="2066543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ounded Rectangle 121"/>
          <p:cNvSpPr/>
          <p:nvPr/>
        </p:nvSpPr>
        <p:spPr>
          <a:xfrm>
            <a:off x="2212848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ounded Rectangle 122"/>
          <p:cNvSpPr/>
          <p:nvPr/>
        </p:nvSpPr>
        <p:spPr>
          <a:xfrm>
            <a:off x="2359152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ounded Rectangle 123"/>
          <p:cNvSpPr/>
          <p:nvPr/>
        </p:nvSpPr>
        <p:spPr>
          <a:xfrm>
            <a:off x="2505456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ounded Rectangle 124"/>
          <p:cNvSpPr/>
          <p:nvPr/>
        </p:nvSpPr>
        <p:spPr>
          <a:xfrm>
            <a:off x="2651760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ounded Rectangle 125"/>
          <p:cNvSpPr/>
          <p:nvPr/>
        </p:nvSpPr>
        <p:spPr>
          <a:xfrm>
            <a:off x="2798064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ounded Rectangle 126"/>
          <p:cNvSpPr/>
          <p:nvPr/>
        </p:nvSpPr>
        <p:spPr>
          <a:xfrm>
            <a:off x="2944368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ounded Rectangle 127"/>
          <p:cNvSpPr/>
          <p:nvPr/>
        </p:nvSpPr>
        <p:spPr>
          <a:xfrm>
            <a:off x="3090672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ounded Rectangle 128"/>
          <p:cNvSpPr/>
          <p:nvPr/>
        </p:nvSpPr>
        <p:spPr>
          <a:xfrm>
            <a:off x="3236976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ounded Rectangle 129"/>
          <p:cNvSpPr/>
          <p:nvPr/>
        </p:nvSpPr>
        <p:spPr>
          <a:xfrm>
            <a:off x="3529584" y="160934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ounded Rectangle 130"/>
          <p:cNvSpPr/>
          <p:nvPr/>
        </p:nvSpPr>
        <p:spPr>
          <a:xfrm>
            <a:off x="457200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ounded Rectangle 131"/>
          <p:cNvSpPr/>
          <p:nvPr/>
        </p:nvSpPr>
        <p:spPr>
          <a:xfrm>
            <a:off x="603504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ounded Rectangle 132"/>
          <p:cNvSpPr/>
          <p:nvPr/>
        </p:nvSpPr>
        <p:spPr>
          <a:xfrm>
            <a:off x="749808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ounded Rectangle 133"/>
          <p:cNvSpPr/>
          <p:nvPr/>
        </p:nvSpPr>
        <p:spPr>
          <a:xfrm>
            <a:off x="896112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ounded Rectangle 134"/>
          <p:cNvSpPr/>
          <p:nvPr/>
        </p:nvSpPr>
        <p:spPr>
          <a:xfrm>
            <a:off x="1042416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ounded Rectangle 135"/>
          <p:cNvSpPr/>
          <p:nvPr/>
        </p:nvSpPr>
        <p:spPr>
          <a:xfrm>
            <a:off x="1188720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ounded Rectangle 136"/>
          <p:cNvSpPr/>
          <p:nvPr/>
        </p:nvSpPr>
        <p:spPr>
          <a:xfrm>
            <a:off x="1335024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ounded Rectangle 137"/>
          <p:cNvSpPr/>
          <p:nvPr/>
        </p:nvSpPr>
        <p:spPr>
          <a:xfrm>
            <a:off x="1481328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ounded Rectangle 138"/>
          <p:cNvSpPr/>
          <p:nvPr/>
        </p:nvSpPr>
        <p:spPr>
          <a:xfrm>
            <a:off x="1627632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ounded Rectangle 139"/>
          <p:cNvSpPr/>
          <p:nvPr/>
        </p:nvSpPr>
        <p:spPr>
          <a:xfrm>
            <a:off x="1773936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ounded Rectangle 140"/>
          <p:cNvSpPr/>
          <p:nvPr/>
        </p:nvSpPr>
        <p:spPr>
          <a:xfrm>
            <a:off x="1920240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ounded Rectangle 141"/>
          <p:cNvSpPr/>
          <p:nvPr/>
        </p:nvSpPr>
        <p:spPr>
          <a:xfrm>
            <a:off x="2066543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ounded Rectangle 142"/>
          <p:cNvSpPr/>
          <p:nvPr/>
        </p:nvSpPr>
        <p:spPr>
          <a:xfrm>
            <a:off x="2212848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ounded Rectangle 143"/>
          <p:cNvSpPr/>
          <p:nvPr/>
        </p:nvSpPr>
        <p:spPr>
          <a:xfrm>
            <a:off x="2359152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ounded Rectangle 144"/>
          <p:cNvSpPr/>
          <p:nvPr/>
        </p:nvSpPr>
        <p:spPr>
          <a:xfrm>
            <a:off x="2505456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ounded Rectangle 145"/>
          <p:cNvSpPr/>
          <p:nvPr/>
        </p:nvSpPr>
        <p:spPr>
          <a:xfrm>
            <a:off x="2651760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ounded Rectangle 146"/>
          <p:cNvSpPr/>
          <p:nvPr/>
        </p:nvSpPr>
        <p:spPr>
          <a:xfrm>
            <a:off x="2798064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ounded Rectangle 147"/>
          <p:cNvSpPr/>
          <p:nvPr/>
        </p:nvSpPr>
        <p:spPr>
          <a:xfrm>
            <a:off x="2944368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ounded Rectangle 148"/>
          <p:cNvSpPr/>
          <p:nvPr/>
        </p:nvSpPr>
        <p:spPr>
          <a:xfrm>
            <a:off x="3090672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Rounded Rectangle 149"/>
          <p:cNvSpPr/>
          <p:nvPr/>
        </p:nvSpPr>
        <p:spPr>
          <a:xfrm>
            <a:off x="3236976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ounded Rectangle 150"/>
          <p:cNvSpPr/>
          <p:nvPr/>
        </p:nvSpPr>
        <p:spPr>
          <a:xfrm>
            <a:off x="3529584" y="171450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Rounded Rectangle 151"/>
          <p:cNvSpPr/>
          <p:nvPr/>
        </p:nvSpPr>
        <p:spPr>
          <a:xfrm>
            <a:off x="457200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ounded Rectangle 152"/>
          <p:cNvSpPr/>
          <p:nvPr/>
        </p:nvSpPr>
        <p:spPr>
          <a:xfrm>
            <a:off x="603504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Rounded Rectangle 153"/>
          <p:cNvSpPr/>
          <p:nvPr/>
        </p:nvSpPr>
        <p:spPr>
          <a:xfrm>
            <a:off x="749808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ounded Rectangle 154"/>
          <p:cNvSpPr/>
          <p:nvPr/>
        </p:nvSpPr>
        <p:spPr>
          <a:xfrm>
            <a:off x="896112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ounded Rectangle 155"/>
          <p:cNvSpPr/>
          <p:nvPr/>
        </p:nvSpPr>
        <p:spPr>
          <a:xfrm>
            <a:off x="1042416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ounded Rectangle 156"/>
          <p:cNvSpPr/>
          <p:nvPr/>
        </p:nvSpPr>
        <p:spPr>
          <a:xfrm>
            <a:off x="1188720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Rounded Rectangle 157"/>
          <p:cNvSpPr/>
          <p:nvPr/>
        </p:nvSpPr>
        <p:spPr>
          <a:xfrm>
            <a:off x="1335024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Rounded Rectangle 158"/>
          <p:cNvSpPr/>
          <p:nvPr/>
        </p:nvSpPr>
        <p:spPr>
          <a:xfrm>
            <a:off x="1481328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Rounded Rectangle 159"/>
          <p:cNvSpPr/>
          <p:nvPr/>
        </p:nvSpPr>
        <p:spPr>
          <a:xfrm>
            <a:off x="1627632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Rounded Rectangle 160"/>
          <p:cNvSpPr/>
          <p:nvPr/>
        </p:nvSpPr>
        <p:spPr>
          <a:xfrm>
            <a:off x="1773936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Rounded Rectangle 161"/>
          <p:cNvSpPr/>
          <p:nvPr/>
        </p:nvSpPr>
        <p:spPr>
          <a:xfrm>
            <a:off x="1920240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Rounded Rectangle 162"/>
          <p:cNvSpPr/>
          <p:nvPr/>
        </p:nvSpPr>
        <p:spPr>
          <a:xfrm>
            <a:off x="2066543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Rounded Rectangle 163"/>
          <p:cNvSpPr/>
          <p:nvPr/>
        </p:nvSpPr>
        <p:spPr>
          <a:xfrm>
            <a:off x="2212848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Rounded Rectangle 164"/>
          <p:cNvSpPr/>
          <p:nvPr/>
        </p:nvSpPr>
        <p:spPr>
          <a:xfrm>
            <a:off x="2359152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ounded Rectangle 165"/>
          <p:cNvSpPr/>
          <p:nvPr/>
        </p:nvSpPr>
        <p:spPr>
          <a:xfrm>
            <a:off x="2505456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ounded Rectangle 166"/>
          <p:cNvSpPr/>
          <p:nvPr/>
        </p:nvSpPr>
        <p:spPr>
          <a:xfrm>
            <a:off x="2651760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Rounded Rectangle 167"/>
          <p:cNvSpPr/>
          <p:nvPr/>
        </p:nvSpPr>
        <p:spPr>
          <a:xfrm>
            <a:off x="2798064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ounded Rectangle 168"/>
          <p:cNvSpPr/>
          <p:nvPr/>
        </p:nvSpPr>
        <p:spPr>
          <a:xfrm>
            <a:off x="2944368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ounded Rectangle 169"/>
          <p:cNvSpPr/>
          <p:nvPr/>
        </p:nvSpPr>
        <p:spPr>
          <a:xfrm>
            <a:off x="3090672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Rounded Rectangle 170"/>
          <p:cNvSpPr/>
          <p:nvPr/>
        </p:nvSpPr>
        <p:spPr>
          <a:xfrm>
            <a:off x="3236976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Rounded Rectangle 171"/>
          <p:cNvSpPr/>
          <p:nvPr/>
        </p:nvSpPr>
        <p:spPr>
          <a:xfrm>
            <a:off x="3529584" y="181965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ounded Rectangle 172"/>
          <p:cNvSpPr/>
          <p:nvPr/>
        </p:nvSpPr>
        <p:spPr>
          <a:xfrm>
            <a:off x="457200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Rounded Rectangle 173"/>
          <p:cNvSpPr/>
          <p:nvPr/>
        </p:nvSpPr>
        <p:spPr>
          <a:xfrm>
            <a:off x="603504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Rounded Rectangle 174"/>
          <p:cNvSpPr/>
          <p:nvPr/>
        </p:nvSpPr>
        <p:spPr>
          <a:xfrm>
            <a:off x="749808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Rounded Rectangle 175"/>
          <p:cNvSpPr/>
          <p:nvPr/>
        </p:nvSpPr>
        <p:spPr>
          <a:xfrm>
            <a:off x="896112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Rounded Rectangle 176"/>
          <p:cNvSpPr/>
          <p:nvPr/>
        </p:nvSpPr>
        <p:spPr>
          <a:xfrm>
            <a:off x="1042416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Rounded Rectangle 177"/>
          <p:cNvSpPr/>
          <p:nvPr/>
        </p:nvSpPr>
        <p:spPr>
          <a:xfrm>
            <a:off x="1188720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Rounded Rectangle 178"/>
          <p:cNvSpPr/>
          <p:nvPr/>
        </p:nvSpPr>
        <p:spPr>
          <a:xfrm>
            <a:off x="1335024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Rounded Rectangle 179"/>
          <p:cNvSpPr/>
          <p:nvPr/>
        </p:nvSpPr>
        <p:spPr>
          <a:xfrm>
            <a:off x="1481328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Rounded Rectangle 180"/>
          <p:cNvSpPr/>
          <p:nvPr/>
        </p:nvSpPr>
        <p:spPr>
          <a:xfrm>
            <a:off x="1627632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Rounded Rectangle 181"/>
          <p:cNvSpPr/>
          <p:nvPr/>
        </p:nvSpPr>
        <p:spPr>
          <a:xfrm>
            <a:off x="1773936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Rounded Rectangle 182"/>
          <p:cNvSpPr/>
          <p:nvPr/>
        </p:nvSpPr>
        <p:spPr>
          <a:xfrm>
            <a:off x="1920240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Rounded Rectangle 183"/>
          <p:cNvSpPr/>
          <p:nvPr/>
        </p:nvSpPr>
        <p:spPr>
          <a:xfrm>
            <a:off x="2066543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Rounded Rectangle 184"/>
          <p:cNvSpPr/>
          <p:nvPr/>
        </p:nvSpPr>
        <p:spPr>
          <a:xfrm>
            <a:off x="2212848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Rounded Rectangle 185"/>
          <p:cNvSpPr/>
          <p:nvPr/>
        </p:nvSpPr>
        <p:spPr>
          <a:xfrm>
            <a:off x="2359152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Rounded Rectangle 186"/>
          <p:cNvSpPr/>
          <p:nvPr/>
        </p:nvSpPr>
        <p:spPr>
          <a:xfrm>
            <a:off x="2505456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Rounded Rectangle 187"/>
          <p:cNvSpPr/>
          <p:nvPr/>
        </p:nvSpPr>
        <p:spPr>
          <a:xfrm>
            <a:off x="2651760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Rounded Rectangle 188"/>
          <p:cNvSpPr/>
          <p:nvPr/>
        </p:nvSpPr>
        <p:spPr>
          <a:xfrm>
            <a:off x="2798064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Rounded Rectangle 189"/>
          <p:cNvSpPr/>
          <p:nvPr/>
        </p:nvSpPr>
        <p:spPr>
          <a:xfrm>
            <a:off x="2944368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Rounded Rectangle 190"/>
          <p:cNvSpPr/>
          <p:nvPr/>
        </p:nvSpPr>
        <p:spPr>
          <a:xfrm>
            <a:off x="3090672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Rounded Rectangle 191"/>
          <p:cNvSpPr/>
          <p:nvPr/>
        </p:nvSpPr>
        <p:spPr>
          <a:xfrm>
            <a:off x="3236976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Rounded Rectangle 192"/>
          <p:cNvSpPr/>
          <p:nvPr/>
        </p:nvSpPr>
        <p:spPr>
          <a:xfrm>
            <a:off x="3529584" y="192481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Rounded Rectangle 193"/>
          <p:cNvSpPr/>
          <p:nvPr/>
        </p:nvSpPr>
        <p:spPr>
          <a:xfrm>
            <a:off x="457200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Rounded Rectangle 194"/>
          <p:cNvSpPr/>
          <p:nvPr/>
        </p:nvSpPr>
        <p:spPr>
          <a:xfrm>
            <a:off x="603504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Rounded Rectangle 195"/>
          <p:cNvSpPr/>
          <p:nvPr/>
        </p:nvSpPr>
        <p:spPr>
          <a:xfrm>
            <a:off x="749808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Rounded Rectangle 196"/>
          <p:cNvSpPr/>
          <p:nvPr/>
        </p:nvSpPr>
        <p:spPr>
          <a:xfrm>
            <a:off x="896112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Rounded Rectangle 197"/>
          <p:cNvSpPr/>
          <p:nvPr/>
        </p:nvSpPr>
        <p:spPr>
          <a:xfrm>
            <a:off x="1042416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Rounded Rectangle 198"/>
          <p:cNvSpPr/>
          <p:nvPr/>
        </p:nvSpPr>
        <p:spPr>
          <a:xfrm>
            <a:off x="1188720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Rounded Rectangle 199"/>
          <p:cNvSpPr/>
          <p:nvPr/>
        </p:nvSpPr>
        <p:spPr>
          <a:xfrm>
            <a:off x="1335024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Rounded Rectangle 200"/>
          <p:cNvSpPr/>
          <p:nvPr/>
        </p:nvSpPr>
        <p:spPr>
          <a:xfrm>
            <a:off x="1481328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Rounded Rectangle 201"/>
          <p:cNvSpPr/>
          <p:nvPr/>
        </p:nvSpPr>
        <p:spPr>
          <a:xfrm>
            <a:off x="1627632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Rounded Rectangle 202"/>
          <p:cNvSpPr/>
          <p:nvPr/>
        </p:nvSpPr>
        <p:spPr>
          <a:xfrm>
            <a:off x="1773936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Rounded Rectangle 203"/>
          <p:cNvSpPr/>
          <p:nvPr/>
        </p:nvSpPr>
        <p:spPr>
          <a:xfrm>
            <a:off x="1920240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Rounded Rectangle 204"/>
          <p:cNvSpPr/>
          <p:nvPr/>
        </p:nvSpPr>
        <p:spPr>
          <a:xfrm>
            <a:off x="2066543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Rounded Rectangle 205"/>
          <p:cNvSpPr/>
          <p:nvPr/>
        </p:nvSpPr>
        <p:spPr>
          <a:xfrm>
            <a:off x="2212848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Rounded Rectangle 206"/>
          <p:cNvSpPr/>
          <p:nvPr/>
        </p:nvSpPr>
        <p:spPr>
          <a:xfrm>
            <a:off x="2359152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Rounded Rectangle 207"/>
          <p:cNvSpPr/>
          <p:nvPr/>
        </p:nvSpPr>
        <p:spPr>
          <a:xfrm>
            <a:off x="2505456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Rounded Rectangle 208"/>
          <p:cNvSpPr/>
          <p:nvPr/>
        </p:nvSpPr>
        <p:spPr>
          <a:xfrm>
            <a:off x="2651760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Rounded Rectangle 209"/>
          <p:cNvSpPr/>
          <p:nvPr/>
        </p:nvSpPr>
        <p:spPr>
          <a:xfrm>
            <a:off x="2798064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Rounded Rectangle 210"/>
          <p:cNvSpPr/>
          <p:nvPr/>
        </p:nvSpPr>
        <p:spPr>
          <a:xfrm>
            <a:off x="2944368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Rounded Rectangle 211"/>
          <p:cNvSpPr/>
          <p:nvPr/>
        </p:nvSpPr>
        <p:spPr>
          <a:xfrm>
            <a:off x="3090672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Rounded Rectangle 212"/>
          <p:cNvSpPr/>
          <p:nvPr/>
        </p:nvSpPr>
        <p:spPr>
          <a:xfrm>
            <a:off x="3236976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Rounded Rectangle 213"/>
          <p:cNvSpPr/>
          <p:nvPr/>
        </p:nvSpPr>
        <p:spPr>
          <a:xfrm>
            <a:off x="3529584" y="202996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Rounded Rectangle 214"/>
          <p:cNvSpPr/>
          <p:nvPr/>
        </p:nvSpPr>
        <p:spPr>
          <a:xfrm>
            <a:off x="457200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Rounded Rectangle 215"/>
          <p:cNvSpPr/>
          <p:nvPr/>
        </p:nvSpPr>
        <p:spPr>
          <a:xfrm>
            <a:off x="603504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Rounded Rectangle 216"/>
          <p:cNvSpPr/>
          <p:nvPr/>
        </p:nvSpPr>
        <p:spPr>
          <a:xfrm>
            <a:off x="749808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Rounded Rectangle 217"/>
          <p:cNvSpPr/>
          <p:nvPr/>
        </p:nvSpPr>
        <p:spPr>
          <a:xfrm>
            <a:off x="896112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Rounded Rectangle 218"/>
          <p:cNvSpPr/>
          <p:nvPr/>
        </p:nvSpPr>
        <p:spPr>
          <a:xfrm>
            <a:off x="1042416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Rounded Rectangle 219"/>
          <p:cNvSpPr/>
          <p:nvPr/>
        </p:nvSpPr>
        <p:spPr>
          <a:xfrm>
            <a:off x="1188720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Rounded Rectangle 220"/>
          <p:cNvSpPr/>
          <p:nvPr/>
        </p:nvSpPr>
        <p:spPr>
          <a:xfrm>
            <a:off x="1335024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Rounded Rectangle 221"/>
          <p:cNvSpPr/>
          <p:nvPr/>
        </p:nvSpPr>
        <p:spPr>
          <a:xfrm>
            <a:off x="1481328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Rounded Rectangle 222"/>
          <p:cNvSpPr/>
          <p:nvPr/>
        </p:nvSpPr>
        <p:spPr>
          <a:xfrm>
            <a:off x="1627632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Rounded Rectangle 223"/>
          <p:cNvSpPr/>
          <p:nvPr/>
        </p:nvSpPr>
        <p:spPr>
          <a:xfrm>
            <a:off x="1773936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Rounded Rectangle 224"/>
          <p:cNvSpPr/>
          <p:nvPr/>
        </p:nvSpPr>
        <p:spPr>
          <a:xfrm>
            <a:off x="1920240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Rounded Rectangle 225"/>
          <p:cNvSpPr/>
          <p:nvPr/>
        </p:nvSpPr>
        <p:spPr>
          <a:xfrm>
            <a:off x="2066543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Rounded Rectangle 226"/>
          <p:cNvSpPr/>
          <p:nvPr/>
        </p:nvSpPr>
        <p:spPr>
          <a:xfrm>
            <a:off x="2212848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8" name="Rounded Rectangle 227"/>
          <p:cNvSpPr/>
          <p:nvPr/>
        </p:nvSpPr>
        <p:spPr>
          <a:xfrm>
            <a:off x="2359152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9" name="Rounded Rectangle 228"/>
          <p:cNvSpPr/>
          <p:nvPr/>
        </p:nvSpPr>
        <p:spPr>
          <a:xfrm>
            <a:off x="2505456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Rounded Rectangle 229"/>
          <p:cNvSpPr/>
          <p:nvPr/>
        </p:nvSpPr>
        <p:spPr>
          <a:xfrm>
            <a:off x="2651760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Rounded Rectangle 230"/>
          <p:cNvSpPr/>
          <p:nvPr/>
        </p:nvSpPr>
        <p:spPr>
          <a:xfrm>
            <a:off x="2798064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2" name="Rounded Rectangle 231"/>
          <p:cNvSpPr/>
          <p:nvPr/>
        </p:nvSpPr>
        <p:spPr>
          <a:xfrm>
            <a:off x="2944368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3" name="Rounded Rectangle 232"/>
          <p:cNvSpPr/>
          <p:nvPr/>
        </p:nvSpPr>
        <p:spPr>
          <a:xfrm>
            <a:off x="3090672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4" name="Rounded Rectangle 233"/>
          <p:cNvSpPr/>
          <p:nvPr/>
        </p:nvSpPr>
        <p:spPr>
          <a:xfrm>
            <a:off x="3236976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5" name="Rounded Rectangle 234"/>
          <p:cNvSpPr/>
          <p:nvPr/>
        </p:nvSpPr>
        <p:spPr>
          <a:xfrm>
            <a:off x="3529584" y="213512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Rounded Rectangle 235"/>
          <p:cNvSpPr/>
          <p:nvPr/>
        </p:nvSpPr>
        <p:spPr>
          <a:xfrm>
            <a:off x="457200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7" name="Rounded Rectangle 236"/>
          <p:cNvSpPr/>
          <p:nvPr/>
        </p:nvSpPr>
        <p:spPr>
          <a:xfrm>
            <a:off x="603504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8" name="Rounded Rectangle 237"/>
          <p:cNvSpPr/>
          <p:nvPr/>
        </p:nvSpPr>
        <p:spPr>
          <a:xfrm>
            <a:off x="749808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Rounded Rectangle 238"/>
          <p:cNvSpPr/>
          <p:nvPr/>
        </p:nvSpPr>
        <p:spPr>
          <a:xfrm>
            <a:off x="896112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Rounded Rectangle 239"/>
          <p:cNvSpPr/>
          <p:nvPr/>
        </p:nvSpPr>
        <p:spPr>
          <a:xfrm>
            <a:off x="1042416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Rounded Rectangle 240"/>
          <p:cNvSpPr/>
          <p:nvPr/>
        </p:nvSpPr>
        <p:spPr>
          <a:xfrm>
            <a:off x="1188720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2" name="Rounded Rectangle 241"/>
          <p:cNvSpPr/>
          <p:nvPr/>
        </p:nvSpPr>
        <p:spPr>
          <a:xfrm>
            <a:off x="1335024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Rounded Rectangle 242"/>
          <p:cNvSpPr/>
          <p:nvPr/>
        </p:nvSpPr>
        <p:spPr>
          <a:xfrm>
            <a:off x="1481328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Rounded Rectangle 243"/>
          <p:cNvSpPr/>
          <p:nvPr/>
        </p:nvSpPr>
        <p:spPr>
          <a:xfrm>
            <a:off x="1627632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Rounded Rectangle 244"/>
          <p:cNvSpPr/>
          <p:nvPr/>
        </p:nvSpPr>
        <p:spPr>
          <a:xfrm>
            <a:off x="1773936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Rounded Rectangle 245"/>
          <p:cNvSpPr/>
          <p:nvPr/>
        </p:nvSpPr>
        <p:spPr>
          <a:xfrm>
            <a:off x="1920240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Rounded Rectangle 246"/>
          <p:cNvSpPr/>
          <p:nvPr/>
        </p:nvSpPr>
        <p:spPr>
          <a:xfrm>
            <a:off x="2066543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Rounded Rectangle 247"/>
          <p:cNvSpPr/>
          <p:nvPr/>
        </p:nvSpPr>
        <p:spPr>
          <a:xfrm>
            <a:off x="2212848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Rounded Rectangle 248"/>
          <p:cNvSpPr/>
          <p:nvPr/>
        </p:nvSpPr>
        <p:spPr>
          <a:xfrm>
            <a:off x="2359152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Rounded Rectangle 249"/>
          <p:cNvSpPr/>
          <p:nvPr/>
        </p:nvSpPr>
        <p:spPr>
          <a:xfrm>
            <a:off x="2505456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1" name="Rounded Rectangle 250"/>
          <p:cNvSpPr/>
          <p:nvPr/>
        </p:nvSpPr>
        <p:spPr>
          <a:xfrm>
            <a:off x="2651760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2" name="Rounded Rectangle 251"/>
          <p:cNvSpPr/>
          <p:nvPr/>
        </p:nvSpPr>
        <p:spPr>
          <a:xfrm>
            <a:off x="2798064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Rounded Rectangle 252"/>
          <p:cNvSpPr/>
          <p:nvPr/>
        </p:nvSpPr>
        <p:spPr>
          <a:xfrm>
            <a:off x="2944368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Rounded Rectangle 253"/>
          <p:cNvSpPr/>
          <p:nvPr/>
        </p:nvSpPr>
        <p:spPr>
          <a:xfrm>
            <a:off x="3090672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Rounded Rectangle 254"/>
          <p:cNvSpPr/>
          <p:nvPr/>
        </p:nvSpPr>
        <p:spPr>
          <a:xfrm>
            <a:off x="3236976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Rounded Rectangle 255"/>
          <p:cNvSpPr/>
          <p:nvPr/>
        </p:nvSpPr>
        <p:spPr>
          <a:xfrm>
            <a:off x="3529584" y="224028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7" name="Rounded Rectangle 256"/>
          <p:cNvSpPr/>
          <p:nvPr/>
        </p:nvSpPr>
        <p:spPr>
          <a:xfrm>
            <a:off x="457200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8" name="Rounded Rectangle 257"/>
          <p:cNvSpPr/>
          <p:nvPr/>
        </p:nvSpPr>
        <p:spPr>
          <a:xfrm>
            <a:off x="603504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9" name="Rounded Rectangle 258"/>
          <p:cNvSpPr/>
          <p:nvPr/>
        </p:nvSpPr>
        <p:spPr>
          <a:xfrm>
            <a:off x="749808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0" name="Rounded Rectangle 259"/>
          <p:cNvSpPr/>
          <p:nvPr/>
        </p:nvSpPr>
        <p:spPr>
          <a:xfrm>
            <a:off x="896112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Rounded Rectangle 260"/>
          <p:cNvSpPr/>
          <p:nvPr/>
        </p:nvSpPr>
        <p:spPr>
          <a:xfrm>
            <a:off x="1042416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2" name="Rounded Rectangle 261"/>
          <p:cNvSpPr/>
          <p:nvPr/>
        </p:nvSpPr>
        <p:spPr>
          <a:xfrm>
            <a:off x="1188720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Rounded Rectangle 262"/>
          <p:cNvSpPr/>
          <p:nvPr/>
        </p:nvSpPr>
        <p:spPr>
          <a:xfrm>
            <a:off x="1335024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4" name="Rounded Rectangle 263"/>
          <p:cNvSpPr/>
          <p:nvPr/>
        </p:nvSpPr>
        <p:spPr>
          <a:xfrm>
            <a:off x="1481328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5" name="Rounded Rectangle 264"/>
          <p:cNvSpPr/>
          <p:nvPr/>
        </p:nvSpPr>
        <p:spPr>
          <a:xfrm>
            <a:off x="1627632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Rounded Rectangle 265"/>
          <p:cNvSpPr/>
          <p:nvPr/>
        </p:nvSpPr>
        <p:spPr>
          <a:xfrm>
            <a:off x="1773936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Rounded Rectangle 266"/>
          <p:cNvSpPr/>
          <p:nvPr/>
        </p:nvSpPr>
        <p:spPr>
          <a:xfrm>
            <a:off x="1920240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Rounded Rectangle 267"/>
          <p:cNvSpPr/>
          <p:nvPr/>
        </p:nvSpPr>
        <p:spPr>
          <a:xfrm>
            <a:off x="2066543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9" name="Rounded Rectangle 268"/>
          <p:cNvSpPr/>
          <p:nvPr/>
        </p:nvSpPr>
        <p:spPr>
          <a:xfrm>
            <a:off x="2212848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0" name="Rounded Rectangle 269"/>
          <p:cNvSpPr/>
          <p:nvPr/>
        </p:nvSpPr>
        <p:spPr>
          <a:xfrm>
            <a:off x="2359152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1" name="Rounded Rectangle 270"/>
          <p:cNvSpPr/>
          <p:nvPr/>
        </p:nvSpPr>
        <p:spPr>
          <a:xfrm>
            <a:off x="2505456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2" name="Rounded Rectangle 271"/>
          <p:cNvSpPr/>
          <p:nvPr/>
        </p:nvSpPr>
        <p:spPr>
          <a:xfrm>
            <a:off x="2651760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3" name="Rounded Rectangle 272"/>
          <p:cNvSpPr/>
          <p:nvPr/>
        </p:nvSpPr>
        <p:spPr>
          <a:xfrm>
            <a:off x="2798064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4" name="Rounded Rectangle 273"/>
          <p:cNvSpPr/>
          <p:nvPr/>
        </p:nvSpPr>
        <p:spPr>
          <a:xfrm>
            <a:off x="2944368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Rounded Rectangle 274"/>
          <p:cNvSpPr/>
          <p:nvPr/>
        </p:nvSpPr>
        <p:spPr>
          <a:xfrm>
            <a:off x="3090672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6" name="Rounded Rectangle 275"/>
          <p:cNvSpPr/>
          <p:nvPr/>
        </p:nvSpPr>
        <p:spPr>
          <a:xfrm>
            <a:off x="3236976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7" name="Rounded Rectangle 276"/>
          <p:cNvSpPr/>
          <p:nvPr/>
        </p:nvSpPr>
        <p:spPr>
          <a:xfrm>
            <a:off x="3529584" y="234543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8" name="Rounded Rectangle 277"/>
          <p:cNvSpPr/>
          <p:nvPr/>
        </p:nvSpPr>
        <p:spPr>
          <a:xfrm>
            <a:off x="457200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9" name="Rounded Rectangle 278"/>
          <p:cNvSpPr/>
          <p:nvPr/>
        </p:nvSpPr>
        <p:spPr>
          <a:xfrm>
            <a:off x="603504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0" name="Rounded Rectangle 279"/>
          <p:cNvSpPr/>
          <p:nvPr/>
        </p:nvSpPr>
        <p:spPr>
          <a:xfrm>
            <a:off x="749808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1" name="Rounded Rectangle 280"/>
          <p:cNvSpPr/>
          <p:nvPr/>
        </p:nvSpPr>
        <p:spPr>
          <a:xfrm>
            <a:off x="896112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2" name="Rounded Rectangle 281"/>
          <p:cNvSpPr/>
          <p:nvPr/>
        </p:nvSpPr>
        <p:spPr>
          <a:xfrm>
            <a:off x="1042416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3" name="Rounded Rectangle 282"/>
          <p:cNvSpPr/>
          <p:nvPr/>
        </p:nvSpPr>
        <p:spPr>
          <a:xfrm>
            <a:off x="1188720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4" name="Rounded Rectangle 283"/>
          <p:cNvSpPr/>
          <p:nvPr/>
        </p:nvSpPr>
        <p:spPr>
          <a:xfrm>
            <a:off x="1335024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5" name="Rounded Rectangle 284"/>
          <p:cNvSpPr/>
          <p:nvPr/>
        </p:nvSpPr>
        <p:spPr>
          <a:xfrm>
            <a:off x="1481328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6" name="Rounded Rectangle 285"/>
          <p:cNvSpPr/>
          <p:nvPr/>
        </p:nvSpPr>
        <p:spPr>
          <a:xfrm>
            <a:off x="1627632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7" name="Rounded Rectangle 286"/>
          <p:cNvSpPr/>
          <p:nvPr/>
        </p:nvSpPr>
        <p:spPr>
          <a:xfrm>
            <a:off x="1773936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8" name="Rounded Rectangle 287"/>
          <p:cNvSpPr/>
          <p:nvPr/>
        </p:nvSpPr>
        <p:spPr>
          <a:xfrm>
            <a:off x="1920240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9" name="Rounded Rectangle 288"/>
          <p:cNvSpPr/>
          <p:nvPr/>
        </p:nvSpPr>
        <p:spPr>
          <a:xfrm>
            <a:off x="2066543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0" name="Rounded Rectangle 289"/>
          <p:cNvSpPr/>
          <p:nvPr/>
        </p:nvSpPr>
        <p:spPr>
          <a:xfrm>
            <a:off x="2212848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1" name="Rounded Rectangle 290"/>
          <p:cNvSpPr/>
          <p:nvPr/>
        </p:nvSpPr>
        <p:spPr>
          <a:xfrm>
            <a:off x="2359152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2" name="Rounded Rectangle 291"/>
          <p:cNvSpPr/>
          <p:nvPr/>
        </p:nvSpPr>
        <p:spPr>
          <a:xfrm>
            <a:off x="2505456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3" name="Rounded Rectangle 292"/>
          <p:cNvSpPr/>
          <p:nvPr/>
        </p:nvSpPr>
        <p:spPr>
          <a:xfrm>
            <a:off x="2651760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4" name="Rounded Rectangle 293"/>
          <p:cNvSpPr/>
          <p:nvPr/>
        </p:nvSpPr>
        <p:spPr>
          <a:xfrm>
            <a:off x="2798064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5" name="Rounded Rectangle 294"/>
          <p:cNvSpPr/>
          <p:nvPr/>
        </p:nvSpPr>
        <p:spPr>
          <a:xfrm>
            <a:off x="2944368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6" name="Rounded Rectangle 295"/>
          <p:cNvSpPr/>
          <p:nvPr/>
        </p:nvSpPr>
        <p:spPr>
          <a:xfrm>
            <a:off x="3090672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7" name="Rounded Rectangle 296"/>
          <p:cNvSpPr/>
          <p:nvPr/>
        </p:nvSpPr>
        <p:spPr>
          <a:xfrm>
            <a:off x="3236976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8" name="Rounded Rectangle 297"/>
          <p:cNvSpPr/>
          <p:nvPr/>
        </p:nvSpPr>
        <p:spPr>
          <a:xfrm>
            <a:off x="3529584" y="245059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9" name="Rounded Rectangle 298"/>
          <p:cNvSpPr/>
          <p:nvPr/>
        </p:nvSpPr>
        <p:spPr>
          <a:xfrm>
            <a:off x="457200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Rounded Rectangle 299"/>
          <p:cNvSpPr/>
          <p:nvPr/>
        </p:nvSpPr>
        <p:spPr>
          <a:xfrm>
            <a:off x="603504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1" name="Rounded Rectangle 300"/>
          <p:cNvSpPr/>
          <p:nvPr/>
        </p:nvSpPr>
        <p:spPr>
          <a:xfrm>
            <a:off x="749808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2" name="Rounded Rectangle 301"/>
          <p:cNvSpPr/>
          <p:nvPr/>
        </p:nvSpPr>
        <p:spPr>
          <a:xfrm>
            <a:off x="896112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3" name="Rounded Rectangle 302"/>
          <p:cNvSpPr/>
          <p:nvPr/>
        </p:nvSpPr>
        <p:spPr>
          <a:xfrm>
            <a:off x="1042416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4" name="Rounded Rectangle 303"/>
          <p:cNvSpPr/>
          <p:nvPr/>
        </p:nvSpPr>
        <p:spPr>
          <a:xfrm>
            <a:off x="1188720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5" name="Rounded Rectangle 304"/>
          <p:cNvSpPr/>
          <p:nvPr/>
        </p:nvSpPr>
        <p:spPr>
          <a:xfrm>
            <a:off x="1335024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6" name="Rounded Rectangle 305"/>
          <p:cNvSpPr/>
          <p:nvPr/>
        </p:nvSpPr>
        <p:spPr>
          <a:xfrm>
            <a:off x="1481328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7" name="Rounded Rectangle 306"/>
          <p:cNvSpPr/>
          <p:nvPr/>
        </p:nvSpPr>
        <p:spPr>
          <a:xfrm>
            <a:off x="1627632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8" name="Rounded Rectangle 307"/>
          <p:cNvSpPr/>
          <p:nvPr/>
        </p:nvSpPr>
        <p:spPr>
          <a:xfrm>
            <a:off x="1773936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9" name="Rounded Rectangle 308"/>
          <p:cNvSpPr/>
          <p:nvPr/>
        </p:nvSpPr>
        <p:spPr>
          <a:xfrm>
            <a:off x="1920240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0" name="Rounded Rectangle 309"/>
          <p:cNvSpPr/>
          <p:nvPr/>
        </p:nvSpPr>
        <p:spPr>
          <a:xfrm>
            <a:off x="2066543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1" name="Rounded Rectangle 310"/>
          <p:cNvSpPr/>
          <p:nvPr/>
        </p:nvSpPr>
        <p:spPr>
          <a:xfrm>
            <a:off x="2212848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2" name="Rounded Rectangle 311"/>
          <p:cNvSpPr/>
          <p:nvPr/>
        </p:nvSpPr>
        <p:spPr>
          <a:xfrm>
            <a:off x="2359152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3" name="Rounded Rectangle 312"/>
          <p:cNvSpPr/>
          <p:nvPr/>
        </p:nvSpPr>
        <p:spPr>
          <a:xfrm>
            <a:off x="2505456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4" name="Rounded Rectangle 313"/>
          <p:cNvSpPr/>
          <p:nvPr/>
        </p:nvSpPr>
        <p:spPr>
          <a:xfrm>
            <a:off x="2651760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5" name="Rounded Rectangle 314"/>
          <p:cNvSpPr/>
          <p:nvPr/>
        </p:nvSpPr>
        <p:spPr>
          <a:xfrm>
            <a:off x="2798064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6" name="Rounded Rectangle 315"/>
          <p:cNvSpPr/>
          <p:nvPr/>
        </p:nvSpPr>
        <p:spPr>
          <a:xfrm>
            <a:off x="2944368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7" name="Rounded Rectangle 316"/>
          <p:cNvSpPr/>
          <p:nvPr/>
        </p:nvSpPr>
        <p:spPr>
          <a:xfrm>
            <a:off x="3090672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8" name="Rounded Rectangle 317"/>
          <p:cNvSpPr/>
          <p:nvPr/>
        </p:nvSpPr>
        <p:spPr>
          <a:xfrm>
            <a:off x="3236976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9" name="Rounded Rectangle 318"/>
          <p:cNvSpPr/>
          <p:nvPr/>
        </p:nvSpPr>
        <p:spPr>
          <a:xfrm>
            <a:off x="3529584" y="255574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0" name="Rounded Rectangle 319"/>
          <p:cNvSpPr/>
          <p:nvPr/>
        </p:nvSpPr>
        <p:spPr>
          <a:xfrm>
            <a:off x="457200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1" name="Rounded Rectangle 320"/>
          <p:cNvSpPr/>
          <p:nvPr/>
        </p:nvSpPr>
        <p:spPr>
          <a:xfrm>
            <a:off x="603504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2" name="Rounded Rectangle 321"/>
          <p:cNvSpPr/>
          <p:nvPr/>
        </p:nvSpPr>
        <p:spPr>
          <a:xfrm>
            <a:off x="749808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3" name="Rounded Rectangle 322"/>
          <p:cNvSpPr/>
          <p:nvPr/>
        </p:nvSpPr>
        <p:spPr>
          <a:xfrm>
            <a:off x="896112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4" name="Rounded Rectangle 323"/>
          <p:cNvSpPr/>
          <p:nvPr/>
        </p:nvSpPr>
        <p:spPr>
          <a:xfrm>
            <a:off x="1042416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5" name="Rounded Rectangle 324"/>
          <p:cNvSpPr/>
          <p:nvPr/>
        </p:nvSpPr>
        <p:spPr>
          <a:xfrm>
            <a:off x="1188720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6" name="Rounded Rectangle 325"/>
          <p:cNvSpPr/>
          <p:nvPr/>
        </p:nvSpPr>
        <p:spPr>
          <a:xfrm>
            <a:off x="1335024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7" name="Rounded Rectangle 326"/>
          <p:cNvSpPr/>
          <p:nvPr/>
        </p:nvSpPr>
        <p:spPr>
          <a:xfrm>
            <a:off x="1481328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8" name="Rounded Rectangle 327"/>
          <p:cNvSpPr/>
          <p:nvPr/>
        </p:nvSpPr>
        <p:spPr>
          <a:xfrm>
            <a:off x="1627632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9" name="Rounded Rectangle 328"/>
          <p:cNvSpPr/>
          <p:nvPr/>
        </p:nvSpPr>
        <p:spPr>
          <a:xfrm>
            <a:off x="1773936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0" name="Rounded Rectangle 329"/>
          <p:cNvSpPr/>
          <p:nvPr/>
        </p:nvSpPr>
        <p:spPr>
          <a:xfrm>
            <a:off x="1920240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1" name="Rounded Rectangle 330"/>
          <p:cNvSpPr/>
          <p:nvPr/>
        </p:nvSpPr>
        <p:spPr>
          <a:xfrm>
            <a:off x="2066543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2" name="Rounded Rectangle 331"/>
          <p:cNvSpPr/>
          <p:nvPr/>
        </p:nvSpPr>
        <p:spPr>
          <a:xfrm>
            <a:off x="2212848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3" name="Rounded Rectangle 332"/>
          <p:cNvSpPr/>
          <p:nvPr/>
        </p:nvSpPr>
        <p:spPr>
          <a:xfrm>
            <a:off x="2359152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4" name="Rounded Rectangle 333"/>
          <p:cNvSpPr/>
          <p:nvPr/>
        </p:nvSpPr>
        <p:spPr>
          <a:xfrm>
            <a:off x="2505456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5" name="Rounded Rectangle 334"/>
          <p:cNvSpPr/>
          <p:nvPr/>
        </p:nvSpPr>
        <p:spPr>
          <a:xfrm>
            <a:off x="2651760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6" name="Rounded Rectangle 335"/>
          <p:cNvSpPr/>
          <p:nvPr/>
        </p:nvSpPr>
        <p:spPr>
          <a:xfrm>
            <a:off x="2798064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7" name="Rounded Rectangle 336"/>
          <p:cNvSpPr/>
          <p:nvPr/>
        </p:nvSpPr>
        <p:spPr>
          <a:xfrm>
            <a:off x="2944368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8" name="Rounded Rectangle 337"/>
          <p:cNvSpPr/>
          <p:nvPr/>
        </p:nvSpPr>
        <p:spPr>
          <a:xfrm>
            <a:off x="3090672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9" name="Rounded Rectangle 338"/>
          <p:cNvSpPr/>
          <p:nvPr/>
        </p:nvSpPr>
        <p:spPr>
          <a:xfrm>
            <a:off x="3236976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0" name="Rounded Rectangle 339"/>
          <p:cNvSpPr/>
          <p:nvPr/>
        </p:nvSpPr>
        <p:spPr>
          <a:xfrm>
            <a:off x="3529584" y="266090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1" name="Rounded Rectangle 340"/>
          <p:cNvSpPr/>
          <p:nvPr/>
        </p:nvSpPr>
        <p:spPr>
          <a:xfrm>
            <a:off x="457200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2" name="Rounded Rectangle 341"/>
          <p:cNvSpPr/>
          <p:nvPr/>
        </p:nvSpPr>
        <p:spPr>
          <a:xfrm>
            <a:off x="603504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3" name="Rounded Rectangle 342"/>
          <p:cNvSpPr/>
          <p:nvPr/>
        </p:nvSpPr>
        <p:spPr>
          <a:xfrm>
            <a:off x="749808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4" name="Rounded Rectangle 343"/>
          <p:cNvSpPr/>
          <p:nvPr/>
        </p:nvSpPr>
        <p:spPr>
          <a:xfrm>
            <a:off x="896112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5" name="Rounded Rectangle 344"/>
          <p:cNvSpPr/>
          <p:nvPr/>
        </p:nvSpPr>
        <p:spPr>
          <a:xfrm>
            <a:off x="1042416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6" name="Rounded Rectangle 345"/>
          <p:cNvSpPr/>
          <p:nvPr/>
        </p:nvSpPr>
        <p:spPr>
          <a:xfrm>
            <a:off x="1188720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7" name="Rounded Rectangle 346"/>
          <p:cNvSpPr/>
          <p:nvPr/>
        </p:nvSpPr>
        <p:spPr>
          <a:xfrm>
            <a:off x="1335024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8" name="Rounded Rectangle 347"/>
          <p:cNvSpPr/>
          <p:nvPr/>
        </p:nvSpPr>
        <p:spPr>
          <a:xfrm>
            <a:off x="1481328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9" name="Rounded Rectangle 348"/>
          <p:cNvSpPr/>
          <p:nvPr/>
        </p:nvSpPr>
        <p:spPr>
          <a:xfrm>
            <a:off x="1627632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Rounded Rectangle 349"/>
          <p:cNvSpPr/>
          <p:nvPr/>
        </p:nvSpPr>
        <p:spPr>
          <a:xfrm>
            <a:off x="1773936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1" name="Rounded Rectangle 350"/>
          <p:cNvSpPr/>
          <p:nvPr/>
        </p:nvSpPr>
        <p:spPr>
          <a:xfrm>
            <a:off x="1920240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2" name="Rounded Rectangle 351"/>
          <p:cNvSpPr/>
          <p:nvPr/>
        </p:nvSpPr>
        <p:spPr>
          <a:xfrm>
            <a:off x="2066543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3" name="Rounded Rectangle 352"/>
          <p:cNvSpPr/>
          <p:nvPr/>
        </p:nvSpPr>
        <p:spPr>
          <a:xfrm>
            <a:off x="2212848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4" name="Rounded Rectangle 353"/>
          <p:cNvSpPr/>
          <p:nvPr/>
        </p:nvSpPr>
        <p:spPr>
          <a:xfrm>
            <a:off x="2359152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5" name="Rounded Rectangle 354"/>
          <p:cNvSpPr/>
          <p:nvPr/>
        </p:nvSpPr>
        <p:spPr>
          <a:xfrm>
            <a:off x="2505456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6" name="Rounded Rectangle 355"/>
          <p:cNvSpPr/>
          <p:nvPr/>
        </p:nvSpPr>
        <p:spPr>
          <a:xfrm>
            <a:off x="2651760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7" name="Rounded Rectangle 356"/>
          <p:cNvSpPr/>
          <p:nvPr/>
        </p:nvSpPr>
        <p:spPr>
          <a:xfrm>
            <a:off x="2798064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Rounded Rectangle 357"/>
          <p:cNvSpPr/>
          <p:nvPr/>
        </p:nvSpPr>
        <p:spPr>
          <a:xfrm>
            <a:off x="2944368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9" name="Rounded Rectangle 358"/>
          <p:cNvSpPr/>
          <p:nvPr/>
        </p:nvSpPr>
        <p:spPr>
          <a:xfrm>
            <a:off x="3090672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0" name="Rounded Rectangle 359"/>
          <p:cNvSpPr/>
          <p:nvPr/>
        </p:nvSpPr>
        <p:spPr>
          <a:xfrm>
            <a:off x="3236976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1" name="Rounded Rectangle 360"/>
          <p:cNvSpPr/>
          <p:nvPr/>
        </p:nvSpPr>
        <p:spPr>
          <a:xfrm>
            <a:off x="3529584" y="276606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2" name="Rounded Rectangle 361"/>
          <p:cNvSpPr/>
          <p:nvPr/>
        </p:nvSpPr>
        <p:spPr>
          <a:xfrm>
            <a:off x="457200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3" name="Rounded Rectangle 362"/>
          <p:cNvSpPr/>
          <p:nvPr/>
        </p:nvSpPr>
        <p:spPr>
          <a:xfrm>
            <a:off x="603504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4" name="Rounded Rectangle 363"/>
          <p:cNvSpPr/>
          <p:nvPr/>
        </p:nvSpPr>
        <p:spPr>
          <a:xfrm>
            <a:off x="749808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5" name="Rounded Rectangle 364"/>
          <p:cNvSpPr/>
          <p:nvPr/>
        </p:nvSpPr>
        <p:spPr>
          <a:xfrm>
            <a:off x="896112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6" name="Rounded Rectangle 365"/>
          <p:cNvSpPr/>
          <p:nvPr/>
        </p:nvSpPr>
        <p:spPr>
          <a:xfrm>
            <a:off x="1042416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7" name="Rounded Rectangle 366"/>
          <p:cNvSpPr/>
          <p:nvPr/>
        </p:nvSpPr>
        <p:spPr>
          <a:xfrm>
            <a:off x="1188720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8" name="Rounded Rectangle 367"/>
          <p:cNvSpPr/>
          <p:nvPr/>
        </p:nvSpPr>
        <p:spPr>
          <a:xfrm>
            <a:off x="1335024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9" name="Rounded Rectangle 368"/>
          <p:cNvSpPr/>
          <p:nvPr/>
        </p:nvSpPr>
        <p:spPr>
          <a:xfrm>
            <a:off x="1481328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0" name="Rounded Rectangle 369"/>
          <p:cNvSpPr/>
          <p:nvPr/>
        </p:nvSpPr>
        <p:spPr>
          <a:xfrm>
            <a:off x="1627632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1" name="Rounded Rectangle 370"/>
          <p:cNvSpPr/>
          <p:nvPr/>
        </p:nvSpPr>
        <p:spPr>
          <a:xfrm>
            <a:off x="1773936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2" name="Rounded Rectangle 371"/>
          <p:cNvSpPr/>
          <p:nvPr/>
        </p:nvSpPr>
        <p:spPr>
          <a:xfrm>
            <a:off x="1920240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3" name="Rounded Rectangle 372"/>
          <p:cNvSpPr/>
          <p:nvPr/>
        </p:nvSpPr>
        <p:spPr>
          <a:xfrm>
            <a:off x="2066543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4" name="Rounded Rectangle 373"/>
          <p:cNvSpPr/>
          <p:nvPr/>
        </p:nvSpPr>
        <p:spPr>
          <a:xfrm>
            <a:off x="2212848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5" name="Rounded Rectangle 374"/>
          <p:cNvSpPr/>
          <p:nvPr/>
        </p:nvSpPr>
        <p:spPr>
          <a:xfrm>
            <a:off x="2359152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6" name="Rounded Rectangle 375"/>
          <p:cNvSpPr/>
          <p:nvPr/>
        </p:nvSpPr>
        <p:spPr>
          <a:xfrm>
            <a:off x="2505456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7" name="Rounded Rectangle 376"/>
          <p:cNvSpPr/>
          <p:nvPr/>
        </p:nvSpPr>
        <p:spPr>
          <a:xfrm>
            <a:off x="2651760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8" name="Rounded Rectangle 377"/>
          <p:cNvSpPr/>
          <p:nvPr/>
        </p:nvSpPr>
        <p:spPr>
          <a:xfrm>
            <a:off x="2798064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9" name="Rounded Rectangle 378"/>
          <p:cNvSpPr/>
          <p:nvPr/>
        </p:nvSpPr>
        <p:spPr>
          <a:xfrm>
            <a:off x="2944368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0" name="Rounded Rectangle 379"/>
          <p:cNvSpPr/>
          <p:nvPr/>
        </p:nvSpPr>
        <p:spPr>
          <a:xfrm>
            <a:off x="3090672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1" name="Rounded Rectangle 380"/>
          <p:cNvSpPr/>
          <p:nvPr/>
        </p:nvSpPr>
        <p:spPr>
          <a:xfrm>
            <a:off x="3236976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2" name="Rounded Rectangle 381"/>
          <p:cNvSpPr/>
          <p:nvPr/>
        </p:nvSpPr>
        <p:spPr>
          <a:xfrm>
            <a:off x="3529584" y="287121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3" name="Rounded Rectangle 382"/>
          <p:cNvSpPr/>
          <p:nvPr/>
        </p:nvSpPr>
        <p:spPr>
          <a:xfrm>
            <a:off x="457200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4" name="Rounded Rectangle 383"/>
          <p:cNvSpPr/>
          <p:nvPr/>
        </p:nvSpPr>
        <p:spPr>
          <a:xfrm>
            <a:off x="603504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5" name="Rounded Rectangle 384"/>
          <p:cNvSpPr/>
          <p:nvPr/>
        </p:nvSpPr>
        <p:spPr>
          <a:xfrm>
            <a:off x="749808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6" name="Rounded Rectangle 385"/>
          <p:cNvSpPr/>
          <p:nvPr/>
        </p:nvSpPr>
        <p:spPr>
          <a:xfrm>
            <a:off x="896112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7" name="Rounded Rectangle 386"/>
          <p:cNvSpPr/>
          <p:nvPr/>
        </p:nvSpPr>
        <p:spPr>
          <a:xfrm>
            <a:off x="1042416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8" name="Rounded Rectangle 387"/>
          <p:cNvSpPr/>
          <p:nvPr/>
        </p:nvSpPr>
        <p:spPr>
          <a:xfrm>
            <a:off x="1188720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9" name="Rounded Rectangle 388"/>
          <p:cNvSpPr/>
          <p:nvPr/>
        </p:nvSpPr>
        <p:spPr>
          <a:xfrm>
            <a:off x="1335024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0" name="Rounded Rectangle 389"/>
          <p:cNvSpPr/>
          <p:nvPr/>
        </p:nvSpPr>
        <p:spPr>
          <a:xfrm>
            <a:off x="1481328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1" name="Rounded Rectangle 390"/>
          <p:cNvSpPr/>
          <p:nvPr/>
        </p:nvSpPr>
        <p:spPr>
          <a:xfrm>
            <a:off x="1627632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2" name="Rounded Rectangle 391"/>
          <p:cNvSpPr/>
          <p:nvPr/>
        </p:nvSpPr>
        <p:spPr>
          <a:xfrm>
            <a:off x="1773936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3" name="Rounded Rectangle 392"/>
          <p:cNvSpPr/>
          <p:nvPr/>
        </p:nvSpPr>
        <p:spPr>
          <a:xfrm>
            <a:off x="1920240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4" name="Rounded Rectangle 393"/>
          <p:cNvSpPr/>
          <p:nvPr/>
        </p:nvSpPr>
        <p:spPr>
          <a:xfrm>
            <a:off x="2066543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5" name="Rounded Rectangle 394"/>
          <p:cNvSpPr/>
          <p:nvPr/>
        </p:nvSpPr>
        <p:spPr>
          <a:xfrm>
            <a:off x="2212848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6" name="Rounded Rectangle 395"/>
          <p:cNvSpPr/>
          <p:nvPr/>
        </p:nvSpPr>
        <p:spPr>
          <a:xfrm>
            <a:off x="2359152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7" name="Rounded Rectangle 396"/>
          <p:cNvSpPr/>
          <p:nvPr/>
        </p:nvSpPr>
        <p:spPr>
          <a:xfrm>
            <a:off x="2505456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8" name="Rounded Rectangle 397"/>
          <p:cNvSpPr/>
          <p:nvPr/>
        </p:nvSpPr>
        <p:spPr>
          <a:xfrm>
            <a:off x="2651760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9" name="Rounded Rectangle 398"/>
          <p:cNvSpPr/>
          <p:nvPr/>
        </p:nvSpPr>
        <p:spPr>
          <a:xfrm>
            <a:off x="2798064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0" name="Rounded Rectangle 399"/>
          <p:cNvSpPr/>
          <p:nvPr/>
        </p:nvSpPr>
        <p:spPr>
          <a:xfrm>
            <a:off x="2944368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1" name="Rounded Rectangle 400"/>
          <p:cNvSpPr/>
          <p:nvPr/>
        </p:nvSpPr>
        <p:spPr>
          <a:xfrm>
            <a:off x="3090672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2" name="Rounded Rectangle 401"/>
          <p:cNvSpPr/>
          <p:nvPr/>
        </p:nvSpPr>
        <p:spPr>
          <a:xfrm>
            <a:off x="3236976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3" name="Rounded Rectangle 402"/>
          <p:cNvSpPr/>
          <p:nvPr/>
        </p:nvSpPr>
        <p:spPr>
          <a:xfrm>
            <a:off x="3529584" y="297637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4" name="Rounded Rectangle 403"/>
          <p:cNvSpPr/>
          <p:nvPr/>
        </p:nvSpPr>
        <p:spPr>
          <a:xfrm>
            <a:off x="457200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5" name="Rounded Rectangle 404"/>
          <p:cNvSpPr/>
          <p:nvPr/>
        </p:nvSpPr>
        <p:spPr>
          <a:xfrm>
            <a:off x="603504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6" name="Rounded Rectangle 405"/>
          <p:cNvSpPr/>
          <p:nvPr/>
        </p:nvSpPr>
        <p:spPr>
          <a:xfrm>
            <a:off x="749808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7" name="Rounded Rectangle 406"/>
          <p:cNvSpPr/>
          <p:nvPr/>
        </p:nvSpPr>
        <p:spPr>
          <a:xfrm>
            <a:off x="896112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8" name="Rounded Rectangle 407"/>
          <p:cNvSpPr/>
          <p:nvPr/>
        </p:nvSpPr>
        <p:spPr>
          <a:xfrm>
            <a:off x="1042416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9" name="Rounded Rectangle 408"/>
          <p:cNvSpPr/>
          <p:nvPr/>
        </p:nvSpPr>
        <p:spPr>
          <a:xfrm>
            <a:off x="1188720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0" name="Rounded Rectangle 409"/>
          <p:cNvSpPr/>
          <p:nvPr/>
        </p:nvSpPr>
        <p:spPr>
          <a:xfrm>
            <a:off x="1335024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1" name="Rounded Rectangle 410"/>
          <p:cNvSpPr/>
          <p:nvPr/>
        </p:nvSpPr>
        <p:spPr>
          <a:xfrm>
            <a:off x="1481328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2" name="Rounded Rectangle 411"/>
          <p:cNvSpPr/>
          <p:nvPr/>
        </p:nvSpPr>
        <p:spPr>
          <a:xfrm>
            <a:off x="1627632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3" name="Rounded Rectangle 412"/>
          <p:cNvSpPr/>
          <p:nvPr/>
        </p:nvSpPr>
        <p:spPr>
          <a:xfrm>
            <a:off x="1773936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4" name="Rounded Rectangle 413"/>
          <p:cNvSpPr/>
          <p:nvPr/>
        </p:nvSpPr>
        <p:spPr>
          <a:xfrm>
            <a:off x="1920240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5" name="Rounded Rectangle 414"/>
          <p:cNvSpPr/>
          <p:nvPr/>
        </p:nvSpPr>
        <p:spPr>
          <a:xfrm>
            <a:off x="2066543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6" name="Rounded Rectangle 415"/>
          <p:cNvSpPr/>
          <p:nvPr/>
        </p:nvSpPr>
        <p:spPr>
          <a:xfrm>
            <a:off x="2212848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7" name="Rounded Rectangle 416"/>
          <p:cNvSpPr/>
          <p:nvPr/>
        </p:nvSpPr>
        <p:spPr>
          <a:xfrm>
            <a:off x="2359152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8" name="Rounded Rectangle 417"/>
          <p:cNvSpPr/>
          <p:nvPr/>
        </p:nvSpPr>
        <p:spPr>
          <a:xfrm>
            <a:off x="2505456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9" name="Rounded Rectangle 418"/>
          <p:cNvSpPr/>
          <p:nvPr/>
        </p:nvSpPr>
        <p:spPr>
          <a:xfrm>
            <a:off x="2651760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0" name="Rounded Rectangle 419"/>
          <p:cNvSpPr/>
          <p:nvPr/>
        </p:nvSpPr>
        <p:spPr>
          <a:xfrm>
            <a:off x="2798064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1" name="Rounded Rectangle 420"/>
          <p:cNvSpPr/>
          <p:nvPr/>
        </p:nvSpPr>
        <p:spPr>
          <a:xfrm>
            <a:off x="2944368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2" name="Rounded Rectangle 421"/>
          <p:cNvSpPr/>
          <p:nvPr/>
        </p:nvSpPr>
        <p:spPr>
          <a:xfrm>
            <a:off x="3090672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3" name="Rounded Rectangle 422"/>
          <p:cNvSpPr/>
          <p:nvPr/>
        </p:nvSpPr>
        <p:spPr>
          <a:xfrm>
            <a:off x="3236976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4" name="Rounded Rectangle 423"/>
          <p:cNvSpPr/>
          <p:nvPr/>
        </p:nvSpPr>
        <p:spPr>
          <a:xfrm>
            <a:off x="3529584" y="308152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5" name="Rounded Rectangle 424"/>
          <p:cNvSpPr/>
          <p:nvPr/>
        </p:nvSpPr>
        <p:spPr>
          <a:xfrm>
            <a:off x="457200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6" name="Rounded Rectangle 425"/>
          <p:cNvSpPr/>
          <p:nvPr/>
        </p:nvSpPr>
        <p:spPr>
          <a:xfrm>
            <a:off x="603504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7" name="Rounded Rectangle 426"/>
          <p:cNvSpPr/>
          <p:nvPr/>
        </p:nvSpPr>
        <p:spPr>
          <a:xfrm>
            <a:off x="749808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8" name="Rounded Rectangle 427"/>
          <p:cNvSpPr/>
          <p:nvPr/>
        </p:nvSpPr>
        <p:spPr>
          <a:xfrm>
            <a:off x="896112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9" name="Rounded Rectangle 428"/>
          <p:cNvSpPr/>
          <p:nvPr/>
        </p:nvSpPr>
        <p:spPr>
          <a:xfrm>
            <a:off x="1042416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0" name="Rounded Rectangle 429"/>
          <p:cNvSpPr/>
          <p:nvPr/>
        </p:nvSpPr>
        <p:spPr>
          <a:xfrm>
            <a:off x="1188720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1" name="Rounded Rectangle 430"/>
          <p:cNvSpPr/>
          <p:nvPr/>
        </p:nvSpPr>
        <p:spPr>
          <a:xfrm>
            <a:off x="1335024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2" name="Rounded Rectangle 431"/>
          <p:cNvSpPr/>
          <p:nvPr/>
        </p:nvSpPr>
        <p:spPr>
          <a:xfrm>
            <a:off x="1481328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3" name="Rounded Rectangle 432"/>
          <p:cNvSpPr/>
          <p:nvPr/>
        </p:nvSpPr>
        <p:spPr>
          <a:xfrm>
            <a:off x="1627632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4" name="Rounded Rectangle 433"/>
          <p:cNvSpPr/>
          <p:nvPr/>
        </p:nvSpPr>
        <p:spPr>
          <a:xfrm>
            <a:off x="1773936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5" name="Rounded Rectangle 434"/>
          <p:cNvSpPr/>
          <p:nvPr/>
        </p:nvSpPr>
        <p:spPr>
          <a:xfrm>
            <a:off x="1920240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6" name="Rounded Rectangle 435"/>
          <p:cNvSpPr/>
          <p:nvPr/>
        </p:nvSpPr>
        <p:spPr>
          <a:xfrm>
            <a:off x="2066543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7" name="Rounded Rectangle 436"/>
          <p:cNvSpPr/>
          <p:nvPr/>
        </p:nvSpPr>
        <p:spPr>
          <a:xfrm>
            <a:off x="2212848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8" name="Rounded Rectangle 437"/>
          <p:cNvSpPr/>
          <p:nvPr/>
        </p:nvSpPr>
        <p:spPr>
          <a:xfrm>
            <a:off x="2359152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9" name="Rounded Rectangle 438"/>
          <p:cNvSpPr/>
          <p:nvPr/>
        </p:nvSpPr>
        <p:spPr>
          <a:xfrm>
            <a:off x="2505456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0" name="Rounded Rectangle 439"/>
          <p:cNvSpPr/>
          <p:nvPr/>
        </p:nvSpPr>
        <p:spPr>
          <a:xfrm>
            <a:off x="2651760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1" name="Rounded Rectangle 440"/>
          <p:cNvSpPr/>
          <p:nvPr/>
        </p:nvSpPr>
        <p:spPr>
          <a:xfrm>
            <a:off x="2798064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2" name="Rounded Rectangle 441"/>
          <p:cNvSpPr/>
          <p:nvPr/>
        </p:nvSpPr>
        <p:spPr>
          <a:xfrm>
            <a:off x="2944368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3" name="Rounded Rectangle 442"/>
          <p:cNvSpPr/>
          <p:nvPr/>
        </p:nvSpPr>
        <p:spPr>
          <a:xfrm>
            <a:off x="3090672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4" name="Rounded Rectangle 443"/>
          <p:cNvSpPr/>
          <p:nvPr/>
        </p:nvSpPr>
        <p:spPr>
          <a:xfrm>
            <a:off x="3236976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5" name="Rounded Rectangle 444"/>
          <p:cNvSpPr/>
          <p:nvPr/>
        </p:nvSpPr>
        <p:spPr>
          <a:xfrm>
            <a:off x="3529584" y="318668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6" name="Rounded Rectangle 445"/>
          <p:cNvSpPr/>
          <p:nvPr/>
        </p:nvSpPr>
        <p:spPr>
          <a:xfrm>
            <a:off x="457200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7" name="Rounded Rectangle 446"/>
          <p:cNvSpPr/>
          <p:nvPr/>
        </p:nvSpPr>
        <p:spPr>
          <a:xfrm>
            <a:off x="603504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8" name="Rounded Rectangle 447"/>
          <p:cNvSpPr/>
          <p:nvPr/>
        </p:nvSpPr>
        <p:spPr>
          <a:xfrm>
            <a:off x="749808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9" name="Rounded Rectangle 448"/>
          <p:cNvSpPr/>
          <p:nvPr/>
        </p:nvSpPr>
        <p:spPr>
          <a:xfrm>
            <a:off x="896112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0" name="Rounded Rectangle 449"/>
          <p:cNvSpPr/>
          <p:nvPr/>
        </p:nvSpPr>
        <p:spPr>
          <a:xfrm>
            <a:off x="1042416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1" name="Rounded Rectangle 450"/>
          <p:cNvSpPr/>
          <p:nvPr/>
        </p:nvSpPr>
        <p:spPr>
          <a:xfrm>
            <a:off x="1188720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2" name="Rounded Rectangle 451"/>
          <p:cNvSpPr/>
          <p:nvPr/>
        </p:nvSpPr>
        <p:spPr>
          <a:xfrm>
            <a:off x="1335024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3" name="Rounded Rectangle 452"/>
          <p:cNvSpPr/>
          <p:nvPr/>
        </p:nvSpPr>
        <p:spPr>
          <a:xfrm>
            <a:off x="1481328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4" name="Rounded Rectangle 453"/>
          <p:cNvSpPr/>
          <p:nvPr/>
        </p:nvSpPr>
        <p:spPr>
          <a:xfrm>
            <a:off x="1627632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5" name="Rounded Rectangle 454"/>
          <p:cNvSpPr/>
          <p:nvPr/>
        </p:nvSpPr>
        <p:spPr>
          <a:xfrm>
            <a:off x="1773936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6" name="Rounded Rectangle 455"/>
          <p:cNvSpPr/>
          <p:nvPr/>
        </p:nvSpPr>
        <p:spPr>
          <a:xfrm>
            <a:off x="1920240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7" name="Rounded Rectangle 456"/>
          <p:cNvSpPr/>
          <p:nvPr/>
        </p:nvSpPr>
        <p:spPr>
          <a:xfrm>
            <a:off x="2066543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8" name="Rounded Rectangle 457"/>
          <p:cNvSpPr/>
          <p:nvPr/>
        </p:nvSpPr>
        <p:spPr>
          <a:xfrm>
            <a:off x="2212848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9" name="Rounded Rectangle 458"/>
          <p:cNvSpPr/>
          <p:nvPr/>
        </p:nvSpPr>
        <p:spPr>
          <a:xfrm>
            <a:off x="2359152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0" name="Rounded Rectangle 459"/>
          <p:cNvSpPr/>
          <p:nvPr/>
        </p:nvSpPr>
        <p:spPr>
          <a:xfrm>
            <a:off x="2505456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1" name="Rounded Rectangle 460"/>
          <p:cNvSpPr/>
          <p:nvPr/>
        </p:nvSpPr>
        <p:spPr>
          <a:xfrm>
            <a:off x="2651760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2" name="Rounded Rectangle 461"/>
          <p:cNvSpPr/>
          <p:nvPr/>
        </p:nvSpPr>
        <p:spPr>
          <a:xfrm>
            <a:off x="2798064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3" name="Rounded Rectangle 462"/>
          <p:cNvSpPr/>
          <p:nvPr/>
        </p:nvSpPr>
        <p:spPr>
          <a:xfrm>
            <a:off x="2944368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4" name="Rounded Rectangle 463"/>
          <p:cNvSpPr/>
          <p:nvPr/>
        </p:nvSpPr>
        <p:spPr>
          <a:xfrm>
            <a:off x="3090672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5" name="Rounded Rectangle 464"/>
          <p:cNvSpPr/>
          <p:nvPr/>
        </p:nvSpPr>
        <p:spPr>
          <a:xfrm>
            <a:off x="3236976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6" name="Rounded Rectangle 465"/>
          <p:cNvSpPr/>
          <p:nvPr/>
        </p:nvSpPr>
        <p:spPr>
          <a:xfrm>
            <a:off x="3529584" y="329184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7" name="Rounded Rectangle 466"/>
          <p:cNvSpPr/>
          <p:nvPr/>
        </p:nvSpPr>
        <p:spPr>
          <a:xfrm>
            <a:off x="457200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8" name="Rounded Rectangle 467"/>
          <p:cNvSpPr/>
          <p:nvPr/>
        </p:nvSpPr>
        <p:spPr>
          <a:xfrm>
            <a:off x="603504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9" name="Rounded Rectangle 468"/>
          <p:cNvSpPr/>
          <p:nvPr/>
        </p:nvSpPr>
        <p:spPr>
          <a:xfrm>
            <a:off x="749808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0" name="Rounded Rectangle 469"/>
          <p:cNvSpPr/>
          <p:nvPr/>
        </p:nvSpPr>
        <p:spPr>
          <a:xfrm>
            <a:off x="896112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1" name="Rounded Rectangle 470"/>
          <p:cNvSpPr/>
          <p:nvPr/>
        </p:nvSpPr>
        <p:spPr>
          <a:xfrm>
            <a:off x="1042416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2" name="Rounded Rectangle 471"/>
          <p:cNvSpPr/>
          <p:nvPr/>
        </p:nvSpPr>
        <p:spPr>
          <a:xfrm>
            <a:off x="1188720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3" name="Rounded Rectangle 472"/>
          <p:cNvSpPr/>
          <p:nvPr/>
        </p:nvSpPr>
        <p:spPr>
          <a:xfrm>
            <a:off x="1335024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4" name="Rounded Rectangle 473"/>
          <p:cNvSpPr/>
          <p:nvPr/>
        </p:nvSpPr>
        <p:spPr>
          <a:xfrm>
            <a:off x="1481328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5" name="Rounded Rectangle 474"/>
          <p:cNvSpPr/>
          <p:nvPr/>
        </p:nvSpPr>
        <p:spPr>
          <a:xfrm>
            <a:off x="1627632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6" name="Rounded Rectangle 475"/>
          <p:cNvSpPr/>
          <p:nvPr/>
        </p:nvSpPr>
        <p:spPr>
          <a:xfrm>
            <a:off x="1773936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7" name="Rounded Rectangle 476"/>
          <p:cNvSpPr/>
          <p:nvPr/>
        </p:nvSpPr>
        <p:spPr>
          <a:xfrm>
            <a:off x="1920240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8" name="Rounded Rectangle 477"/>
          <p:cNvSpPr/>
          <p:nvPr/>
        </p:nvSpPr>
        <p:spPr>
          <a:xfrm>
            <a:off x="2066543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9" name="Rounded Rectangle 478"/>
          <p:cNvSpPr/>
          <p:nvPr/>
        </p:nvSpPr>
        <p:spPr>
          <a:xfrm>
            <a:off x="2212848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0" name="Rounded Rectangle 479"/>
          <p:cNvSpPr/>
          <p:nvPr/>
        </p:nvSpPr>
        <p:spPr>
          <a:xfrm>
            <a:off x="2359152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1" name="Rounded Rectangle 480"/>
          <p:cNvSpPr/>
          <p:nvPr/>
        </p:nvSpPr>
        <p:spPr>
          <a:xfrm>
            <a:off x="2505456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2" name="Rounded Rectangle 481"/>
          <p:cNvSpPr/>
          <p:nvPr/>
        </p:nvSpPr>
        <p:spPr>
          <a:xfrm>
            <a:off x="2651760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3" name="Rounded Rectangle 482"/>
          <p:cNvSpPr/>
          <p:nvPr/>
        </p:nvSpPr>
        <p:spPr>
          <a:xfrm>
            <a:off x="2798064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4" name="Rounded Rectangle 483"/>
          <p:cNvSpPr/>
          <p:nvPr/>
        </p:nvSpPr>
        <p:spPr>
          <a:xfrm>
            <a:off x="2944368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5" name="Rounded Rectangle 484"/>
          <p:cNvSpPr/>
          <p:nvPr/>
        </p:nvSpPr>
        <p:spPr>
          <a:xfrm>
            <a:off x="3090672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6" name="Rounded Rectangle 485"/>
          <p:cNvSpPr/>
          <p:nvPr/>
        </p:nvSpPr>
        <p:spPr>
          <a:xfrm>
            <a:off x="3236976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7" name="Rounded Rectangle 486"/>
          <p:cNvSpPr/>
          <p:nvPr/>
        </p:nvSpPr>
        <p:spPr>
          <a:xfrm>
            <a:off x="3529584" y="339699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8" name="Rounded Rectangle 487"/>
          <p:cNvSpPr/>
          <p:nvPr/>
        </p:nvSpPr>
        <p:spPr>
          <a:xfrm>
            <a:off x="457200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9" name="Rounded Rectangle 488"/>
          <p:cNvSpPr/>
          <p:nvPr/>
        </p:nvSpPr>
        <p:spPr>
          <a:xfrm>
            <a:off x="603504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0" name="Rounded Rectangle 489"/>
          <p:cNvSpPr/>
          <p:nvPr/>
        </p:nvSpPr>
        <p:spPr>
          <a:xfrm>
            <a:off x="749808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1" name="Rounded Rectangle 490"/>
          <p:cNvSpPr/>
          <p:nvPr/>
        </p:nvSpPr>
        <p:spPr>
          <a:xfrm>
            <a:off x="896112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2" name="Rounded Rectangle 491"/>
          <p:cNvSpPr/>
          <p:nvPr/>
        </p:nvSpPr>
        <p:spPr>
          <a:xfrm>
            <a:off x="1042416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3" name="Rounded Rectangle 492"/>
          <p:cNvSpPr/>
          <p:nvPr/>
        </p:nvSpPr>
        <p:spPr>
          <a:xfrm>
            <a:off x="1188720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4" name="Rounded Rectangle 493"/>
          <p:cNvSpPr/>
          <p:nvPr/>
        </p:nvSpPr>
        <p:spPr>
          <a:xfrm>
            <a:off x="1335024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5" name="Rounded Rectangle 494"/>
          <p:cNvSpPr/>
          <p:nvPr/>
        </p:nvSpPr>
        <p:spPr>
          <a:xfrm>
            <a:off x="1481328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6" name="Rounded Rectangle 495"/>
          <p:cNvSpPr/>
          <p:nvPr/>
        </p:nvSpPr>
        <p:spPr>
          <a:xfrm>
            <a:off x="1627632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7" name="Rounded Rectangle 496"/>
          <p:cNvSpPr/>
          <p:nvPr/>
        </p:nvSpPr>
        <p:spPr>
          <a:xfrm>
            <a:off x="1773936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8" name="Rounded Rectangle 497"/>
          <p:cNvSpPr/>
          <p:nvPr/>
        </p:nvSpPr>
        <p:spPr>
          <a:xfrm>
            <a:off x="1920240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9" name="Rounded Rectangle 498"/>
          <p:cNvSpPr/>
          <p:nvPr/>
        </p:nvSpPr>
        <p:spPr>
          <a:xfrm>
            <a:off x="2066543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0" name="Rounded Rectangle 499"/>
          <p:cNvSpPr/>
          <p:nvPr/>
        </p:nvSpPr>
        <p:spPr>
          <a:xfrm>
            <a:off x="2212848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1" name="Rounded Rectangle 500"/>
          <p:cNvSpPr/>
          <p:nvPr/>
        </p:nvSpPr>
        <p:spPr>
          <a:xfrm>
            <a:off x="2359152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2" name="Rounded Rectangle 501"/>
          <p:cNvSpPr/>
          <p:nvPr/>
        </p:nvSpPr>
        <p:spPr>
          <a:xfrm>
            <a:off x="2505456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3" name="Rounded Rectangle 502"/>
          <p:cNvSpPr/>
          <p:nvPr/>
        </p:nvSpPr>
        <p:spPr>
          <a:xfrm>
            <a:off x="2651760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4" name="Rounded Rectangle 503"/>
          <p:cNvSpPr/>
          <p:nvPr/>
        </p:nvSpPr>
        <p:spPr>
          <a:xfrm>
            <a:off x="2798064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5" name="Rounded Rectangle 504"/>
          <p:cNvSpPr/>
          <p:nvPr/>
        </p:nvSpPr>
        <p:spPr>
          <a:xfrm>
            <a:off x="2944368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6" name="Rounded Rectangle 505"/>
          <p:cNvSpPr/>
          <p:nvPr/>
        </p:nvSpPr>
        <p:spPr>
          <a:xfrm>
            <a:off x="3090672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7" name="Rounded Rectangle 506"/>
          <p:cNvSpPr/>
          <p:nvPr/>
        </p:nvSpPr>
        <p:spPr>
          <a:xfrm>
            <a:off x="3236976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8" name="Rounded Rectangle 507"/>
          <p:cNvSpPr/>
          <p:nvPr/>
        </p:nvSpPr>
        <p:spPr>
          <a:xfrm>
            <a:off x="3529584" y="350215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9" name="Rounded Rectangle 508"/>
          <p:cNvSpPr/>
          <p:nvPr/>
        </p:nvSpPr>
        <p:spPr>
          <a:xfrm>
            <a:off x="457200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0" name="Rounded Rectangle 509"/>
          <p:cNvSpPr/>
          <p:nvPr/>
        </p:nvSpPr>
        <p:spPr>
          <a:xfrm>
            <a:off x="603504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1" name="Rounded Rectangle 510"/>
          <p:cNvSpPr/>
          <p:nvPr/>
        </p:nvSpPr>
        <p:spPr>
          <a:xfrm>
            <a:off x="749808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2" name="Rounded Rectangle 511"/>
          <p:cNvSpPr/>
          <p:nvPr/>
        </p:nvSpPr>
        <p:spPr>
          <a:xfrm>
            <a:off x="896112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3" name="Rounded Rectangle 512"/>
          <p:cNvSpPr/>
          <p:nvPr/>
        </p:nvSpPr>
        <p:spPr>
          <a:xfrm>
            <a:off x="1042416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4" name="Rounded Rectangle 513"/>
          <p:cNvSpPr/>
          <p:nvPr/>
        </p:nvSpPr>
        <p:spPr>
          <a:xfrm>
            <a:off x="1188720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5" name="Rounded Rectangle 514"/>
          <p:cNvSpPr/>
          <p:nvPr/>
        </p:nvSpPr>
        <p:spPr>
          <a:xfrm>
            <a:off x="1335024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6" name="Rounded Rectangle 515"/>
          <p:cNvSpPr/>
          <p:nvPr/>
        </p:nvSpPr>
        <p:spPr>
          <a:xfrm>
            <a:off x="1481328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7" name="Rounded Rectangle 516"/>
          <p:cNvSpPr/>
          <p:nvPr/>
        </p:nvSpPr>
        <p:spPr>
          <a:xfrm>
            <a:off x="1627632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8" name="Rounded Rectangle 517"/>
          <p:cNvSpPr/>
          <p:nvPr/>
        </p:nvSpPr>
        <p:spPr>
          <a:xfrm>
            <a:off x="1773936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9" name="Rounded Rectangle 518"/>
          <p:cNvSpPr/>
          <p:nvPr/>
        </p:nvSpPr>
        <p:spPr>
          <a:xfrm>
            <a:off x="1920240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0" name="Rounded Rectangle 519"/>
          <p:cNvSpPr/>
          <p:nvPr/>
        </p:nvSpPr>
        <p:spPr>
          <a:xfrm>
            <a:off x="2066543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1" name="Rounded Rectangle 520"/>
          <p:cNvSpPr/>
          <p:nvPr/>
        </p:nvSpPr>
        <p:spPr>
          <a:xfrm>
            <a:off x="2212848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2" name="Rounded Rectangle 521"/>
          <p:cNvSpPr/>
          <p:nvPr/>
        </p:nvSpPr>
        <p:spPr>
          <a:xfrm>
            <a:off x="2359152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3" name="Rounded Rectangle 522"/>
          <p:cNvSpPr/>
          <p:nvPr/>
        </p:nvSpPr>
        <p:spPr>
          <a:xfrm>
            <a:off x="2505456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4" name="Rounded Rectangle 523"/>
          <p:cNvSpPr/>
          <p:nvPr/>
        </p:nvSpPr>
        <p:spPr>
          <a:xfrm>
            <a:off x="2651760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5" name="Rounded Rectangle 524"/>
          <p:cNvSpPr/>
          <p:nvPr/>
        </p:nvSpPr>
        <p:spPr>
          <a:xfrm>
            <a:off x="2798064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6" name="Rounded Rectangle 525"/>
          <p:cNvSpPr/>
          <p:nvPr/>
        </p:nvSpPr>
        <p:spPr>
          <a:xfrm>
            <a:off x="2944368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7" name="Rounded Rectangle 526"/>
          <p:cNvSpPr/>
          <p:nvPr/>
        </p:nvSpPr>
        <p:spPr>
          <a:xfrm>
            <a:off x="3090672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8" name="Rounded Rectangle 527"/>
          <p:cNvSpPr/>
          <p:nvPr/>
        </p:nvSpPr>
        <p:spPr>
          <a:xfrm>
            <a:off x="3236976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9" name="Rounded Rectangle 528"/>
          <p:cNvSpPr/>
          <p:nvPr/>
        </p:nvSpPr>
        <p:spPr>
          <a:xfrm>
            <a:off x="3529584" y="3607308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0" name="Rounded Rectangle 529"/>
          <p:cNvSpPr/>
          <p:nvPr/>
        </p:nvSpPr>
        <p:spPr>
          <a:xfrm>
            <a:off x="457200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1" name="Rounded Rectangle 530"/>
          <p:cNvSpPr/>
          <p:nvPr/>
        </p:nvSpPr>
        <p:spPr>
          <a:xfrm>
            <a:off x="603504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2" name="Rounded Rectangle 531"/>
          <p:cNvSpPr/>
          <p:nvPr/>
        </p:nvSpPr>
        <p:spPr>
          <a:xfrm>
            <a:off x="749808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3" name="Rounded Rectangle 532"/>
          <p:cNvSpPr/>
          <p:nvPr/>
        </p:nvSpPr>
        <p:spPr>
          <a:xfrm>
            <a:off x="896112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4" name="Rounded Rectangle 533"/>
          <p:cNvSpPr/>
          <p:nvPr/>
        </p:nvSpPr>
        <p:spPr>
          <a:xfrm>
            <a:off x="1042416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5" name="Rounded Rectangle 534"/>
          <p:cNvSpPr/>
          <p:nvPr/>
        </p:nvSpPr>
        <p:spPr>
          <a:xfrm>
            <a:off x="1188720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6" name="Rounded Rectangle 535"/>
          <p:cNvSpPr/>
          <p:nvPr/>
        </p:nvSpPr>
        <p:spPr>
          <a:xfrm>
            <a:off x="1335024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7" name="Rounded Rectangle 536"/>
          <p:cNvSpPr/>
          <p:nvPr/>
        </p:nvSpPr>
        <p:spPr>
          <a:xfrm>
            <a:off x="1481328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8" name="Rounded Rectangle 537"/>
          <p:cNvSpPr/>
          <p:nvPr/>
        </p:nvSpPr>
        <p:spPr>
          <a:xfrm>
            <a:off x="1627632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9" name="Rounded Rectangle 538"/>
          <p:cNvSpPr/>
          <p:nvPr/>
        </p:nvSpPr>
        <p:spPr>
          <a:xfrm>
            <a:off x="1773936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0" name="Rounded Rectangle 539"/>
          <p:cNvSpPr/>
          <p:nvPr/>
        </p:nvSpPr>
        <p:spPr>
          <a:xfrm>
            <a:off x="1920240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1" name="Rounded Rectangle 540"/>
          <p:cNvSpPr/>
          <p:nvPr/>
        </p:nvSpPr>
        <p:spPr>
          <a:xfrm>
            <a:off x="2066543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2" name="Rounded Rectangle 541"/>
          <p:cNvSpPr/>
          <p:nvPr/>
        </p:nvSpPr>
        <p:spPr>
          <a:xfrm>
            <a:off x="2212848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3" name="Rounded Rectangle 542"/>
          <p:cNvSpPr/>
          <p:nvPr/>
        </p:nvSpPr>
        <p:spPr>
          <a:xfrm>
            <a:off x="2359152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Rounded Rectangle 543"/>
          <p:cNvSpPr/>
          <p:nvPr/>
        </p:nvSpPr>
        <p:spPr>
          <a:xfrm>
            <a:off x="2505456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5" name="Rounded Rectangle 544"/>
          <p:cNvSpPr/>
          <p:nvPr/>
        </p:nvSpPr>
        <p:spPr>
          <a:xfrm>
            <a:off x="2651760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6" name="Rounded Rectangle 545"/>
          <p:cNvSpPr/>
          <p:nvPr/>
        </p:nvSpPr>
        <p:spPr>
          <a:xfrm>
            <a:off x="2798064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7" name="Rounded Rectangle 546"/>
          <p:cNvSpPr/>
          <p:nvPr/>
        </p:nvSpPr>
        <p:spPr>
          <a:xfrm>
            <a:off x="2944368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8" name="Rounded Rectangle 547"/>
          <p:cNvSpPr/>
          <p:nvPr/>
        </p:nvSpPr>
        <p:spPr>
          <a:xfrm>
            <a:off x="3090672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9" name="Rounded Rectangle 548"/>
          <p:cNvSpPr/>
          <p:nvPr/>
        </p:nvSpPr>
        <p:spPr>
          <a:xfrm>
            <a:off x="3236976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0" name="Rounded Rectangle 549"/>
          <p:cNvSpPr/>
          <p:nvPr/>
        </p:nvSpPr>
        <p:spPr>
          <a:xfrm>
            <a:off x="3529584" y="3712464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1" name="Rounded Rectangle 550"/>
          <p:cNvSpPr/>
          <p:nvPr/>
        </p:nvSpPr>
        <p:spPr>
          <a:xfrm>
            <a:off x="457200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2" name="Rounded Rectangle 551"/>
          <p:cNvSpPr/>
          <p:nvPr/>
        </p:nvSpPr>
        <p:spPr>
          <a:xfrm>
            <a:off x="603504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3" name="Rounded Rectangle 552"/>
          <p:cNvSpPr/>
          <p:nvPr/>
        </p:nvSpPr>
        <p:spPr>
          <a:xfrm>
            <a:off x="749808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4" name="Rounded Rectangle 553"/>
          <p:cNvSpPr/>
          <p:nvPr/>
        </p:nvSpPr>
        <p:spPr>
          <a:xfrm>
            <a:off x="896112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5" name="Rounded Rectangle 554"/>
          <p:cNvSpPr/>
          <p:nvPr/>
        </p:nvSpPr>
        <p:spPr>
          <a:xfrm>
            <a:off x="1042416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6" name="Rounded Rectangle 555"/>
          <p:cNvSpPr/>
          <p:nvPr/>
        </p:nvSpPr>
        <p:spPr>
          <a:xfrm>
            <a:off x="1188720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7" name="Rounded Rectangle 556"/>
          <p:cNvSpPr/>
          <p:nvPr/>
        </p:nvSpPr>
        <p:spPr>
          <a:xfrm>
            <a:off x="1335024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8" name="Rounded Rectangle 557"/>
          <p:cNvSpPr/>
          <p:nvPr/>
        </p:nvSpPr>
        <p:spPr>
          <a:xfrm>
            <a:off x="1481328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9" name="Rounded Rectangle 558"/>
          <p:cNvSpPr/>
          <p:nvPr/>
        </p:nvSpPr>
        <p:spPr>
          <a:xfrm>
            <a:off x="1627632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0" name="Rounded Rectangle 559"/>
          <p:cNvSpPr/>
          <p:nvPr/>
        </p:nvSpPr>
        <p:spPr>
          <a:xfrm>
            <a:off x="1773936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1" name="Rounded Rectangle 560"/>
          <p:cNvSpPr/>
          <p:nvPr/>
        </p:nvSpPr>
        <p:spPr>
          <a:xfrm>
            <a:off x="1920240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2" name="Rounded Rectangle 561"/>
          <p:cNvSpPr/>
          <p:nvPr/>
        </p:nvSpPr>
        <p:spPr>
          <a:xfrm>
            <a:off x="2066543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3" name="Rounded Rectangle 562"/>
          <p:cNvSpPr/>
          <p:nvPr/>
        </p:nvSpPr>
        <p:spPr>
          <a:xfrm>
            <a:off x="2212848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4" name="Rounded Rectangle 563"/>
          <p:cNvSpPr/>
          <p:nvPr/>
        </p:nvSpPr>
        <p:spPr>
          <a:xfrm>
            <a:off x="2359152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5" name="Rounded Rectangle 564"/>
          <p:cNvSpPr/>
          <p:nvPr/>
        </p:nvSpPr>
        <p:spPr>
          <a:xfrm>
            <a:off x="2505456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6" name="Rounded Rectangle 565"/>
          <p:cNvSpPr/>
          <p:nvPr/>
        </p:nvSpPr>
        <p:spPr>
          <a:xfrm>
            <a:off x="2651760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7" name="Rounded Rectangle 566"/>
          <p:cNvSpPr/>
          <p:nvPr/>
        </p:nvSpPr>
        <p:spPr>
          <a:xfrm>
            <a:off x="2798064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8" name="Rounded Rectangle 567"/>
          <p:cNvSpPr/>
          <p:nvPr/>
        </p:nvSpPr>
        <p:spPr>
          <a:xfrm>
            <a:off x="2944368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9" name="Rounded Rectangle 568"/>
          <p:cNvSpPr/>
          <p:nvPr/>
        </p:nvSpPr>
        <p:spPr>
          <a:xfrm>
            <a:off x="3090672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0" name="Rounded Rectangle 569"/>
          <p:cNvSpPr/>
          <p:nvPr/>
        </p:nvSpPr>
        <p:spPr>
          <a:xfrm>
            <a:off x="3236976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1" name="Rounded Rectangle 570"/>
          <p:cNvSpPr/>
          <p:nvPr/>
        </p:nvSpPr>
        <p:spPr>
          <a:xfrm>
            <a:off x="3529584" y="3817620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2" name="Rounded Rectangle 571"/>
          <p:cNvSpPr/>
          <p:nvPr/>
        </p:nvSpPr>
        <p:spPr>
          <a:xfrm>
            <a:off x="457200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3" name="Rounded Rectangle 572"/>
          <p:cNvSpPr/>
          <p:nvPr/>
        </p:nvSpPr>
        <p:spPr>
          <a:xfrm>
            <a:off x="603504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4" name="Rounded Rectangle 573"/>
          <p:cNvSpPr/>
          <p:nvPr/>
        </p:nvSpPr>
        <p:spPr>
          <a:xfrm>
            <a:off x="749808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5" name="Rounded Rectangle 574"/>
          <p:cNvSpPr/>
          <p:nvPr/>
        </p:nvSpPr>
        <p:spPr>
          <a:xfrm>
            <a:off x="896112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6" name="Rounded Rectangle 575"/>
          <p:cNvSpPr/>
          <p:nvPr/>
        </p:nvSpPr>
        <p:spPr>
          <a:xfrm>
            <a:off x="1042416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7" name="Rounded Rectangle 576"/>
          <p:cNvSpPr/>
          <p:nvPr/>
        </p:nvSpPr>
        <p:spPr>
          <a:xfrm>
            <a:off x="1188720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8" name="Rounded Rectangle 577"/>
          <p:cNvSpPr/>
          <p:nvPr/>
        </p:nvSpPr>
        <p:spPr>
          <a:xfrm>
            <a:off x="1335024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9" name="Rounded Rectangle 578"/>
          <p:cNvSpPr/>
          <p:nvPr/>
        </p:nvSpPr>
        <p:spPr>
          <a:xfrm>
            <a:off x="1481328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0" name="Rounded Rectangle 579"/>
          <p:cNvSpPr/>
          <p:nvPr/>
        </p:nvSpPr>
        <p:spPr>
          <a:xfrm>
            <a:off x="1627632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1" name="Rounded Rectangle 580"/>
          <p:cNvSpPr/>
          <p:nvPr/>
        </p:nvSpPr>
        <p:spPr>
          <a:xfrm>
            <a:off x="1773936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2" name="Rounded Rectangle 581"/>
          <p:cNvSpPr/>
          <p:nvPr/>
        </p:nvSpPr>
        <p:spPr>
          <a:xfrm>
            <a:off x="1920240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3" name="Rounded Rectangle 582"/>
          <p:cNvSpPr/>
          <p:nvPr/>
        </p:nvSpPr>
        <p:spPr>
          <a:xfrm>
            <a:off x="2066543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4" name="Rounded Rectangle 583"/>
          <p:cNvSpPr/>
          <p:nvPr/>
        </p:nvSpPr>
        <p:spPr>
          <a:xfrm>
            <a:off x="2212848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5" name="Rounded Rectangle 584"/>
          <p:cNvSpPr/>
          <p:nvPr/>
        </p:nvSpPr>
        <p:spPr>
          <a:xfrm>
            <a:off x="2359152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6" name="Rounded Rectangle 585"/>
          <p:cNvSpPr/>
          <p:nvPr/>
        </p:nvSpPr>
        <p:spPr>
          <a:xfrm>
            <a:off x="2505456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7" name="Rounded Rectangle 586"/>
          <p:cNvSpPr/>
          <p:nvPr/>
        </p:nvSpPr>
        <p:spPr>
          <a:xfrm>
            <a:off x="2651760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8" name="Rounded Rectangle 587"/>
          <p:cNvSpPr/>
          <p:nvPr/>
        </p:nvSpPr>
        <p:spPr>
          <a:xfrm>
            <a:off x="2798064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9" name="Rounded Rectangle 588"/>
          <p:cNvSpPr/>
          <p:nvPr/>
        </p:nvSpPr>
        <p:spPr>
          <a:xfrm>
            <a:off x="2944368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0" name="Rounded Rectangle 589"/>
          <p:cNvSpPr/>
          <p:nvPr/>
        </p:nvSpPr>
        <p:spPr>
          <a:xfrm>
            <a:off x="3090672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1" name="Rounded Rectangle 590"/>
          <p:cNvSpPr/>
          <p:nvPr/>
        </p:nvSpPr>
        <p:spPr>
          <a:xfrm>
            <a:off x="3236976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2" name="Rounded Rectangle 591"/>
          <p:cNvSpPr/>
          <p:nvPr/>
        </p:nvSpPr>
        <p:spPr>
          <a:xfrm>
            <a:off x="3529584" y="3922776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3" name="Rounded Rectangle 592"/>
          <p:cNvSpPr/>
          <p:nvPr/>
        </p:nvSpPr>
        <p:spPr>
          <a:xfrm>
            <a:off x="457200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4" name="Rounded Rectangle 593"/>
          <p:cNvSpPr/>
          <p:nvPr/>
        </p:nvSpPr>
        <p:spPr>
          <a:xfrm>
            <a:off x="603504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5" name="Rounded Rectangle 594"/>
          <p:cNvSpPr/>
          <p:nvPr/>
        </p:nvSpPr>
        <p:spPr>
          <a:xfrm>
            <a:off x="749808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6" name="Rounded Rectangle 595"/>
          <p:cNvSpPr/>
          <p:nvPr/>
        </p:nvSpPr>
        <p:spPr>
          <a:xfrm>
            <a:off x="896112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7" name="Rounded Rectangle 596"/>
          <p:cNvSpPr/>
          <p:nvPr/>
        </p:nvSpPr>
        <p:spPr>
          <a:xfrm>
            <a:off x="1042416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8" name="Rounded Rectangle 597"/>
          <p:cNvSpPr/>
          <p:nvPr/>
        </p:nvSpPr>
        <p:spPr>
          <a:xfrm>
            <a:off x="1188720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9" name="Rounded Rectangle 598"/>
          <p:cNvSpPr/>
          <p:nvPr/>
        </p:nvSpPr>
        <p:spPr>
          <a:xfrm>
            <a:off x="1335024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0" name="Rounded Rectangle 599"/>
          <p:cNvSpPr/>
          <p:nvPr/>
        </p:nvSpPr>
        <p:spPr>
          <a:xfrm>
            <a:off x="1481328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1" name="Rounded Rectangle 600"/>
          <p:cNvSpPr/>
          <p:nvPr/>
        </p:nvSpPr>
        <p:spPr>
          <a:xfrm>
            <a:off x="1627632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2" name="Rounded Rectangle 601"/>
          <p:cNvSpPr/>
          <p:nvPr/>
        </p:nvSpPr>
        <p:spPr>
          <a:xfrm>
            <a:off x="1773936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3" name="Rounded Rectangle 602"/>
          <p:cNvSpPr/>
          <p:nvPr/>
        </p:nvSpPr>
        <p:spPr>
          <a:xfrm>
            <a:off x="1920240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4" name="Rounded Rectangle 603"/>
          <p:cNvSpPr/>
          <p:nvPr/>
        </p:nvSpPr>
        <p:spPr>
          <a:xfrm>
            <a:off x="2066543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5" name="Rounded Rectangle 604"/>
          <p:cNvSpPr/>
          <p:nvPr/>
        </p:nvSpPr>
        <p:spPr>
          <a:xfrm>
            <a:off x="2212848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6" name="Rounded Rectangle 605"/>
          <p:cNvSpPr/>
          <p:nvPr/>
        </p:nvSpPr>
        <p:spPr>
          <a:xfrm>
            <a:off x="2359152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7" name="Rounded Rectangle 606"/>
          <p:cNvSpPr/>
          <p:nvPr/>
        </p:nvSpPr>
        <p:spPr>
          <a:xfrm>
            <a:off x="2505456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8" name="Rounded Rectangle 607"/>
          <p:cNvSpPr/>
          <p:nvPr/>
        </p:nvSpPr>
        <p:spPr>
          <a:xfrm>
            <a:off x="2651760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9" name="Rounded Rectangle 608"/>
          <p:cNvSpPr/>
          <p:nvPr/>
        </p:nvSpPr>
        <p:spPr>
          <a:xfrm>
            <a:off x="2798064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0" name="Rounded Rectangle 609"/>
          <p:cNvSpPr/>
          <p:nvPr/>
        </p:nvSpPr>
        <p:spPr>
          <a:xfrm>
            <a:off x="2944368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1" name="Rounded Rectangle 610"/>
          <p:cNvSpPr/>
          <p:nvPr/>
        </p:nvSpPr>
        <p:spPr>
          <a:xfrm>
            <a:off x="3090672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FB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2" name="Rounded Rectangle 611"/>
          <p:cNvSpPr/>
          <p:nvPr/>
        </p:nvSpPr>
        <p:spPr>
          <a:xfrm>
            <a:off x="3236976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3" name="Rounded Rectangle 612"/>
          <p:cNvSpPr/>
          <p:nvPr/>
        </p:nvSpPr>
        <p:spPr>
          <a:xfrm>
            <a:off x="3529584" y="4027932"/>
            <a:ext cx="128016" cy="8686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4" name="TextBox 613"/>
          <p:cNvSpPr txBox="1"/>
          <p:nvPr/>
        </p:nvSpPr>
        <p:spPr>
          <a:xfrm>
            <a:off x="3337560" y="255574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</a:rPr>
              <a:t>…</a:t>
            </a:r>
          </a:p>
        </p:txBody>
      </p:sp>
      <p:sp>
        <p:nvSpPr>
          <p:cNvPr id="615" name="Rounded Rectangle 614"/>
          <p:cNvSpPr/>
          <p:nvPr/>
        </p:nvSpPr>
        <p:spPr>
          <a:xfrm>
            <a:off x="429768" y="1906524"/>
            <a:ext cx="3255264" cy="123444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6" name="TextBox 615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← 384열 (벡터 성분) →</a:t>
            </a:r>
          </a:p>
        </p:txBody>
      </p:sp>
      <p:sp>
        <p:nvSpPr>
          <p:cNvPr id="617" name="TextBox 616"/>
          <p:cNvSpPr txBox="1"/>
          <p:nvPr/>
        </p:nvSpPr>
        <p:spPr>
          <a:xfrm>
            <a:off x="3931920" y="12801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shape = (28, 384)</a:t>
            </a:r>
          </a:p>
        </p:txBody>
      </p:sp>
      <p:sp>
        <p:nvSpPr>
          <p:cNvPr id="618" name="Rounded Rectangle 617"/>
          <p:cNvSpPr/>
          <p:nvPr/>
        </p:nvSpPr>
        <p:spPr>
          <a:xfrm>
            <a:off x="3931920" y="1874519"/>
            <a:ext cx="4754880" cy="777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9" name="TextBox 618"/>
          <p:cNvSpPr txBox="1"/>
          <p:nvPr/>
        </p:nvSpPr>
        <p:spPr>
          <a:xfrm>
            <a:off x="4069080" y="1874519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vectors[7]</a:t>
            </a:r>
            <a:r>
              <a:rPr sz="1200" b="0">
                <a:solidFill>
                  <a:srgbClr val="141617"/>
                </a:solidFill>
              </a:rPr>
              <a:t>  ↔  </a:t>
            </a:r>
            <a:r>
              <a:rPr sz="12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chunks[7]</a:t>
            </a:r>
            <a:r>
              <a:rPr sz="1200" b="0">
                <a:solidFill>
                  <a:srgbClr val="858793"/>
                </a:solidFill>
              </a:rPr>
              <a:t>  같은 청크</a:t>
            </a:r>
          </a:p>
          <a:p>
            <a:pPr algn="l"/>
            <a:r>
              <a:rPr sz="1000" b="0">
                <a:solidFill>
                  <a:srgbClr val="858793"/>
                </a:solidFill>
              </a:rPr>
              <a:t>행 번호가 곧 청크 번호</a:t>
            </a:r>
          </a:p>
        </p:txBody>
      </p:sp>
      <p:sp>
        <p:nvSpPr>
          <p:cNvPr id="620" name="Rounded Rectangle 619"/>
          <p:cNvSpPr/>
          <p:nvPr/>
        </p:nvSpPr>
        <p:spPr>
          <a:xfrm>
            <a:off x="3931920" y="2788920"/>
            <a:ext cx="4754880" cy="685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1" name="TextBox 620"/>
          <p:cNvSpPr txBox="1"/>
          <p:nvPr/>
        </p:nvSpPr>
        <p:spPr>
          <a:xfrm>
            <a:off x="4069080" y="2862072"/>
            <a:ext cx="448056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(28, 384)</a:t>
            </a:r>
          </a:p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norm 처음 3행 [1.0, 1.0, 1.0]</a:t>
            </a:r>
          </a:p>
        </p:txBody>
      </p:sp>
      <p:sp>
        <p:nvSpPr>
          <p:cNvPr id="622" name="Rounded Rectangle 621"/>
          <p:cNvSpPr/>
          <p:nvPr/>
        </p:nvSpPr>
        <p:spPr>
          <a:xfrm>
            <a:off x="3931920" y="3611880"/>
            <a:ext cx="475488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3" name="TextBox 622"/>
          <p:cNvSpPr txBox="1"/>
          <p:nvPr/>
        </p:nvSpPr>
        <p:spPr>
          <a:xfrm>
            <a:off x="4114800" y="3721608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청크 순서만 바꾸고 vectors.npy를 그대로 두면 안 돼요 → 행 번호가 다른 원문을 가리켜요.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4-1 임베딩과 벡터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384와 512는 다른 숫자예요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10972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384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10972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617"/>
                </a:solidFill>
              </a:rPr>
              <a:t>출력 벡터의 차원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109728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892040" y="10972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41414B"/>
                </a:solidFill>
                <a:latin typeface="Consolas"/>
                <a:ea typeface="Consolas"/>
                <a:cs typeface="Consolas"/>
              </a:rPr>
              <a:t>512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0972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1617"/>
                </a:solidFill>
              </a:rPr>
              <a:t>입력 토큰 한도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606040"/>
            <a:ext cx="310192" cy="411480"/>
          </a:xfrm>
          <a:prstGeom prst="roundRect">
            <a:avLst>
              <a:gd name="adj" fmla="val 10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58832" y="26060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8A70"/>
                </a:solidFill>
              </a:rPr>
              <a:t>이번 입력 최대 49토큰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200400"/>
            <a:ext cx="3241196" cy="411480"/>
          </a:xfrm>
          <a:prstGeom prst="roundRect">
            <a:avLst>
              <a:gd name="adj" fmla="val 5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3698396" y="3200400"/>
            <a:ext cx="4570593" cy="411480"/>
          </a:xfrm>
          <a:prstGeom prst="roundRect">
            <a:avLst>
              <a:gd name="adj" fmla="val 5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48640" y="32004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청크 × 30 = 1234토큰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35556" y="32004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한도 초과 → 잘릴 수 있음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89252" y="2468880"/>
            <a:ext cx="18288" cy="1280160"/>
          </a:xfrm>
          <a:prstGeom prst="roundRect">
            <a:avLst>
              <a:gd name="adj" fmla="val 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332636" y="374903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512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" y="417880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자료가 바뀌면 토큰 수도 다시 확인해요. 한글 80자가 항상 같은 토큰 수는 아니에요.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4-1 임베딩과 벡터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벡터와 함께 만든 조건도 저장해요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097280"/>
            <a:ext cx="3255263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B062F"/>
                </a:solidFill>
              </a:rPr>
              <a:t>vectors.npy</a:t>
            </a:r>
          </a:p>
          <a:p>
            <a:pPr algn="ctr"/>
            <a:r>
              <a:rPr sz="1100" b="0">
                <a:solidFill>
                  <a:srgbClr val="858793"/>
                </a:solidFill>
              </a:rPr>
              <a:t>shape (28, 384)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1097280"/>
            <a:ext cx="4480560" cy="19202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343400" y="118872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"model_id": "intfloat/multilingual-e5-small",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"dimension": 384,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"normalized": true,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"input_format": "passage: +text",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"chunk_fingerprint": "…"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8412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embedding_config.json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194560" y="2148840"/>
            <a:ext cx="0" cy="45720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7200" y="265176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94360" y="26517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load_vectors(chunks)</a:t>
            </a:r>
          </a:p>
          <a:p>
            <a:pPr algn="l"/>
            <a:r>
              <a:rPr sz="1000" b="0">
                <a:solidFill>
                  <a:srgbClr val="FB062F"/>
                </a:solidFill>
              </a:rPr>
              <a:t>지문 다르면 → "다시 임베딩하세요"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3904488"/>
            <a:ext cx="78638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청크(ID · 본문 · 순서)가 바뀌면 지문이 바뀌고, 저장한 벡터는 더 이상 맞지 않아요 → 같은 설정으로 다시 임베딩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4-1 임베딩과 벡터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4-1. 질문도 같은 공간으로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question = "출장 호텔비는 얼마까지인가요?"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질문용 접두사를 붙여 model.encode로 임베딩하세요. 문서 벡터와 같은 정규화 조건을 쓰세요.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결과를 query_vector에 담고 shape와 벡터 길이를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ch04\rag_ch04_01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query_vector.shape → (384,)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벡터 길이 → 1.0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접두사는 passage: 가 아니라 query: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4-1 임베딩과 벡터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4-1. 질문도 같은 공간으로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question = "출장 호텔비는 얼마까지인가요?"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query_vector = model.encode(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____ + question,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normalize_embeddings=____,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print(query_vector.shape)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print(round(float(np.linalg.norm(query_vector)), 6))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ch04\rag_ch04_01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query_vector.shape → (384,)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벡터 길이 → 1.0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접두사는 passage: 가 아니라 query: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4-2</a:t>
            </a:r>
            <a:r>
              <a:rPr b="1">
                <a:solidFill>
                  <a:srgbClr val="858793"/>
                </a:solidFill>
              </a:rPr>
              <a:t>   코사인과 Top-k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코사인 유사도와 Top-k 검색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2차원 손계산(내적 vs 코사인) → 정규화하면 내적 = 코사인 → 실제 28개 청크 검색 → 점수와 답 구분 → 정렬 방향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4-2 코사인과 Top-k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같은 방향 · 직각 · 반대 방향을 그려 보면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1459382" y="1417319"/>
            <a:ext cx="7315" cy="2377440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642262" y="1417319"/>
            <a:ext cx="7315" cy="2377440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825142" y="1417319"/>
            <a:ext cx="7315" cy="2377440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2008022" y="1417319"/>
            <a:ext cx="7315" cy="2377440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2190902" y="1417319"/>
            <a:ext cx="7315" cy="2377440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2373782" y="1417319"/>
            <a:ext cx="7315" cy="2377440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2556662" y="1417319"/>
            <a:ext cx="7315" cy="2377440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2739542" y="1417319"/>
            <a:ext cx="7315" cy="2377440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2922422" y="1417319"/>
            <a:ext cx="7315" cy="2377440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3105302" y="1417319"/>
            <a:ext cx="7315" cy="2377440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3288182" y="1417319"/>
            <a:ext cx="7315" cy="2377440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3471062" y="1417319"/>
            <a:ext cx="7315" cy="2377440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1463039" y="3791102"/>
            <a:ext cx="20116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1463039" y="3608222"/>
            <a:ext cx="20116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1463039" y="3425342"/>
            <a:ext cx="20116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1463039" y="3242462"/>
            <a:ext cx="20116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1463039" y="3059582"/>
            <a:ext cx="20116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1463039" y="2876702"/>
            <a:ext cx="20116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1463039" y="2693822"/>
            <a:ext cx="20116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1463039" y="2510942"/>
            <a:ext cx="20116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1463039" y="2328062"/>
            <a:ext cx="20116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1463039" y="2145182"/>
            <a:ext cx="20116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1463039" y="1962302"/>
            <a:ext cx="20116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1463039" y="1779422"/>
            <a:ext cx="20116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1463039" y="1596542"/>
            <a:ext cx="20116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1463039" y="1413662"/>
            <a:ext cx="2011680" cy="7315"/>
          </a:xfrm>
          <a:prstGeom prst="roundRect">
            <a:avLst>
              <a:gd name="adj" fmla="val 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1463039" y="2869387"/>
            <a:ext cx="2011680" cy="21945"/>
          </a:xfrm>
          <a:prstGeom prst="roundRect">
            <a:avLst>
              <a:gd name="adj" fmla="val 0"/>
            </a:avLst>
          </a:prstGeom>
          <a:solidFill>
            <a:srgbClr val="85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2183587" y="1417319"/>
            <a:ext cx="21945" cy="2377440"/>
          </a:xfrm>
          <a:prstGeom prst="roundRect">
            <a:avLst>
              <a:gd name="adj" fmla="val 0"/>
            </a:avLst>
          </a:prstGeom>
          <a:solidFill>
            <a:srgbClr val="85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Connector 53"/>
          <p:cNvCxnSpPr/>
          <p:nvPr/>
        </p:nvCxnSpPr>
        <p:spPr>
          <a:xfrm flipV="1">
            <a:off x="2194560" y="2148839"/>
            <a:ext cx="548640" cy="731521"/>
          </a:xfrm>
          <a:prstGeom prst="line">
            <a:avLst/>
          </a:prstGeom>
          <a:ln w="38100">
            <a:solidFill>
              <a:srgbClr val="4141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788920" y="201167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1414B"/>
                </a:solidFill>
              </a:rPr>
              <a:t>q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2194560" y="1417319"/>
            <a:ext cx="1097280" cy="1463041"/>
          </a:xfrm>
          <a:prstGeom prst="line">
            <a:avLst/>
          </a:prstGeom>
          <a:ln w="3810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337560" y="12801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d₁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194560" y="2880360"/>
            <a:ext cx="731520" cy="548640"/>
          </a:xfrm>
          <a:prstGeom prst="line">
            <a:avLst/>
          </a:prstGeom>
          <a:ln w="3810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971800" y="3291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58793"/>
                </a:solidFill>
              </a:rPr>
              <a:t>d₂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1645919" y="2880360"/>
            <a:ext cx="548641" cy="731520"/>
          </a:xfrm>
          <a:prstGeom prst="line">
            <a:avLst/>
          </a:prstGeom>
          <a:ln w="38100">
            <a:solidFill>
              <a:srgbClr val="1F5F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691639" y="34747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5FAF"/>
                </a:solidFill>
              </a:rPr>
              <a:t>d₃</a:t>
            </a:r>
          </a:p>
        </p:txBody>
      </p: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4480560" y="1097280"/>
          <a:ext cx="4206240" cy="17556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1005840"/>
                <a:gridCol w="914400"/>
                <a:gridCol w="91440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후보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벡터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내적 q·d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길이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d₁ (같은 방향)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[6, 8]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d₂ (직각)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[4, −3]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d₃ (반대)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[−3, −4]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−25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3" name="Rounded Rectangle 62"/>
          <p:cNvSpPr/>
          <p:nvPr/>
        </p:nvSpPr>
        <p:spPr>
          <a:xfrm>
            <a:off x="4480560" y="3017520"/>
            <a:ext cx="420624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4663440" y="3127248"/>
            <a:ext cx="384047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candidates (3, 2) @ q (2,) → (3,)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안쪽 차원 2가 같아야 곱할 수 있어요.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실제 검색: (28, 384) @ (384,) → (28,)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4-2 코사인과 Top-k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코사인 = 내적 ÷ 두 길이의 곱 → 방향만 비교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1097280"/>
          <a:ext cx="402336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663440" y="1097280"/>
          <a:ext cx="4023360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57200" y="8686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858793"/>
                </a:solidFill>
              </a:rPr>
              <a:t>내적 — 길이에 따라 커짐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8686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B062F"/>
                </a:solidFill>
              </a:rPr>
              <a:t>코사인 — 방향만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3749039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q_unit = q / np.linalg.norm(q);  d_unit = candidates / lengths[:, None]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np.allclose(d_unit @ q_unit, cosines)   # True → 정규화하면 내적 = 코사인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4-2 코사인과 Top-k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실제 검색: 질문만 임베딩하고, 행 번호로 원문을 찾아요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572000" cy="21945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297680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query = model.encode("query: " + question,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    normalize_embeddings=True)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scores = vectors @ query          # (28,)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eligible = [i for i, c in enumerate(chunks)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if c["metadata"]["status"] == "current"]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order = sorted(eligible, key=lambda i: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(-float(scores[i]), chunks[i]["chunk_id"]))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109728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303520" y="109728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vectors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0972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(28, 384)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178308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303520" y="178308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query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17830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(384,)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246888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303520" y="246888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scores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4688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(28,)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0080" y="3538728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617"/>
                </a:solidFill>
              </a:rPr>
              <a:t>정렬 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-scores[i]로 높은 점수부터, 동점은 chunk_id 순서로 고정해 여러 번 실행해도 같은 결과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4-2 코사인과 Top-k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q05 Top-4: 점수가 비슷해도 금액과 단위는 원문으로 구별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1051560"/>
          <a:ext cx="457200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212080" y="1051560"/>
            <a:ext cx="347472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321808" y="1051560"/>
            <a:ext cx="32552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travel:0  1위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1박당 12만원 · 숙박 영수증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→ 질문의 두 항목 모두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2080" y="2286000"/>
            <a:ext cx="3474720" cy="1097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321808" y="2286000"/>
            <a:ext cx="32552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meal:0  2위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1일 3만원 = 식비 한도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→ 숙박 질문의 답이 아님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3721608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상위 결과의 점수가 모두 높아도, 질문에 맞는 금액과 적용 단위(1박당 / 1일)는 본문을 읽어 구별해요.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4-2 코사인과 Top-k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답이 없는 질문에도 결과는 나와요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8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109728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Q.  </a:t>
            </a:r>
            <a:r>
              <a:rPr sz="1500" b="1">
                <a:solidFill>
                  <a:srgbClr val="FFFFFF"/>
                </a:solidFill>
              </a:rPr>
              <a:t>회사의 올해 매출 목표는 얼마인가요?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920240"/>
            <a:ext cx="4023360" cy="5029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92024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1  leave:0</a:t>
            </a:r>
            <a:r>
              <a:rPr sz="12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   0.7986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560320"/>
            <a:ext cx="4023360" cy="5029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256032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2  leave:60</a:t>
            </a:r>
            <a:r>
              <a:rPr sz="12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   0.7982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63440" y="192024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846320" y="1920240"/>
            <a:ext cx="3749039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B062F"/>
                </a:solidFill>
              </a:rPr>
              <a:t>0.7986 ≠ 79.86%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연차 규정에 매출 목표는 없어요.
점수는 순위일 뿐, 답의 존재가 아니에요.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3291840"/>
          <a:ext cx="8229600" cy="11521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3429000"/>
                <a:gridCol w="34290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후보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유사도 (클수록 가까움)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거리 1 − 유사도 (작을수록 가까움)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d₁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  → 1등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  → 1등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d₃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−1  → 꼴등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2  → 꼴등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4-2 코사인과 Top-k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4-2. 손계산과 검색 코드 맞추기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 = np.array([1., 0.])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candidates = np.array([[1., 1.], [3., 0.], [-1., 0.]])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후보마다(행마다) 벡터 길이를 구해 lengths에 담으세요.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코사인 유사도를 scores에, 점수가 높은 순서의 행 번호를 order에 담고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ch04\rag_ch04_02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scores → [0.7071, 1.0, -1.0]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order → [1, 0, 2]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[3, 0]은 q보다 3배 길지만 같은 방향이라 1위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4-2 코사인과 Top-k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4-2. 손계산과 검색 코드 맞추기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 = np.array([1., 0.])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candidates = np.array([[1., 1.], [3., 0.], [-1., 0.]])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lengths = ____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scores = (candidates @ q) / (lengths * np.linalg.norm(q))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order = np.argsort(____)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print(scores.round(4).tolist())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print(order.tolist())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ch04\rag_ch04_02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scores → [0.7071, 1.0, -1.0]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order → [1, 0, 2]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[3, 0]은 q보다 3배 길지만 같은 방향이라 1위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휴식 </a:t>
            </a:r>
            <a:r>
              <a:rPr b="1">
                <a:solidFill>
                  <a:srgbClr val="FB062F"/>
                </a:solidFill>
              </a:rPr>
              <a:t>10분</a:t>
            </a:r>
            <a:r>
              <a:rPr b="1">
                <a:solidFill>
                  <a:srgbClr val="858793"/>
                </a:solidFill>
              </a:rPr>
              <a:t>   후 재개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쉬는 시간 10분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다음: 4-3 Dense Retriever의 Top-k / Threshold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4-3</a:t>
            </a:r>
            <a:r>
              <a:rPr b="1">
                <a:solidFill>
                  <a:srgbClr val="858793"/>
                </a:solidFill>
              </a:rPr>
              <a:t>   Top-k · Threshold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Dense Retriever의 Top-k / Threshold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q06을 세 항목으로 나누기 → k를 바꾸며 추가되는 정보 → 하한을 높이며 사라지는 근거 → 설정 비교표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4-3 Top-k · Threshold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q06에 답하려면 청크 세 개가 필요해요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8229600" cy="594360"/>
          </a:xfrm>
          <a:prstGeom prst="roundRect">
            <a:avLst>
              <a:gd name="adj" fmla="val 8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1097280"/>
            <a:ext cx="7772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q06  출장 식비와 숙박비의 한도는 각각 얼마이고 두 한도를 합쳐 쓸 수 있나요?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920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617"/>
                </a:solidFill>
              </a:rPr>
              <a:t>식비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24231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meal:0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278892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41617"/>
                </a:solidFill>
              </a:rPr>
              <a:t>1일 3만원까지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46120" y="1920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429000" y="20116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617"/>
                </a:solidFill>
              </a:rPr>
              <a:t>숙박비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4231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travel:0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278892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41617"/>
                </a:solidFill>
              </a:rPr>
              <a:t>1박당 12만원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1920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7920" y="20116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합산 여부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4231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meal:60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78892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41617"/>
                </a:solidFill>
              </a:rPr>
              <a:t>남은 숙박비 한도를 식비에 합산하지 않음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" y="395020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원문 위치는 80/20 청킹 기준이에요. 청킹이 바뀌면 근거가 든 청크도 바뀌어요 → 청킹은 고정하고 검색 설정만 바꿔요.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4-3 Top-k · Threshold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검색 함수의 순서: 현행 필터 → 정렬 → 하한 → 최대 k개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143000"/>
            <a:ext cx="160934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현행 필터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status: current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13432" y="1600200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560320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670048" y="1143000"/>
            <a:ext cx="160934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점수순 정렬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−score, chunk_id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416552" y="1600200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663440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773168" y="1143000"/>
            <a:ext cx="160934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하한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score ≥ threshold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19671" y="1600200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766559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76288" y="1143000"/>
            <a:ext cx="160934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앞에서 k개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[:k]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2286000"/>
            <a:ext cx="8229600" cy="10515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94360" y="2377440"/>
            <a:ext cx="795527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selected = [i for i in order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if threshold is None or scores[i] &gt;= threshold][:k]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rows = exact_rows(question, chunks, vectors, model, k=3, threshold=None)   # 실습에서 쓰는 함수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457200" y="3520440"/>
          <a:ext cx="8229600" cy="10424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621792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처음 만나는 표현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뜻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Threshold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결과에 남기려는 점수의 하한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문서 Recall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필요한 정답 문서 중 몇 개를 찾았는지 (문서 안의 모든 조건까지는 아님)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4-3 Top-k · Threshold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k를 늘리면 무엇이 추가되나: 순위표로 읽기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5120640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48640"/>
                <a:gridCol w="1097280"/>
                <a:gridCol w="822960"/>
                <a:gridCol w="26517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청크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추가로 읽을 수 있는 내용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meal:60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0.9134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한도 합산 금지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meal:0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0.8858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식비 1일 3만원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travel:0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0.8768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숙박비 1박당 12만원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travel:120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0.8601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교통비 · 식비 미규정 문장 일부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travel:60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0.8557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초과 숙박 사전 승인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11480" y="2569464"/>
            <a:ext cx="5212080" cy="36576"/>
          </a:xfrm>
          <a:prstGeom prst="roundRect">
            <a:avLst>
              <a:gd name="adj" fmla="val 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760720" y="1051560"/>
          <a:ext cx="2926080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"/>
                <a:gridCol w="1188720"/>
                <a:gridCol w="685800"/>
                <a:gridCol w="685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찾은 문서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문자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0.5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0.5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135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meal, 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215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meal, 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3630168"/>
            <a:ext cx="7863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빨간 선 = k=3에서 세 항목 완성. k=1과 k=2는 문서 Recall이 같아도 모델이 읽을 수 있는 정보가 달라요 (식비 금액 유무).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Context로 만들 때는 제목 · 라벨까지 붙으므로 최종 입력은 이보다 더 길어져요.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4-3 Top-k · Threshold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하한을 높이면: 결과는 깔끔해지지만 근거가 사라져요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1051560"/>
          <a:ext cx="493776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35661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빨간 막대만 0.88 이상 → travel:0(숙박 12만원) 탈락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577840" y="1051560"/>
          <a:ext cx="3108960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5840"/>
                <a:gridCol w="82296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threshold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남은 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문서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meal · 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meal · 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meal · 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meal만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5532120" y="2587752"/>
            <a:ext cx="3200400" cy="384048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5577840" y="3154680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760720" y="3264408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결과가 줄었다고 검색이 좋아진 게 아니에요. 줄어든 결과 안에 필요한 근거가 남았는지 봐요.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4-3 Top-k · Threshold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하한 하나로 "답이 없음"을 가를 수 있을까?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1051560"/>
          <a:ext cx="512064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760720" y="1051560"/>
          <a:ext cx="2926080" cy="24688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97280"/>
                <a:gridCol w="18288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기록할 항목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예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질문과 설정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q06, k=3, 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선택된 청크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meal:60 · meal:0 · travel:0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정답 근거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세 항목 모두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길이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원문 215자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빠진 사례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0.88: 숙박 누락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3904488"/>
            <a:ext cx="78638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k=3이 q06엔 맞았지만 다른 질문에도 최선이라는 뜻은 아니에요. 여러 질문의 근거 누락 · 불필요한 후보를 함께 비교해 정해요.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4-3 Top-k · Threshold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4-3. 근거를 놓치는 설정 찾기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 = "출장 숙박 비용 한도와 필요한 증빙은?"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results =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k, threshold in [(1, None), (3, .88), (3, .90)]: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exact_rows에 k와 threshold를 넘겨 검색하세요.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results[(k, threshold)]에 (document_id, start) 목록을 담고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한도와 증빙 조건이 둘 다 남는지 원문으로 확인하세요.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ch04\rag_ch04_03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(1, None) → [travel:0]   (3, 0.88) → [travel:0]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(3, 0.90) → []  모든 후보가 0.90 미만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travel:0에 한도와 영수증이 함께 있어요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4-3 Top-k · Threshold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4-3. 근거를 놓치는 설정 찾기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 = "출장 숙박 비용 한도와 필요한 증빙은?"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results =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k, threshold in [(1, None), (3, .88), (3, .90)]: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rows = exact_rows(q, chunks, vectors, model,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     k=____, threshold=____)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results[(k, threshold)] = [(r["document_id"], r["start"]) for r in rows]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print(k, threshold, results[(k, threshold)])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ch04\rag_ch04_03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(1, None) → [travel:0]   (3, 0.88) → [travel:0]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(3, 0.90) → []  모든 후보가 0.90 미만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travel:0에 한도와 영수증이 함께 있어요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4-4</a:t>
            </a:r>
            <a:r>
              <a:rPr b="1">
                <a:solidFill>
                  <a:srgbClr val="858793"/>
                </a:solidFill>
              </a:rPr>
              <a:t>   모델 비교 · 기준선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임베딩 모델 비교와 Dense 기준선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모델 말고 모두 고정 → Golden dev 12개 → Hit@k와 문서 Recall 손계산 → small 기준선 저장 → base 비교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4-4 모델 비교 · 기준선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공정한 비교: 모델만 바꾸고 나머지는 고정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4937760" cy="28163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347472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고정할 항목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이번 실험의 값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코퍼스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documents.json 12문서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청크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chunks.json 28개 (80/20)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검색 범위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status = current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입력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passage: + text / query: + question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검색 방식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정규화 벡터 코사인, k =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평가 질문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dev 12개 (test 8개는 보관)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669280" y="109728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779008" y="1097280"/>
            <a:ext cx="2798063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B062F"/>
                </a:solidFill>
              </a:rPr>
              <a:t>E5 small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384차원 · 기본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228600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779008" y="2286000"/>
            <a:ext cx="2798063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41617"/>
                </a:solidFill>
              </a:rPr>
              <a:t>E5 base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768차원 · 선택 비교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5204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← 바꾸는 것은 모델 하나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4-4 모델 비교 · 기준선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Golden 질문과 두 지표: Hit@k와 문서 Recall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234440" cy="10058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143000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B062F"/>
                </a:solidFill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64592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858793"/>
                </a:solidFill>
              </a:rPr>
              <a:t>dev 질문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1097280"/>
            <a:ext cx="1234440" cy="1005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828800" y="1143000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41617"/>
                </a:solidFill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164592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858793"/>
                </a:solidFill>
              </a:rPr>
              <a:t>답 있음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0" y="1097280"/>
            <a:ext cx="1234440" cy="1005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200400" y="1143000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41617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164592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858793"/>
                </a:solidFill>
              </a:rPr>
              <a:t>답 없음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286000"/>
            <a:ext cx="4023360" cy="1371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94360" y="237744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gold = {"meal", "travel"}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found = {"meal"}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print("Hit:", int(bool(gold &amp; found)))   # 1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print("Recall:", len(gold &amp; found)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/ len(gold))              # 0.5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1097280"/>
            <a:ext cx="4023360" cy="2560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846320" y="1188720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B062F"/>
                </a:solidFill>
              </a:rPr>
              <a:t>Hit@k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41617"/>
                </a:solidFill>
              </a:rPr>
              <a:t>상위 k개에 정답 문서가 하나라도 있으면 1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7"/>
                </a:solidFill>
              </a:rPr>
              <a:t>문서 Recall@k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41617"/>
                </a:solidFill>
              </a:rPr>
              <a:t>필요한 정답 문서 중 찾은 비율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58793"/>
                </a:solidFill>
              </a:rPr>
              <a:t>같은 문서의 청크 여러 개 = 문서 하나로 세요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395020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이 지표는 검색만 평가해요. 생성 답변의 정확도와 "모든 조건이 Context에 들어갔는지"는 따로 확인해요.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4-4 모델 비교 · 기준선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small 기준선: 평균 1.0 뒤의 질문별 결과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4754880" cy="3447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31520"/>
                <a:gridCol w="3108960"/>
                <a:gridCol w="914400"/>
              </a:tblGrid>
              <a:tr h="26517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질문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검색된 문서 (k=3)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q01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leave, 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q02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leave, 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q03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incident, leave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q04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incident, equipment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q05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travel, meal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q06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meal, 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q07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vpn, meeting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q08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vpn, leave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q09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education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q10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education, meal, 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q11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leave, education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q12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education, meeting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29768" y="3703320"/>
            <a:ext cx="4809744" cy="265176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29768" y="4233671"/>
            <a:ext cx="4809744" cy="265176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5394960" y="105156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504688" y="1051560"/>
            <a:ext cx="307238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q10  Recall 1.0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정답 education + 식비 · 숙박도 반환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→ 후보가 모두 관련은 아님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228600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504688" y="2286000"/>
            <a:ext cx="307238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q12  답 없음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"취미 강좌는 규정 안 함" 문장으로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education 상위 → 답변은 보류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3520440"/>
            <a:ext cx="3291840" cy="548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532120" y="3593592"/>
            <a:ext cx="301752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[1] e5-small dim 384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   Hit 1.0 Recall 1.0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4-4 모델 비교 · 기준선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기준선 파일과 두 번째 모델 비교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4114800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45920"/>
                <a:gridCol w="24688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저장 내용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용도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모델 ID · 차원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어떤 임베딩인지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k · 입력 형식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같은 조건으로 재검색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질문별 문서 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평균에 가려진 차이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Hit · Recall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정답 문서 포함 비교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질문 처리 시간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실행 비용 시작값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754880" y="1051560"/>
            <a:ext cx="393192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937760" y="1051560"/>
            <a:ext cx="36576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B062F"/>
                </a:solidFill>
              </a:rPr>
              <a:t>모델이 바뀌면 문서도 다시 임베딩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small 384차원 벡터 + base 768차원 질문 = ✗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58793"/>
                </a:solidFill>
              </a:rPr>
              <a:t>차원도, 의미 공간도 달라요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754880" y="2212848"/>
          <a:ext cx="3931920" cy="11521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1005840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Hit@3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Recall@3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E5 small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E5 base (기록)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457200" y="3429000"/>
            <a:ext cx="8229600" cy="548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3520440"/>
            <a:ext cx="795527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main.py --compare-base   # 선택: E5 base를 추가로 내려받아 같은 조건으로 비교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417880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외부 임베딩 API 비교(compare_api.py)는 선택이에요. --execute 없이는 호출하지 않고 계획만 보여 줘요.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4-4 모델 비교 · 기준선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4-4. 모델 선택 이유를 결과로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recorded = json.loads(Path("recorded_e5_comparison.json").read_text(encoding="utf-8"))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candidate_report = recorded["intfloat/multilingual-e5-base"]["report"]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changed = []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small(report)과 base(candidate_report)의 rows를 question_id로 묶으세요.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검색된 문서 ID 목록이 달라진 질문만 changed에 담고 두 목록을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ch04\rag_ch04_04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달라진 질문: q04, q09, q10, q11, q12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두 모델 모두 Hit@3 = 1.0 → 평균으로는 구분 안 돼요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달라진 질문은 원문을 직접 대조해요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4-4 모델 비교 · 기준선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4-4. 모델 선택 이유를 결과로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recorded = json.loads(Path("recorded_e5_comparison.json").read_text(encoding="utf-8"))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candidate_report = recorded["intfloat/multilingual-e5-base"]["report"]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small_rows = {r["question_id"]: r for r in report["rows"]}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base_rows = {r["question_id"]: r for r in candidate_report["rows"]}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changed = []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question_id, before in small_rows.items():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after = base_rows[question_id]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before["retrieved_document_ids"] != ____: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changed.append(question_id)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print(question_id, before["retrieved_document_ids"], after["retrieved_document_ids"])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ch04\rag_ch04_04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달라진 질문: q04, q09, q10, q11, q12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두 모델 모두 Hit@3 = 1.0 → 평균으로는 구분 안 돼요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달라진 질문은 원문을 직접 대조해요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정리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오후 결과물: 질문과 가까운 청크를 찾고, 기준선으로 남기기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4-1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임베딩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(28, 384)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정규화 · 접두사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1343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56032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697479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4-2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79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코사인 · Top-k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79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내적 = 코사인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행 번호 정렬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1655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66344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0060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4-3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k · threshold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추가 · 누락 근거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0.88 숙박 누락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19671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66559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90372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4-4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기준선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dev 12 · Hit 1.0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dense_baseline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926080"/>
            <a:ext cx="8229600" cy="12801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292608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B062F"/>
                </a:solidFill>
              </a:rPr>
              <a:t>다음 5장으로 이어지는 질문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41617"/>
                </a:solidFill>
              </a:rPr>
              <a:t>지금은 vectors.npy를 통째로 읽어 행렬 곱으로 모든 청크를 비교했어요. 청크가 수만 개가 되면?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41617"/>
                </a:solidFill>
              </a:rPr>
              <a:t>→ Vector Store(Qdrant)에 벡터와 metadata를 함께 저장하고, 필터와 함께 검색해요.</a:t>
            </a:r>
          </a:p>
        </p:txBody>
      </p:sp>
    </p:spTree>
  </p:cSld>
  <p:clrMapOvr>
    <a:masterClrMapping/>
  </p:clrMapOvr>
</p:sld>
</file>

<file path=ppt/slides/slide9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43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2일차 오후 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질문과 정리</a:t>
            </a:r>
            <a:endParaRPr lang="en-US" sz="3800" dirty="0"/>
          </a:p>
        </p:txBody>
      </p:sp>
      <p:sp>
        <p:nvSpPr>
          <p:cNvPr id="4" name="dlabel-43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수업 후에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직접 해 볼 것</a:t>
            </a:r>
            <a:endParaRPr lang="en-US" sz="1200" dirty="0"/>
          </a:p>
        </p:txBody>
      </p:sp>
      <p:sp>
        <p:nvSpPr>
          <p:cNvPr id="5" name="t-433"/>
          <p:cNvSpPr txBox="1"/>
          <p:nvPr/>
        </p:nvSpPr>
        <p:spPr>
          <a:xfrm>
            <a:off x="54864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ch04/rag_ch04_04/dense_baseline.json</a:t>
            </a:r>
            <a:endParaRPr lang="en-US" sz="1500" dirty="0"/>
          </a:p>
        </p:txBody>
      </p:sp>
      <p:sp>
        <p:nvSpPr>
          <p:cNvPr id="6" name="t-434"/>
          <p:cNvSpPr txBox="1"/>
          <p:nvPr/>
        </p:nvSpPr>
        <p:spPr>
          <a:xfrm>
            <a:off x="548640" y="34107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질문별 검색 문서와 Hit · Recall이 저장됐는지</a:t>
            </a:r>
            <a:endParaRPr lang="en-US" sz="950" dirty="0"/>
          </a:p>
        </p:txBody>
      </p:sp>
      <p:sp>
        <p:nvSpPr>
          <p:cNvPr id="7" name="t-435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q05 · q10 · q12 원문 대조</a:t>
            </a:r>
            <a:endParaRPr lang="en-US" sz="1500" dirty="0"/>
          </a:p>
        </p:txBody>
      </p:sp>
      <p:sp>
        <p:nvSpPr>
          <p:cNvPr id="8" name="t-436"/>
          <p:cNvSpPr txBox="1"/>
          <p:nvPr/>
        </p:nvSpPr>
        <p:spPr>
          <a:xfrm>
            <a:off x="548640" y="3867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지표가 1.0이어도 확인 못 한 조건 적어 보기</a:t>
            </a:r>
            <a:endParaRPr lang="en-US" sz="950" dirty="0"/>
          </a:p>
        </p:txBody>
      </p:sp>
      <p:pic>
        <p:nvPicPr>
          <p:cNvPr id="9" name="ts-437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 Review">
  <a:themeElements>
    <a:clrScheme name="KANT Review">
      <a:dk1>
        <a:srgbClr val="141617"/>
      </a:dk1>
      <a:lt1>
        <a:srgbClr val="FFFFFF"/>
      </a:lt1>
      <a:dk2>
        <a:srgbClr val="0C0E13"/>
      </a:dk2>
      <a:lt2>
        <a:srgbClr val="F3F4F6"/>
      </a:lt2>
      <a:accent1>
        <a:srgbClr val="FB062F"/>
      </a:accent1>
      <a:accent2>
        <a:srgbClr val="1F8A70"/>
      </a:accent2>
      <a:accent3>
        <a:srgbClr val="41414B"/>
      </a:accent3>
      <a:accent4>
        <a:srgbClr val="858793"/>
      </a:accent4>
      <a:accent5>
        <a:srgbClr val="E0E1E5"/>
      </a:accent5>
      <a:accent6>
        <a:srgbClr val="FFF0F2"/>
      </a:accent6>
      <a:hlink>
        <a:srgbClr val="2F6FB0"/>
      </a:hlink>
      <a:folHlink>
        <a:srgbClr val="6B4FA0"/>
      </a:folHlink>
    </a:clrScheme>
    <a:fontScheme name="KANT Review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2일차 오후 · Private LLM Course</dc:title>
  <dc:subject>PptxGenJS Presentation</dc:subject>
  <dc:creator>김기인</dc:creator>
  <cp:lastModifiedBy>김기인</cp:lastModifiedBy>
  <cp:revision>1</cp:revision>
  <dcterms:created xsi:type="dcterms:W3CDTF">2026-10-05T09:03:12Z</dcterms:created>
  <dcterms:modified xsi:type="dcterms:W3CDTF">2026-10-05T09:03:12Z</dcterms:modified>
</cp:coreProperties>
</file>